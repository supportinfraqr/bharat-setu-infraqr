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43b85b8-c98b-9bd6-3cd9-cf84ba0f52aa}">
          <p14:sldIdLst>
            <p14:sldId id="256"/>
            <p14:sldId id="257"/>
          </p14:sldIdLst>
        </p14:section>
        <p14:section name="Company" id="{c6c1717e-372c-dc54-76ec-debeb5719e3b}">
          <p14:sldIdLst>
            <p14:sldId id="258"/>
            <p14:sldId id="259"/>
            <p14:sldId id="260"/>
            <p14:sldId id="261"/>
            <p14:sldId id="262"/>
            <p14:sldId id="263"/>
          </p14:sldIdLst>
        </p14:section>
        <p14:section name="Product" id="{3abe8a77-0f90-8680-d25d-4f55d22298d5}">
          <p14:sldIdLst>
            <p14:sldId id="264"/>
            <p14:sldId id="265"/>
            <p14:sldId id="266"/>
            <p14:sldId id="267"/>
            <p14:sldId id="268"/>
            <p14:sldId id="269"/>
            <p14:sldId id="274"/>
            <p14:sldId id="275"/>
            <p14:sldId id="276"/>
          </p14:sldIdLst>
        </p14:section>
        <p14:section name="Governance and impact" id="{df64fd5f-196b-60c5-2717-94eeb7314ad4}">
          <p14:sldIdLst>
            <p14:sldId id="270"/>
            <p14:sldId id="271"/>
            <p14:sldId id="272"/>
            <p14:sldId id="273"/>
          </p14:sldIdLst>
        </p14:section>
        <p14:section name="Business" id="{2af307a6-902d-3915-2a68-6f969e892ff7}">
          <p14:sldIdLst>
            <p14:sldId id="277"/>
            <p14:sldId id="278"/>
            <p14:sldId id="279"/>
            <p14:sldId id="280"/>
            <p14:sldId id="281"/>
          </p14:sldIdLst>
        </p14:section>
        <p14:section name="Plan" id="{01459da6-35d4-a657-1add-c3a956fca7a1}">
          <p14:sldIdLst>
            <p14:sldId id="282"/>
            <p14:sldId id="283"/>
          </p14:sldIdLst>
        </p14:section>
        <p14:section name="Team and next steps" id="{08217181-0762-4710-4016-703686bd52be}">
          <p14:sldIdLst>
            <p14:sldId id="284"/>
            <p14:sldId id="285"/>
          </p14:sldIdLst>
        </p14:section>
        <p14:section name="Closing" id="{c525663b-d83e-ca26-c0cf-c7e9cd76286f}">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1183A"/>
                </a:solidFill>
                <a:latin typeface="+mn-lt"/>
              </a:defRPr>
            </a:pPr>
            <a:r>
              <a:rPr sz="1400" b="0" i="0" u="none" strike="noStrike">
                <a:solidFill>
                  <a:srgbClr val="01183A"/>
                </a:solidFill>
                <a:latin typeface="+mn-lt"/>
              </a:rPr>
              <a:t>Year-3 revenue mix (target)</a:t>
            </a:r>
          </a:p>
        </c:rich>
      </c:tx>
      <c:layout/>
      <c:overlay val="0"/>
    </c:title>
    <c:autoTitleDeleted val="0"/>
    <c:plotArea>
      <c:layout/>
      <c:doughnutChart>
        <c:varyColors val="1"/>
        <c:ser>
          <c:idx val="0"/>
          <c:order val="0"/>
          <c:tx>
            <c:strRef>
              <c:f>Sheet1!$B$1</c:f>
              <c:strCache>
                <c:ptCount val="1"/>
                <c:pt idx="0">
                  <c:v>Year-3 revenue mix (target)</c:v>
                </c:pt>
              </c:strCache>
            </c:strRef>
          </c:tx>
          <c:spPr>
            <a:solidFill>
              <a:schemeClr val="accent1"/>
            </a:solidFill>
            <a:ln w="9525" cap="flat">
              <a:solidFill>
                <a:srgbClr val="F9F9F9"/>
              </a:solidFill>
              <a:prstDash val="solid"/>
              <a:round/>
            </a:ln>
            <a:effectLst/>
          </c:spPr>
          <c:dPt>
            <c:idx val="0"/>
            <c:bubble3D val="0"/>
            <c:spPr>
              <a:solidFill>
                <a:srgbClr val="1E3A8A"/>
              </a:solidFill>
              <a:effectLst/>
            </c:spPr>
          </c:dPt>
          <c:dPt>
            <c:idx val="1"/>
            <c:bubble3D val="0"/>
            <c:spPr>
              <a:solidFill>
                <a:srgbClr val="14843C"/>
              </a:solidFill>
              <a:effectLst/>
            </c:spPr>
          </c:dPt>
          <c:dPt>
            <c:idx val="2"/>
            <c:bubble3D val="0"/>
            <c:spPr>
              <a:solidFill>
                <a:srgbClr val="E45D24"/>
              </a:solidFill>
              <a:effectLst/>
            </c:spPr>
          </c:dPt>
          <c:dPt>
            <c:idx val="3"/>
            <c:bubble3D val="0"/>
            <c:spPr>
              <a:solidFill>
                <a:srgbClr val="9FB8FF"/>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Employer SaaS</c:v>
                </c:pt>
                <c:pt idx="1">
                  <c:v>Contractor SaaS</c:v>
                </c:pt>
                <c:pt idx="2">
                  <c:v>B2G licences</c:v>
                </c:pt>
                <c:pt idx="3">
                  <c:v>API &amp; ecosystem</c:v>
                </c:pt>
              </c:strCache>
            </c:strRef>
          </c:cat>
          <c:val>
            <c:numRef>
              <c:f>Sheet1!$B$2:$B$5</c:f>
              <c:numCache>
                <c:ptCount val="4"/>
                <c:pt idx="0">
                  <c:v>40</c:v>
                </c:pt>
                <c:pt idx="1">
                  <c:v>35</c:v>
                </c:pt>
                <c:pt idx="2">
                  <c:v>15</c:v>
                </c:pt>
                <c:pt idx="3">
                  <c:v>10</c:v>
                </c:pt>
              </c:numCache>
            </c:numRef>
          </c:val>
        </c:ser>
        <c:firstSliceAng val="0"/>
        <c:holeSize val="55"/>
      </c:doughnutChart>
      <c:spPr>
        <a:noFill/>
        <a:ln>
          <a:noFill/>
        </a:ln>
        <a:effectLst/>
      </c:spPr>
    </c:plotArea>
    <c:legend>
      <c:legendPos val="r"/>
      <c:overlay val="0"/>
      <c:txPr>
        <a:bodyPr/>
        <a:lstStyle/>
        <a:p>
          <a:pPr>
            <a:defRPr sz="1200">
              <a:solidFill>
                <a:srgbClr val="0118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BharatShramSetu is India's Digital Workforce Governance Infrastructure: a worker-first movement that gives every worker one verified, portable identity and connects them with contractors, employers and compliance teams through one QR, in 16 Indian languages. Tagline from the portal: One Nation, One ID,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in about 30 seconds. Clients usually care most about sections 3 and 4; investors about 5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we are and what we stand for. The four values are the same as on the portal login. Fill in the bracketed company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of work (attendance, wages, PF) lives in paper musters and contractor spreadsheets. When something goes wrong, the evidence is the first thing missing. Principal employers carry the liability under the CLRA Act without the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forces make this the right moment: a once-in-a-generation consolidation of labour law, mature digital public infrastructure, a new data-protection law, and accountability moving down the supply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core. We are not selling software to manage workers; we are building a movement that puts the worker first, with the convenience people know from everyday consumer apps, in their own language, anywhere in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Ramesh is a sample worker from Darbhanga, Bihar, arriving at a site in Pune. Every step he takes uses the same QR and the same identity, in Maithili.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of the platform is the binding: Employer, Contractor, Site, Worker. Every combination is unique and needs consent from both sides. Because every later record hangs off the binding, nothing is re-keyed. The screenshot is the live operations view from the website with sample data, including grievance SLA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UPI made paying anyone in India a single scan. Our vision is to do the same for compliance. The same QR onboards, marks attendance alongside Vision AI, RFID and geo-fencing, clears the gate pass and verifies the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is the single biggest barrier for a migrant worker. Sixteen languages with a voice guide is what makes BharatShramSetu pan-India and worker-centric, and it is unique in this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Workers move; their records should not stay behind. The identity history shown is sample data: one worker, three employers, three states, including a primary and secondary contractor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is where records start. A worker is bound once by QR, then every attendance method lands in the same daily record, which feeds the gate, the registers and the FORM XVI muster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Labour law in India is central law plus 36 state rulebooks. BharatShramSetu layers each state over the central acts, and generates CLRA registers from real attendance. Payroll arrives in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worker files today are photocopies. Verification at source means the person on the payroll is the person on the PF and bank account. AI reads every uploaded document first so reviewers only look at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communication between every stakeholder: workers, contractors, employers, the chief compliance officer, the health and safety officer and trainers all read the same record. Grievances get an owner, an SLA timer and an escalation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stops being a scramble before an inspection. The same record is summarised for the people who run the site, the company and the board. Figures in the panel are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BharatShramSetu is built to work with the national systems workers already use. It is aligned with DPI, not endorsed by any government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Musters, wage slips, gate passes and photocopies add up to a forest every year. The calculator on the website lets a client see the saving for one site, one company, one state or all of India. Figures are estimates with stated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party gets something different from the same record. Add measured outcomes from pilots in the dashed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ask about data before price. Consent, masking, roles and audit trail are built into the product. Add hosting and certification details before client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rollout in four steps. Fill in week estimates once pilot timelines are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paying segments, one free core. Workers never pay. The market sizing line is a placeholder: add a sourced TAM/SAM/SOM before sending the deck to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Statutory compliance is the free core: charging for a legal duty invites resistance. Revenue comes from modules that turn that cost into ROI. Pricing rule: avoided penalties plus saved admin must be at least 3x the fee within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examples and targets are from the business plan and are illustrative until pilots confirm them. A 300-worker contractor at about Rs 40 per worker per month pays Rs 12,000, well under what register admin and penalty risk cost them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position against HR software: BharatShramSetu is Digital Workforce Governance Infrastructure. What makes it one of its kind is the combination of a worker-first approach, 16 languages, one QR for four jobs, a portable identity, DPI and Labour Code alignment, and audit-ready reporting. The consented multi-party graph is the asset every module reads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SWOT builds trust. Weaknesses and threats come from the business plan risk register; replace the bracketed lines with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Go-to-market and roadmap from the business plan. Quarters are relative to funding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the product does today. Right: fill in live metrics, a client quote and logos as they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each card with a photo, name, role and one line of relevant experience. Investors weigh the team heavily; clients look for compliance and domain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next step for whoever is in the room: a pilot for clients, or the round for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leave this slide up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SS 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035040" cy="1920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4069080"/>
            <a:ext cx="585216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SS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pic>
        <p:nvPicPr>
          <p:cNvPr id="3" name="Image 0" descr="preencoded.png">    </p:cNvPr>
          <p:cNvPicPr>
            <a:picLocks noChangeAspect="1"/>
          </p:cNvPicPr>
          <p:nvPr/>
        </p:nvPicPr>
        <p:blipFill>
          <a:blip r:embed="rId1"/>
          <a:stretch>
            <a:fillRect/>
          </a:stretch>
        </p:blipFill>
        <p:spPr>
          <a:xfrm>
            <a:off x="548640" y="6336792"/>
            <a:ext cx="228600" cy="260604"/>
          </a:xfrm>
          <a:prstGeom prst="rect">
            <a:avLst/>
          </a:prstGeom>
        </p:spPr>
      </p:pic>
      <p:sp>
        <p:nvSpPr>
          <p:cNvPr id="4" name="Text 0"/>
          <p:cNvSpPr/>
          <p:nvPr/>
        </p:nvSpPr>
        <p:spPr>
          <a:xfrm>
            <a:off x="868680" y="6327648"/>
            <a:ext cx="5486400" cy="274320"/>
          </a:xfrm>
          <a:prstGeom prst="rect">
            <a:avLst/>
          </a:prstGeom>
          <a:noFill/>
          <a:ln/>
        </p:spPr>
        <p:txBody>
          <a:bodyPr wrap="square" lIns="0" tIns="0" rIns="0" bIns="0" rtlCol="0" anchor="ctr"/>
          <a:lstStyle/>
          <a:p>
            <a:pPr indent="0" marL="0">
              <a:buNone/>
            </a:pPr>
            <a:r>
              <a:rPr lang="en-US" sz="1000" dirty="0">
                <a:solidFill>
                  <a:schemeClr val="tx2"/>
                </a:solidFill>
              </a:rPr>
              <a:t>BharatShramSetu  ·  One Nation, One ID, One Platform</a:t>
            </a:r>
            <a:endParaRPr lang="en-US" sz="10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SS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pic>
        <p:nvPicPr>
          <p:cNvPr id="3" name="Image 0" descr="preencoded.png">    </p:cNvPr>
          <p:cNvPicPr>
            <a:picLocks noChangeAspect="1"/>
          </p:cNvPicPr>
          <p:nvPr/>
        </p:nvPicPr>
        <p:blipFill>
          <a:blip r:embed="rId1"/>
          <a:stretch>
            <a:fillRect/>
          </a:stretch>
        </p:blipFill>
        <p:spPr>
          <a:xfrm>
            <a:off x="548640" y="6336792"/>
            <a:ext cx="228600" cy="260604"/>
          </a:xfrm>
          <a:prstGeom prst="rect">
            <a:avLst/>
          </a:prstGeom>
        </p:spPr>
      </p:pic>
      <p:sp>
        <p:nvSpPr>
          <p:cNvPr id="4" name="Text 0"/>
          <p:cNvSpPr/>
          <p:nvPr/>
        </p:nvSpPr>
        <p:spPr>
          <a:xfrm>
            <a:off x="868680" y="632764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BharatShramSetu  ·  One Nation, One ID, One Platform</a:t>
            </a:r>
            <a:endParaRPr lang="en-US" sz="10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e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4.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3.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slideLayout" Target="../slideLayouts/slideLayout2.xml"/><Relationship Id="rId10"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photo" descr="preencoded.png">    </p:cNvPr>
          <p:cNvPicPr>
            <a:picLocks noChangeAspect="1"/>
          </p:cNvPicPr>
          <p:nvPr/>
        </p:nvPicPr>
        <p:blipFill>
          <a:blip r:embed="rId1"/>
          <a:stretch>
            <a:fillRect/>
          </a:stretch>
        </p:blipFill>
        <p:spPr>
          <a:xfrm>
            <a:off x="7068312" y="0"/>
            <a:ext cx="5120640" cy="6858000"/>
          </a:xfrm>
          <a:prstGeom prst="rect">
            <a:avLst/>
          </a:prstGeom>
        </p:spPr>
      </p:pic>
      <p:sp>
        <p:nvSpPr>
          <p:cNvPr id="3" name="brand-plate"/>
          <p:cNvSpPr/>
          <p:nvPr/>
        </p:nvSpPr>
        <p:spPr>
          <a:xfrm>
            <a:off x="548640" y="640080"/>
            <a:ext cx="3840480" cy="868680"/>
          </a:xfrm>
          <a:prstGeom prst="roundRect">
            <a:avLst>
              <a:gd name="adj" fmla="val 14737"/>
            </a:avLst>
          </a:prstGeom>
          <a:solidFill>
            <a:schemeClr val="bg1"/>
          </a:solidFill>
          <a:ln w="12700">
            <a:solidFill>
              <a:schemeClr val="bg1"/>
            </a:solidFill>
            <a:prstDash val="solid"/>
          </a:ln>
        </p:spPr>
      </p:sp>
      <p:pic>
        <p:nvPicPr>
          <p:cNvPr id="4" name="logo" descr="preencoded.png">    </p:cNvPr>
          <p:cNvPicPr>
            <a:picLocks noChangeAspect="1"/>
          </p:cNvPicPr>
          <p:nvPr/>
        </p:nvPicPr>
        <p:blipFill>
          <a:blip r:embed="rId2"/>
          <a:stretch>
            <a:fillRect/>
          </a:stretch>
        </p:blipFill>
        <p:spPr>
          <a:xfrm>
            <a:off x="713232" y="731520"/>
            <a:ext cx="603504" cy="685800"/>
          </a:xfrm>
          <a:prstGeom prst="rect">
            <a:avLst/>
          </a:prstGeom>
        </p:spPr>
      </p:pic>
      <p:sp>
        <p:nvSpPr>
          <p:cNvPr id="5" name="wordmark"/>
          <p:cNvSpPr txBox="1"/>
          <p:nvPr/>
        </p:nvSpPr>
        <p:spPr>
          <a:xfrm>
            <a:off x="1417320" y="749808"/>
            <a:ext cx="2926080" cy="685800"/>
          </a:xfrm>
          <a:prstGeom prst="rect">
            <a:avLst/>
          </a:prstGeom>
          <a:noFill/>
          <a:ln/>
        </p:spPr>
        <p:txBody>
          <a:bodyPr wrap="square" lIns="0" tIns="0" rIns="0" bIns="0" rtlCol="0" anchor="ctr"/>
          <a:lstStyle/>
          <a:p>
            <a:pPr indent="0" marL="0">
              <a:buNone/>
            </a:pPr>
            <a:r>
              <a:rPr lang="en-US" sz="2200" b="1" dirty="0">
                <a:solidFill>
                  <a:schemeClr val="tx2"/>
                </a:solidFill>
              </a:rPr>
              <a:t>Bharat</a:t>
            </a:r>
            <a:pPr indent="0" marL="0">
              <a:buNone/>
            </a:pPr>
            <a:r>
              <a:rPr lang="en-US" sz="2200" b="1" dirty="0">
                <a:solidFill>
                  <a:schemeClr val="accent1"/>
                </a:solidFill>
              </a:rPr>
              <a:t>Shram</a:t>
            </a:r>
            <a:pPr indent="0" marL="0">
              <a:buNone/>
            </a:pPr>
            <a:r>
              <a:rPr lang="en-US" sz="2200" b="1" dirty="0">
                <a:solidFill>
                  <a:schemeClr val="accent2"/>
                </a:solidFill>
              </a:rPr>
              <a:t>Setu</a:t>
            </a:r>
            <a:endParaRPr lang="en-US" sz="2200" dirty="0"/>
          </a:p>
          <a:p>
            <a:pPr indent="0" marL="0">
              <a:buNone/>
            </a:pPr>
            <a:r>
              <a:rPr lang="en-US" sz="1100" dirty="0">
                <a:solidFill>
                  <a:schemeClr val="tx2"/>
                </a:solidFill>
              </a:rPr>
              <a:t>One Nation, One ID, One Platform</a:t>
            </a:r>
            <a:endParaRPr lang="en-US" sz="2200" dirty="0"/>
          </a:p>
        </p:txBody>
      </p:sp>
      <p:sp>
        <p:nvSpPr>
          <p:cNvPr id="6" name="Text 0"/>
          <p:cNvSpPr/>
          <p:nvPr>
            <p:ph idx="100" type="title" hasCustomPrompt="1"/>
          </p:nvPr>
        </p:nvSpPr>
        <p:spPr>
          <a:xfrm>
            <a:off x="548640" y="2011680"/>
            <a:ext cx="6035040" cy="1920240"/>
          </a:xfrm>
          <a:prstGeom prst="rect">
            <a:avLst/>
          </a:prstGeom>
          <a:noFill/>
          <a:ln/>
        </p:spPr>
        <p:txBody>
          <a:bodyPr wrap="square" lIns="0" tIns="0" rIns="0" bIns="0" rtlCol="0" anchor="t"/>
          <a:lstStyle/>
          <a:p>
            <a:pPr algn="l" indent="0" marL="0">
              <a:buNone/>
            </a:pPr>
            <a:r>
              <a:rPr lang="en-US" sz="4400" b="1" dirty="0">
                <a:solidFill>
                  <a:schemeClr val="bg1"/>
                </a:solidFill>
              </a:rPr>
              <a:t>Every worker. Every site. One live record</a:t>
            </a:r>
            <a:endParaRPr lang="en-US" sz="4400" dirty="0"/>
          </a:p>
        </p:txBody>
      </p:sp>
      <p:sp>
        <p:nvSpPr>
          <p:cNvPr id="7" name="Text 0"/>
          <p:cNvSpPr/>
          <p:nvPr>
            <p:ph idx="101" type="body" hasCustomPrompt="1"/>
          </p:nvPr>
        </p:nvSpPr>
        <p:spPr>
          <a:xfrm>
            <a:off x="548640" y="4069080"/>
            <a:ext cx="5852160" cy="914400"/>
          </a:xfrm>
          <a:prstGeom prst="rect">
            <a:avLst/>
          </a:prstGeom>
          <a:noFill/>
          <a:ln/>
        </p:spPr>
        <p:txBody>
          <a:bodyPr wrap="square" lIns="0" tIns="0" rIns="0" bIns="0" rtlCol="0" anchor="t"/>
          <a:lstStyle/>
          <a:p>
            <a:pPr indent="0" marL="0">
              <a:buNone/>
            </a:pPr>
            <a:r>
              <a:rPr lang="en-US" sz="1800" dirty="0">
                <a:solidFill>
                  <a:schemeClr val="bg2"/>
                </a:solidFill>
              </a:rPr>
              <a:t>A Unified Digital Platform for Workforce Identity, Welfare and Empowerment</a:t>
            </a:r>
            <a:endParaRPr lang="en-US" sz="1800" dirty="0"/>
          </a:p>
        </p:txBody>
      </p:sp>
      <p:sp>
        <p:nvSpPr>
          <p:cNvPr id="8" name="Text 4"/>
          <p:cNvSpPr txBox="1"/>
          <p:nvPr/>
        </p:nvSpPr>
        <p:spPr>
          <a:xfrm>
            <a:off x="548640" y="5074920"/>
            <a:ext cx="6035040" cy="411480"/>
          </a:xfrm>
          <a:prstGeom prst="rect">
            <a:avLst/>
          </a:prstGeom>
          <a:noFill/>
          <a:ln/>
        </p:spPr>
        <p:txBody>
          <a:bodyPr wrap="square" lIns="0" tIns="0" rIns="0" bIns="0" rtlCol="0" anchor="t"/>
          <a:lstStyle/>
          <a:p>
            <a:pPr indent="0" marL="0">
              <a:buNone/>
            </a:pPr>
            <a:r>
              <a:rPr lang="en-US" sz="1800" b="1" dirty="0">
                <a:solidFill>
                  <a:schemeClr val="accent1"/>
                </a:solidFill>
              </a:rPr>
              <a:t>India’s Digital Workforce Governance Infrastructure</a:t>
            </a:r>
            <a:endParaRPr lang="en-US" sz="1800" dirty="0"/>
          </a:p>
        </p:txBody>
      </p:sp>
      <p:sp>
        <p:nvSpPr>
          <p:cNvPr id="9" name="Text 5"/>
          <p:cNvSpPr txBox="1"/>
          <p:nvPr/>
        </p:nvSpPr>
        <p:spPr>
          <a:xfrm>
            <a:off x="548640" y="5989320"/>
            <a:ext cx="5486400" cy="320040"/>
          </a:xfrm>
          <a:prstGeom prst="rect">
            <a:avLst/>
          </a:prstGeom>
          <a:noFill/>
          <a:ln/>
        </p:spPr>
        <p:txBody>
          <a:bodyPr wrap="square" lIns="0" tIns="0" rIns="0" bIns="0" rtlCol="0" anchor="t"/>
          <a:lstStyle/>
          <a:p>
            <a:pPr indent="0" marL="0">
              <a:buNone/>
            </a:pPr>
            <a:r>
              <a:rPr lang="en-US" sz="1200" dirty="0">
                <a:solidFill>
                  <a:schemeClr val="accent6"/>
                </a:solidFill>
              </a:rPr>
              <a:t>Company and product presentation  ·  October 2026</a:t>
            </a:r>
            <a:endParaRPr lang="en-US" sz="1200" dirty="0"/>
          </a:p>
        </p:txBody>
      </p:sp>
      <p:sp>
        <p:nvSpPr>
          <p:cNvPr id="10" name="Text 6"/>
          <p:cNvSpPr txBox="1"/>
          <p:nvPr/>
        </p:nvSpPr>
        <p:spPr>
          <a:xfrm>
            <a:off x="7223760" y="6510528"/>
            <a:ext cx="4754880" cy="228600"/>
          </a:xfrm>
          <a:prstGeom prst="rect">
            <a:avLst/>
          </a:prstGeom>
          <a:noFill/>
          <a:ln/>
        </p:spPr>
        <p:txBody>
          <a:bodyPr wrap="square" lIns="0" tIns="0" rIns="0" bIns="0" rtlCol="0" anchor="t"/>
          <a:lstStyle/>
          <a:p>
            <a:pPr algn="r" indent="0" marL="0">
              <a:buNone/>
            </a:pPr>
            <a:r>
              <a:rPr lang="en-US" sz="900" dirty="0">
                <a:solidFill>
                  <a:schemeClr val="bg1"/>
                </a:solidFill>
              </a:rPr>
              <a:t>Photo: foundry in Guwahati, Assam · Donvikro, CC BY-SA 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Agenda</a:t>
            </a:r>
            <a:endParaRPr lang="en-US" sz="3200" dirty="0"/>
          </a:p>
        </p:txBody>
      </p:sp>
      <p:sp>
        <p:nvSpPr>
          <p:cNvPr id="3" name="agenda-num-1"/>
          <p:cNvSpPr/>
          <p:nvPr/>
        </p:nvSpPr>
        <p:spPr>
          <a:xfrm>
            <a:off x="548640" y="1463040"/>
            <a:ext cx="502920" cy="502920"/>
          </a:xfrm>
          <a:prstGeom prst="ellipse">
            <a:avLst/>
          </a:prstGeom>
          <a:solidFill>
            <a:schemeClr val="accent1"/>
          </a:solidFill>
          <a:ln w="12700">
            <a:solidFill>
              <a:schemeClr val="bg1"/>
            </a:solidFill>
            <a:prstDash val="solid"/>
          </a:ln>
        </p:spPr>
      </p:sp>
      <p:sp>
        <p:nvSpPr>
          <p:cNvPr id="4" name="Text 2"/>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280160" y="1417320"/>
            <a:ext cx="5120640" cy="347472"/>
          </a:xfrm>
          <a:prstGeom prst="rect">
            <a:avLst/>
          </a:prstGeom>
          <a:noFill/>
          <a:ln/>
        </p:spPr>
        <p:txBody>
          <a:bodyPr wrap="square" lIns="0" tIns="0" rIns="0" bIns="0" rtlCol="0" anchor="t"/>
          <a:lstStyle/>
          <a:p>
            <a:pPr indent="0" marL="0">
              <a:buNone/>
            </a:pPr>
            <a:r>
              <a:rPr lang="en-US" sz="1800" b="1" dirty="0">
                <a:solidFill>
                  <a:schemeClr val="tx1"/>
                </a:solidFill>
              </a:rPr>
              <a:t>About us and the movement</a:t>
            </a:r>
            <a:endParaRPr lang="en-US" sz="1800" dirty="0"/>
          </a:p>
        </p:txBody>
      </p:sp>
      <p:sp>
        <p:nvSpPr>
          <p:cNvPr id="6" name="Text 4"/>
          <p:cNvSpPr txBox="1"/>
          <p:nvPr/>
        </p:nvSpPr>
        <p:spPr>
          <a:xfrm>
            <a:off x="1280160" y="1764792"/>
            <a:ext cx="5120640" cy="320040"/>
          </a:xfrm>
          <a:prstGeom prst="rect">
            <a:avLst/>
          </a:prstGeom>
          <a:noFill/>
          <a:ln/>
        </p:spPr>
        <p:txBody>
          <a:bodyPr wrap="square" lIns="0" tIns="0" rIns="0" bIns="0" rtlCol="0" anchor="t"/>
          <a:lstStyle/>
          <a:p>
            <a:pPr indent="0" marL="0">
              <a:buNone/>
            </a:pPr>
            <a:r>
              <a:rPr lang="en-US" sz="1300" dirty="0">
                <a:solidFill>
                  <a:schemeClr val="tx2"/>
                </a:solidFill>
              </a:rPr>
              <a:t>Mission, values and why we are worker-first</a:t>
            </a:r>
            <a:endParaRPr lang="en-US" sz="1300" dirty="0"/>
          </a:p>
        </p:txBody>
      </p:sp>
      <p:sp>
        <p:nvSpPr>
          <p:cNvPr id="7" name="agenda-num-2"/>
          <p:cNvSpPr/>
          <p:nvPr/>
        </p:nvSpPr>
        <p:spPr>
          <a:xfrm>
            <a:off x="548640" y="2240280"/>
            <a:ext cx="502920" cy="502920"/>
          </a:xfrm>
          <a:prstGeom prst="ellipse">
            <a:avLst/>
          </a:prstGeom>
          <a:solidFill>
            <a:schemeClr val="accent2"/>
          </a:solidFill>
          <a:ln w="12700">
            <a:solidFill>
              <a:schemeClr val="bg1"/>
            </a:solidFill>
            <a:prstDash val="solid"/>
          </a:ln>
        </p:spPr>
      </p:sp>
      <p:sp>
        <p:nvSpPr>
          <p:cNvPr id="8" name="Text 6"/>
          <p:cNvSpPr txBox="1"/>
          <p:nvPr/>
        </p:nvSpPr>
        <p:spPr>
          <a:xfrm>
            <a:off x="548640" y="2240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80160" y="2194560"/>
            <a:ext cx="5120640" cy="347472"/>
          </a:xfrm>
          <a:prstGeom prst="rect">
            <a:avLst/>
          </a:prstGeom>
          <a:noFill/>
          <a:ln/>
        </p:spPr>
        <p:txBody>
          <a:bodyPr wrap="square" lIns="0" tIns="0" rIns="0" bIns="0" rtlCol="0" anchor="t"/>
          <a:lstStyle/>
          <a:p>
            <a:pPr indent="0" marL="0">
              <a:buNone/>
            </a:pPr>
            <a:r>
              <a:rPr lang="en-US" sz="1800" b="1" dirty="0">
                <a:solidFill>
                  <a:schemeClr val="tx1"/>
                </a:solidFill>
              </a:rPr>
              <a:t>The problem and why now</a:t>
            </a:r>
            <a:endParaRPr lang="en-US" sz="1800" dirty="0"/>
          </a:p>
        </p:txBody>
      </p:sp>
      <p:sp>
        <p:nvSpPr>
          <p:cNvPr id="10" name="Text 8"/>
          <p:cNvSpPr txBox="1"/>
          <p:nvPr/>
        </p:nvSpPr>
        <p:spPr>
          <a:xfrm>
            <a:off x="1280160" y="2542032"/>
            <a:ext cx="5120640" cy="320040"/>
          </a:xfrm>
          <a:prstGeom prst="rect">
            <a:avLst/>
          </a:prstGeom>
          <a:noFill/>
          <a:ln/>
        </p:spPr>
        <p:txBody>
          <a:bodyPr wrap="square" lIns="0" tIns="0" rIns="0" bIns="0" rtlCol="0" anchor="t"/>
          <a:lstStyle/>
          <a:p>
            <a:pPr indent="0" marL="0">
              <a:buNone/>
            </a:pPr>
            <a:r>
              <a:rPr lang="en-US" sz="1300" dirty="0">
                <a:solidFill>
                  <a:schemeClr val="tx2"/>
                </a:solidFill>
              </a:rPr>
              <a:t>How contract work is recorded today</a:t>
            </a:r>
            <a:endParaRPr lang="en-US" sz="1300" dirty="0"/>
          </a:p>
        </p:txBody>
      </p:sp>
      <p:sp>
        <p:nvSpPr>
          <p:cNvPr id="11" name="agenda-num-3"/>
          <p:cNvSpPr/>
          <p:nvPr/>
        </p:nvSpPr>
        <p:spPr>
          <a:xfrm>
            <a:off x="548640" y="3017520"/>
            <a:ext cx="502920" cy="502920"/>
          </a:xfrm>
          <a:prstGeom prst="ellipse">
            <a:avLst/>
          </a:prstGeom>
          <a:solidFill>
            <a:schemeClr val="accent3"/>
          </a:solidFill>
          <a:ln w="12700">
            <a:solidFill>
              <a:schemeClr val="bg1"/>
            </a:solidFill>
            <a:prstDash val="solid"/>
          </a:ln>
        </p:spPr>
      </p:sp>
      <p:sp>
        <p:nvSpPr>
          <p:cNvPr id="12" name="Text 10"/>
          <p:cNvSpPr txBox="1"/>
          <p:nvPr/>
        </p:nvSpPr>
        <p:spPr>
          <a:xfrm>
            <a:off x="548640" y="3017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80160" y="2971800"/>
            <a:ext cx="5120640" cy="347472"/>
          </a:xfrm>
          <a:prstGeom prst="rect">
            <a:avLst/>
          </a:prstGeom>
          <a:noFill/>
          <a:ln/>
        </p:spPr>
        <p:txBody>
          <a:bodyPr wrap="square" lIns="0" tIns="0" rIns="0" bIns="0" rtlCol="0" anchor="t"/>
          <a:lstStyle/>
          <a:p>
            <a:pPr indent="0" marL="0">
              <a:buNone/>
            </a:pPr>
            <a:r>
              <a:rPr lang="en-US" sz="1800" b="1" dirty="0">
                <a:solidFill>
                  <a:schemeClr val="tx1"/>
                </a:solidFill>
              </a:rPr>
              <a:t>One QR, four solutions</a:t>
            </a:r>
            <a:endParaRPr lang="en-US" sz="1800" dirty="0"/>
          </a:p>
        </p:txBody>
      </p:sp>
      <p:sp>
        <p:nvSpPr>
          <p:cNvPr id="14" name="Text 12"/>
          <p:cNvSpPr txBox="1"/>
          <p:nvPr/>
        </p:nvSpPr>
        <p:spPr>
          <a:xfrm>
            <a:off x="1280160" y="3319272"/>
            <a:ext cx="5120640" cy="320040"/>
          </a:xfrm>
          <a:prstGeom prst="rect">
            <a:avLst/>
          </a:prstGeom>
          <a:noFill/>
          <a:ln/>
        </p:spPr>
        <p:txBody>
          <a:bodyPr wrap="square" lIns="0" tIns="0" rIns="0" bIns="0" rtlCol="0" anchor="t"/>
          <a:lstStyle/>
          <a:p>
            <a:pPr indent="0" marL="0">
              <a:buNone/>
            </a:pPr>
            <a:r>
              <a:rPr lang="en-US" sz="1300" dirty="0">
                <a:solidFill>
                  <a:schemeClr val="tx2"/>
                </a:solidFill>
              </a:rPr>
              <a:t>Onboarding, attendance, gate pass, verification, in 16 languages</a:t>
            </a:r>
            <a:endParaRPr lang="en-US" sz="1300" dirty="0"/>
          </a:p>
        </p:txBody>
      </p:sp>
      <p:sp>
        <p:nvSpPr>
          <p:cNvPr id="15" name="agenda-num-4"/>
          <p:cNvSpPr/>
          <p:nvPr/>
        </p:nvSpPr>
        <p:spPr>
          <a:xfrm>
            <a:off x="548640" y="3794760"/>
            <a:ext cx="502920" cy="502920"/>
          </a:xfrm>
          <a:prstGeom prst="ellipse">
            <a:avLst/>
          </a:prstGeom>
          <a:solidFill>
            <a:schemeClr val="accent1"/>
          </a:solidFill>
          <a:ln w="12700">
            <a:solidFill>
              <a:schemeClr val="bg1"/>
            </a:solidFill>
            <a:prstDash val="solid"/>
          </a:ln>
        </p:spPr>
      </p:sp>
      <p:sp>
        <p:nvSpPr>
          <p:cNvPr id="16" name="Text 14"/>
          <p:cNvSpPr txBox="1"/>
          <p:nvPr/>
        </p:nvSpPr>
        <p:spPr>
          <a:xfrm>
            <a:off x="548640" y="3794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280160" y="3749040"/>
            <a:ext cx="5120640" cy="347472"/>
          </a:xfrm>
          <a:prstGeom prst="rect">
            <a:avLst/>
          </a:prstGeom>
          <a:noFill/>
          <a:ln/>
        </p:spPr>
        <p:txBody>
          <a:bodyPr wrap="square" lIns="0" tIns="0" rIns="0" bIns="0" rtlCol="0" anchor="t"/>
          <a:lstStyle/>
          <a:p>
            <a:pPr indent="0" marL="0">
              <a:buNone/>
            </a:pPr>
            <a:r>
              <a:rPr lang="en-US" sz="1800" b="1" dirty="0">
                <a:solidFill>
                  <a:schemeClr val="tx1"/>
                </a:solidFill>
              </a:rPr>
              <a:t>Governance and impact</a:t>
            </a:r>
            <a:endParaRPr lang="en-US" sz="1800" dirty="0"/>
          </a:p>
        </p:txBody>
      </p:sp>
      <p:sp>
        <p:nvSpPr>
          <p:cNvPr id="18" name="Text 16"/>
          <p:cNvSpPr txBox="1"/>
          <p:nvPr/>
        </p:nvSpPr>
        <p:spPr>
          <a:xfrm>
            <a:off x="1280160" y="4096512"/>
            <a:ext cx="5120640" cy="320040"/>
          </a:xfrm>
          <a:prstGeom prst="rect">
            <a:avLst/>
          </a:prstGeom>
          <a:noFill/>
          <a:ln/>
        </p:spPr>
        <p:txBody>
          <a:bodyPr wrap="square" lIns="0" tIns="0" rIns="0" bIns="0" rtlCol="0" anchor="t"/>
          <a:lstStyle/>
          <a:p>
            <a:pPr indent="0" marL="0">
              <a:buNone/>
            </a:pPr>
            <a:r>
              <a:rPr lang="en-US" sz="1300" dirty="0">
                <a:solidFill>
                  <a:schemeClr val="tx2"/>
                </a:solidFill>
              </a:rPr>
              <a:t>Stakeholders, audit, reporting, nation building, paperless</a:t>
            </a:r>
            <a:endParaRPr lang="en-US" sz="1300" dirty="0"/>
          </a:p>
        </p:txBody>
      </p:sp>
      <p:sp>
        <p:nvSpPr>
          <p:cNvPr id="19" name="agenda-num-5"/>
          <p:cNvSpPr/>
          <p:nvPr/>
        </p:nvSpPr>
        <p:spPr>
          <a:xfrm>
            <a:off x="548640" y="4572000"/>
            <a:ext cx="502920" cy="502920"/>
          </a:xfrm>
          <a:prstGeom prst="ellipse">
            <a:avLst/>
          </a:prstGeom>
          <a:solidFill>
            <a:schemeClr val="accent2"/>
          </a:solidFill>
          <a:ln w="12700">
            <a:solidFill>
              <a:schemeClr val="bg1"/>
            </a:solidFill>
            <a:prstDash val="solid"/>
          </a:ln>
        </p:spPr>
      </p:sp>
      <p:sp>
        <p:nvSpPr>
          <p:cNvPr id="20" name="Text 18"/>
          <p:cNvSpPr txBox="1"/>
          <p:nvPr/>
        </p:nvSpPr>
        <p:spPr>
          <a:xfrm>
            <a:off x="548640" y="45720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 19"/>
          <p:cNvSpPr txBox="1"/>
          <p:nvPr/>
        </p:nvSpPr>
        <p:spPr>
          <a:xfrm>
            <a:off x="1280160" y="4526280"/>
            <a:ext cx="5120640" cy="347472"/>
          </a:xfrm>
          <a:prstGeom prst="rect">
            <a:avLst/>
          </a:prstGeom>
          <a:noFill/>
          <a:ln/>
        </p:spPr>
        <p:txBody>
          <a:bodyPr wrap="square" lIns="0" tIns="0" rIns="0" bIns="0" rtlCol="0" anchor="t"/>
          <a:lstStyle/>
          <a:p>
            <a:pPr indent="0" marL="0">
              <a:buNone/>
            </a:pPr>
            <a:r>
              <a:rPr lang="en-US" sz="1800" b="1" dirty="0">
                <a:solidFill>
                  <a:schemeClr val="tx1"/>
                </a:solidFill>
              </a:rPr>
              <a:t>Market and business model</a:t>
            </a:r>
            <a:endParaRPr lang="en-US" sz="1800" dirty="0"/>
          </a:p>
        </p:txBody>
      </p:sp>
      <p:sp>
        <p:nvSpPr>
          <p:cNvPr id="22" name="Text 20"/>
          <p:cNvSpPr txBox="1"/>
          <p:nvPr/>
        </p:nvSpPr>
        <p:spPr>
          <a:xfrm>
            <a:off x="1280160" y="4873752"/>
            <a:ext cx="5120640" cy="320040"/>
          </a:xfrm>
          <a:prstGeom prst="rect">
            <a:avLst/>
          </a:prstGeom>
          <a:noFill/>
          <a:ln/>
        </p:spPr>
        <p:txBody>
          <a:bodyPr wrap="square" lIns="0" tIns="0" rIns="0" bIns="0" rtlCol="0" anchor="t"/>
          <a:lstStyle/>
          <a:p>
            <a:pPr indent="0" marL="0">
              <a:buNone/>
            </a:pPr>
            <a:r>
              <a:rPr lang="en-US" sz="1300" dirty="0">
                <a:solidFill>
                  <a:schemeClr val="tx2"/>
                </a:solidFill>
              </a:rPr>
              <a:t>Who pays, pricing, unit economics, SWOT</a:t>
            </a:r>
            <a:endParaRPr lang="en-US" sz="1300" dirty="0"/>
          </a:p>
        </p:txBody>
      </p:sp>
      <p:sp>
        <p:nvSpPr>
          <p:cNvPr id="23" name="agenda-num-6"/>
          <p:cNvSpPr/>
          <p:nvPr/>
        </p:nvSpPr>
        <p:spPr>
          <a:xfrm>
            <a:off x="548640" y="5349240"/>
            <a:ext cx="502920" cy="502920"/>
          </a:xfrm>
          <a:prstGeom prst="ellipse">
            <a:avLst/>
          </a:prstGeom>
          <a:solidFill>
            <a:schemeClr val="accent3"/>
          </a:solidFill>
          <a:ln w="12700">
            <a:solidFill>
              <a:schemeClr val="bg1"/>
            </a:solidFill>
            <a:prstDash val="solid"/>
          </a:ln>
        </p:spPr>
      </p:sp>
      <p:sp>
        <p:nvSpPr>
          <p:cNvPr id="24" name="Text 22"/>
          <p:cNvSpPr txBox="1"/>
          <p:nvPr/>
        </p:nvSpPr>
        <p:spPr>
          <a:xfrm>
            <a:off x="548640" y="53492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Text 23"/>
          <p:cNvSpPr txBox="1"/>
          <p:nvPr/>
        </p:nvSpPr>
        <p:spPr>
          <a:xfrm>
            <a:off x="1280160" y="5303520"/>
            <a:ext cx="5120640" cy="347472"/>
          </a:xfrm>
          <a:prstGeom prst="rect">
            <a:avLst/>
          </a:prstGeom>
          <a:noFill/>
          <a:ln/>
        </p:spPr>
        <p:txBody>
          <a:bodyPr wrap="square" lIns="0" tIns="0" rIns="0" bIns="0" rtlCol="0" anchor="t"/>
          <a:lstStyle/>
          <a:p>
            <a:pPr indent="0" marL="0">
              <a:buNone/>
            </a:pPr>
            <a:r>
              <a:rPr lang="en-US" sz="1800" b="1" dirty="0">
                <a:solidFill>
                  <a:schemeClr val="tx1"/>
                </a:solidFill>
              </a:rPr>
              <a:t>Traction, team and next steps</a:t>
            </a:r>
            <a:endParaRPr lang="en-US" sz="1800" dirty="0"/>
          </a:p>
        </p:txBody>
      </p:sp>
      <p:sp>
        <p:nvSpPr>
          <p:cNvPr id="26" name="Text 24"/>
          <p:cNvSpPr txBox="1"/>
          <p:nvPr/>
        </p:nvSpPr>
        <p:spPr>
          <a:xfrm>
            <a:off x="1280160" y="5650992"/>
            <a:ext cx="5120640" cy="320040"/>
          </a:xfrm>
          <a:prstGeom prst="rect">
            <a:avLst/>
          </a:prstGeom>
          <a:noFill/>
          <a:ln/>
        </p:spPr>
        <p:txBody>
          <a:bodyPr wrap="square" lIns="0" tIns="0" rIns="0" bIns="0" rtlCol="0" anchor="t"/>
          <a:lstStyle/>
          <a:p>
            <a:pPr indent="0" marL="0">
              <a:buNone/>
            </a:pPr>
            <a:r>
              <a:rPr lang="en-US" sz="1300" dirty="0">
                <a:solidFill>
                  <a:schemeClr val="tx2"/>
                </a:solidFill>
              </a:rPr>
              <a:t>Where we are, who we are, how to work with us</a:t>
            </a:r>
            <a:endParaRPr lang="en-US" sz="1300" dirty="0"/>
          </a:p>
        </p:txBody>
      </p:sp>
      <p:pic>
        <p:nvPicPr>
          <p:cNvPr id="27" name="agenda-photo" descr="preencoded.png">    </p:cNvPr>
          <p:cNvPicPr>
            <a:picLocks noChangeAspect="1"/>
          </p:cNvPicPr>
          <p:nvPr/>
        </p:nvPicPr>
        <p:blipFill>
          <a:blip r:embed="rId1"/>
          <a:stretch>
            <a:fillRect/>
          </a:stretch>
        </p:blipFill>
        <p:spPr>
          <a:xfrm>
            <a:off x="6949440" y="1417320"/>
            <a:ext cx="4663440" cy="4572000"/>
          </a:xfrm>
          <a:prstGeom prst="rect">
            <a:avLst/>
          </a:prstGeom>
        </p:spPr>
      </p:pic>
      <p:sp>
        <p:nvSpPr>
          <p:cNvPr id="28" name="Text 25"/>
          <p:cNvSpPr txBox="1"/>
          <p:nvPr/>
        </p:nvSpPr>
        <p:spPr>
          <a:xfrm>
            <a:off x="6949440" y="6035040"/>
            <a:ext cx="4663440" cy="228600"/>
          </a:xfrm>
          <a:prstGeom prst="rect">
            <a:avLst/>
          </a:prstGeom>
          <a:noFill/>
          <a:ln/>
        </p:spPr>
        <p:txBody>
          <a:bodyPr wrap="square" lIns="0" tIns="0" rIns="0" bIns="0" rtlCol="0" anchor="t"/>
          <a:lstStyle/>
          <a:p>
            <a:pPr algn="r" indent="0" marL="0">
              <a:buNone/>
            </a:pPr>
            <a:r>
              <a:rPr lang="en-US" sz="900" dirty="0">
                <a:solidFill>
                  <a:schemeClr val="tx2"/>
                </a:solidFill>
              </a:rPr>
              <a:t>Electric fan factory, Varanasi · Jorge Royan, CC BY-SA 3.0</a:t>
            </a:r>
            <a:endParaRPr lang="en-US" sz="9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About us</a:t>
            </a:r>
            <a:endParaRPr lang="en-US" sz="3200" dirty="0"/>
          </a:p>
        </p:txBody>
      </p:sp>
      <p:sp>
        <p:nvSpPr>
          <p:cNvPr id="3" name="Text 1"/>
          <p:cNvSpPr txBox="1"/>
          <p:nvPr/>
        </p:nvSpPr>
        <p:spPr>
          <a:xfrm>
            <a:off x="548640" y="1371600"/>
            <a:ext cx="6675120" cy="822960"/>
          </a:xfrm>
          <a:prstGeom prst="rect">
            <a:avLst/>
          </a:prstGeom>
          <a:noFill/>
          <a:ln/>
        </p:spPr>
        <p:txBody>
          <a:bodyPr wrap="square" lIns="0" tIns="0" rIns="0" bIns="0" rtlCol="0" anchor="t"/>
          <a:lstStyle/>
          <a:p>
            <a:pPr indent="0" marL="0">
              <a:buNone/>
            </a:pPr>
            <a:r>
              <a:rPr lang="en-US" sz="2400" b="1" i="1" dirty="0">
                <a:solidFill>
                  <a:schemeClr val="tx2"/>
                </a:solidFill>
              </a:rPr>
              <a:t>“A developed Bharat begins with an empowered worker.”</a:t>
            </a:r>
            <a:endParaRPr lang="en-US" sz="2400" dirty="0"/>
          </a:p>
        </p:txBody>
      </p:sp>
      <p:sp>
        <p:nvSpPr>
          <p:cNvPr id="4" name="Text 2"/>
          <p:cNvSpPr txBox="1"/>
          <p:nvPr/>
        </p:nvSpPr>
        <p:spPr>
          <a:xfrm>
            <a:off x="548640" y="2240280"/>
            <a:ext cx="6675120" cy="1005840"/>
          </a:xfrm>
          <a:prstGeom prst="rect">
            <a:avLst/>
          </a:prstGeom>
          <a:noFill/>
          <a:ln/>
        </p:spPr>
        <p:txBody>
          <a:bodyPr wrap="square" lIns="0" tIns="0" rIns="0" bIns="0" rtlCol="0" anchor="t"/>
          <a:lstStyle/>
          <a:p>
            <a:pPr indent="0" marL="0">
              <a:buNone/>
            </a:pPr>
            <a:r>
              <a:rPr lang="en-US" sz="1500" dirty="0">
                <a:solidFill>
                  <a:schemeClr val="tx2"/>
                </a:solidFill>
              </a:rPr>
              <a:t>BharatShramSetu (Bharat for the nation, Shram for labour, Setu for the bridge) is India’s Digital Workforce Governance Infrastructure. It starts with the worker, then connects every contractor, employer and compliance team responsible for them, across India.</a:t>
            </a:r>
            <a:endParaRPr lang="en-US" sz="1500" dirty="0"/>
          </a:p>
        </p:txBody>
      </p:sp>
      <p:sp>
        <p:nvSpPr>
          <p:cNvPr id="5" name="icon-circle-7"/>
          <p:cNvSpPr/>
          <p:nvPr/>
        </p:nvSpPr>
        <p:spPr>
          <a:xfrm>
            <a:off x="548640" y="3520440"/>
            <a:ext cx="548640" cy="548640"/>
          </a:xfrm>
          <a:prstGeom prst="ellipse">
            <a:avLst/>
          </a:prstGeom>
          <a:solidFill>
            <a:schemeClr val="accent3"/>
          </a:solidFill>
          <a:ln w="12700">
            <a:solidFill>
              <a:schemeClr val="accent3"/>
            </a:solidFill>
            <a:prstDash val="solid"/>
          </a:ln>
        </p:spPr>
      </p:sp>
      <p:pic>
        <p:nvPicPr>
          <p:cNvPr id="6" name="icon-8" descr="preencoded.png">    </p:cNvPr>
          <p:cNvPicPr>
            <a:picLocks noChangeAspect="1"/>
          </p:cNvPicPr>
          <p:nvPr/>
        </p:nvPicPr>
        <p:blipFill>
          <a:blip r:embed="rId1"/>
          <a:stretch>
            <a:fillRect/>
          </a:stretch>
        </p:blipFill>
        <p:spPr>
          <a:xfrm>
            <a:off x="680314" y="3652114"/>
            <a:ext cx="285293" cy="285293"/>
          </a:xfrm>
          <a:prstGeom prst="rect">
            <a:avLst/>
          </a:prstGeom>
        </p:spPr>
      </p:pic>
      <p:sp>
        <p:nvSpPr>
          <p:cNvPr id="7" name="Text 4"/>
          <p:cNvSpPr txBox="1"/>
          <p:nvPr/>
        </p:nvSpPr>
        <p:spPr>
          <a:xfrm>
            <a:off x="548640" y="4206240"/>
            <a:ext cx="1600200" cy="320040"/>
          </a:xfrm>
          <a:prstGeom prst="rect">
            <a:avLst/>
          </a:prstGeom>
          <a:noFill/>
          <a:ln/>
        </p:spPr>
        <p:txBody>
          <a:bodyPr wrap="square" lIns="0" tIns="0" rIns="0" bIns="0" rtlCol="0" anchor="t"/>
          <a:lstStyle/>
          <a:p>
            <a:pPr indent="0" marL="0">
              <a:buNone/>
            </a:pPr>
            <a:r>
              <a:rPr lang="en-US" sz="1500" b="1" dirty="0">
                <a:solidFill>
                  <a:schemeClr val="tx1"/>
                </a:solidFill>
              </a:rPr>
              <a:t>Trust</a:t>
            </a:r>
            <a:endParaRPr lang="en-US" sz="1500" dirty="0"/>
          </a:p>
        </p:txBody>
      </p:sp>
      <p:sp>
        <p:nvSpPr>
          <p:cNvPr id="8" name="Text 5"/>
          <p:cNvSpPr txBox="1"/>
          <p:nvPr/>
        </p:nvSpPr>
        <p:spPr>
          <a:xfrm>
            <a:off x="548640" y="4526280"/>
            <a:ext cx="1600200" cy="457200"/>
          </a:xfrm>
          <a:prstGeom prst="rect">
            <a:avLst/>
          </a:prstGeom>
          <a:noFill/>
          <a:ln/>
        </p:spPr>
        <p:txBody>
          <a:bodyPr wrap="square" lIns="0" tIns="0" rIns="0" bIns="0" rtlCol="0" anchor="t"/>
          <a:lstStyle/>
          <a:p>
            <a:pPr indent="0" marL="0">
              <a:buNone/>
            </a:pPr>
            <a:r>
              <a:rPr lang="en-US" sz="1200" dirty="0">
                <a:solidFill>
                  <a:schemeClr val="tx2"/>
                </a:solidFill>
              </a:rPr>
              <a:t>Secure &amp; Verified</a:t>
            </a:r>
            <a:endParaRPr lang="en-US" sz="1200" dirty="0"/>
          </a:p>
        </p:txBody>
      </p:sp>
      <p:sp>
        <p:nvSpPr>
          <p:cNvPr id="9" name="icon-circle-9"/>
          <p:cNvSpPr/>
          <p:nvPr/>
        </p:nvSpPr>
        <p:spPr>
          <a:xfrm>
            <a:off x="2240280" y="3520440"/>
            <a:ext cx="548640" cy="548640"/>
          </a:xfrm>
          <a:prstGeom prst="ellipse">
            <a:avLst/>
          </a:prstGeom>
          <a:solidFill>
            <a:schemeClr val="accent1"/>
          </a:solidFill>
          <a:ln w="12700">
            <a:solidFill>
              <a:schemeClr val="accent1"/>
            </a:solidFill>
            <a:prstDash val="solid"/>
          </a:ln>
        </p:spPr>
      </p:sp>
      <p:pic>
        <p:nvPicPr>
          <p:cNvPr id="10" name="icon-10" descr="preencoded.png">    </p:cNvPr>
          <p:cNvPicPr>
            <a:picLocks noChangeAspect="1"/>
          </p:cNvPicPr>
          <p:nvPr/>
        </p:nvPicPr>
        <p:blipFill>
          <a:blip r:embed="rId2"/>
          <a:stretch>
            <a:fillRect/>
          </a:stretch>
        </p:blipFill>
        <p:spPr>
          <a:xfrm>
            <a:off x="2371954" y="3652114"/>
            <a:ext cx="285293" cy="285293"/>
          </a:xfrm>
          <a:prstGeom prst="rect">
            <a:avLst/>
          </a:prstGeom>
        </p:spPr>
      </p:pic>
      <p:sp>
        <p:nvSpPr>
          <p:cNvPr id="11" name="Text 7"/>
          <p:cNvSpPr txBox="1"/>
          <p:nvPr/>
        </p:nvSpPr>
        <p:spPr>
          <a:xfrm>
            <a:off x="2240280" y="4206240"/>
            <a:ext cx="1600200" cy="320040"/>
          </a:xfrm>
          <a:prstGeom prst="rect">
            <a:avLst/>
          </a:prstGeom>
          <a:noFill/>
          <a:ln/>
        </p:spPr>
        <p:txBody>
          <a:bodyPr wrap="square" lIns="0" tIns="0" rIns="0" bIns="0" rtlCol="0" anchor="t"/>
          <a:lstStyle/>
          <a:p>
            <a:pPr indent="0" marL="0">
              <a:buNone/>
            </a:pPr>
            <a:r>
              <a:rPr lang="en-US" sz="1500" b="1" dirty="0">
                <a:solidFill>
                  <a:schemeClr val="tx1"/>
                </a:solidFill>
              </a:rPr>
              <a:t>Transparency</a:t>
            </a:r>
            <a:endParaRPr lang="en-US" sz="1500" dirty="0"/>
          </a:p>
        </p:txBody>
      </p:sp>
      <p:sp>
        <p:nvSpPr>
          <p:cNvPr id="12" name="Text 8"/>
          <p:cNvSpPr txBox="1"/>
          <p:nvPr/>
        </p:nvSpPr>
        <p:spPr>
          <a:xfrm>
            <a:off x="2240280" y="4526280"/>
            <a:ext cx="1600200" cy="457200"/>
          </a:xfrm>
          <a:prstGeom prst="rect">
            <a:avLst/>
          </a:prstGeom>
          <a:noFill/>
          <a:ln/>
        </p:spPr>
        <p:txBody>
          <a:bodyPr wrap="square" lIns="0" tIns="0" rIns="0" bIns="0" rtlCol="0" anchor="t"/>
          <a:lstStyle/>
          <a:p>
            <a:pPr indent="0" marL="0">
              <a:buNone/>
            </a:pPr>
            <a:r>
              <a:rPr lang="en-US" sz="1200" dirty="0">
                <a:solidFill>
                  <a:schemeClr val="tx2"/>
                </a:solidFill>
              </a:rPr>
              <a:t>Clear &amp; Accountable</a:t>
            </a:r>
            <a:endParaRPr lang="en-US" sz="1200" dirty="0"/>
          </a:p>
        </p:txBody>
      </p:sp>
      <p:sp>
        <p:nvSpPr>
          <p:cNvPr id="13" name="icon-circle-11"/>
          <p:cNvSpPr/>
          <p:nvPr/>
        </p:nvSpPr>
        <p:spPr>
          <a:xfrm>
            <a:off x="3931920" y="3520440"/>
            <a:ext cx="548640" cy="548640"/>
          </a:xfrm>
          <a:prstGeom prst="ellipse">
            <a:avLst/>
          </a:prstGeom>
          <a:solidFill>
            <a:schemeClr val="accent2"/>
          </a:solidFill>
          <a:ln w="12700">
            <a:solidFill>
              <a:schemeClr val="accent2"/>
            </a:solidFill>
            <a:prstDash val="solid"/>
          </a:ln>
        </p:spPr>
      </p:sp>
      <p:pic>
        <p:nvPicPr>
          <p:cNvPr id="14" name="icon-12" descr="preencoded.png">    </p:cNvPr>
          <p:cNvPicPr>
            <a:picLocks noChangeAspect="1"/>
          </p:cNvPicPr>
          <p:nvPr/>
        </p:nvPicPr>
        <p:blipFill>
          <a:blip r:embed="rId3"/>
          <a:stretch>
            <a:fillRect/>
          </a:stretch>
        </p:blipFill>
        <p:spPr>
          <a:xfrm>
            <a:off x="4063594" y="3652114"/>
            <a:ext cx="285293" cy="285293"/>
          </a:xfrm>
          <a:prstGeom prst="rect">
            <a:avLst/>
          </a:prstGeom>
        </p:spPr>
      </p:pic>
      <p:sp>
        <p:nvSpPr>
          <p:cNvPr id="15" name="Text 10"/>
          <p:cNvSpPr txBox="1"/>
          <p:nvPr/>
        </p:nvSpPr>
        <p:spPr>
          <a:xfrm>
            <a:off x="3931920" y="4206240"/>
            <a:ext cx="1600200" cy="320040"/>
          </a:xfrm>
          <a:prstGeom prst="rect">
            <a:avLst/>
          </a:prstGeom>
          <a:noFill/>
          <a:ln/>
        </p:spPr>
        <p:txBody>
          <a:bodyPr wrap="square" lIns="0" tIns="0" rIns="0" bIns="0" rtlCol="0" anchor="t"/>
          <a:lstStyle/>
          <a:p>
            <a:pPr indent="0" marL="0">
              <a:buNone/>
            </a:pPr>
            <a:r>
              <a:rPr lang="en-US" sz="1500" b="1" dirty="0">
                <a:solidFill>
                  <a:schemeClr val="tx1"/>
                </a:solidFill>
              </a:rPr>
              <a:t>Inclusivity</a:t>
            </a:r>
            <a:endParaRPr lang="en-US" sz="1500" dirty="0"/>
          </a:p>
        </p:txBody>
      </p:sp>
      <p:sp>
        <p:nvSpPr>
          <p:cNvPr id="16" name="Text 11"/>
          <p:cNvSpPr txBox="1"/>
          <p:nvPr/>
        </p:nvSpPr>
        <p:spPr>
          <a:xfrm>
            <a:off x="3931920" y="4526280"/>
            <a:ext cx="1600200" cy="457200"/>
          </a:xfrm>
          <a:prstGeom prst="rect">
            <a:avLst/>
          </a:prstGeom>
          <a:noFill/>
          <a:ln/>
        </p:spPr>
        <p:txBody>
          <a:bodyPr wrap="square" lIns="0" tIns="0" rIns="0" bIns="0" rtlCol="0" anchor="t"/>
          <a:lstStyle/>
          <a:p>
            <a:pPr indent="0" marL="0">
              <a:buNone/>
            </a:pPr>
            <a:r>
              <a:rPr lang="en-US" sz="1200" dirty="0">
                <a:solidFill>
                  <a:schemeClr val="tx2"/>
                </a:solidFill>
              </a:rPr>
              <a:t>For Every Worker</a:t>
            </a:r>
            <a:endParaRPr lang="en-US" sz="1200" dirty="0"/>
          </a:p>
        </p:txBody>
      </p:sp>
      <p:sp>
        <p:nvSpPr>
          <p:cNvPr id="17" name="icon-circle-13"/>
          <p:cNvSpPr/>
          <p:nvPr/>
        </p:nvSpPr>
        <p:spPr>
          <a:xfrm>
            <a:off x="5623560" y="3520440"/>
            <a:ext cx="548640" cy="548640"/>
          </a:xfrm>
          <a:prstGeom prst="ellipse">
            <a:avLst/>
          </a:prstGeom>
          <a:solidFill>
            <a:schemeClr val="tx2"/>
          </a:solidFill>
          <a:ln w="12700">
            <a:solidFill>
              <a:schemeClr val="tx2"/>
            </a:solidFill>
            <a:prstDash val="solid"/>
          </a:ln>
        </p:spPr>
      </p:sp>
      <p:pic>
        <p:nvPicPr>
          <p:cNvPr id="18" name="icon-14" descr="preencoded.png">    </p:cNvPr>
          <p:cNvPicPr>
            <a:picLocks noChangeAspect="1"/>
          </p:cNvPicPr>
          <p:nvPr/>
        </p:nvPicPr>
        <p:blipFill>
          <a:blip r:embed="rId4"/>
          <a:stretch>
            <a:fillRect/>
          </a:stretch>
        </p:blipFill>
        <p:spPr>
          <a:xfrm>
            <a:off x="5755234" y="3652114"/>
            <a:ext cx="285293" cy="285293"/>
          </a:xfrm>
          <a:prstGeom prst="rect">
            <a:avLst/>
          </a:prstGeom>
        </p:spPr>
      </p:pic>
      <p:sp>
        <p:nvSpPr>
          <p:cNvPr id="19" name="Text 13"/>
          <p:cNvSpPr txBox="1"/>
          <p:nvPr/>
        </p:nvSpPr>
        <p:spPr>
          <a:xfrm>
            <a:off x="5623560" y="4206240"/>
            <a:ext cx="1600200" cy="320040"/>
          </a:xfrm>
          <a:prstGeom prst="rect">
            <a:avLst/>
          </a:prstGeom>
          <a:noFill/>
          <a:ln/>
        </p:spPr>
        <p:txBody>
          <a:bodyPr wrap="square" lIns="0" tIns="0" rIns="0" bIns="0" rtlCol="0" anchor="t"/>
          <a:lstStyle/>
          <a:p>
            <a:pPr indent="0" marL="0">
              <a:buNone/>
            </a:pPr>
            <a:r>
              <a:rPr lang="en-US" sz="1500" b="1" dirty="0">
                <a:solidFill>
                  <a:schemeClr val="tx1"/>
                </a:solidFill>
              </a:rPr>
              <a:t>Empowerment</a:t>
            </a:r>
            <a:endParaRPr lang="en-US" sz="1500" dirty="0"/>
          </a:p>
        </p:txBody>
      </p:sp>
      <p:sp>
        <p:nvSpPr>
          <p:cNvPr id="20" name="Text 14"/>
          <p:cNvSpPr txBox="1"/>
          <p:nvPr/>
        </p:nvSpPr>
        <p:spPr>
          <a:xfrm>
            <a:off x="5623560" y="4526280"/>
            <a:ext cx="1600200" cy="457200"/>
          </a:xfrm>
          <a:prstGeom prst="rect">
            <a:avLst/>
          </a:prstGeom>
          <a:noFill/>
          <a:ln/>
        </p:spPr>
        <p:txBody>
          <a:bodyPr wrap="square" lIns="0" tIns="0" rIns="0" bIns="0" rtlCol="0" anchor="t"/>
          <a:lstStyle/>
          <a:p>
            <a:pPr indent="0" marL="0">
              <a:buNone/>
            </a:pPr>
            <a:r>
              <a:rPr lang="en-US" sz="1200" dirty="0">
                <a:solidFill>
                  <a:schemeClr val="tx2"/>
                </a:solidFill>
              </a:rPr>
              <a:t>Growth &amp; Welfare</a:t>
            </a:r>
            <a:endParaRPr lang="en-US" sz="1200" dirty="0"/>
          </a:p>
        </p:txBody>
      </p:sp>
      <p:sp>
        <p:nvSpPr>
          <p:cNvPr id="21" name="Text 15"/>
          <p:cNvSpPr txBox="1"/>
          <p:nvPr/>
        </p:nvSpPr>
        <p:spPr>
          <a:xfrm>
            <a:off x="548640" y="5349240"/>
            <a:ext cx="6675120" cy="365760"/>
          </a:xfrm>
          <a:prstGeom prst="rect">
            <a:avLst/>
          </a:prstGeom>
          <a:noFill/>
          <a:ln/>
        </p:spPr>
        <p:txBody>
          <a:bodyPr wrap="square" lIns="0" tIns="0" rIns="0" bIns="0" rtlCol="0" anchor="t"/>
          <a:lstStyle/>
          <a:p>
            <a:pPr indent="0" marL="0">
              <a:buNone/>
            </a:pPr>
            <a:r>
              <a:rPr lang="en-US" sz="1300" b="1" dirty="0">
                <a:solidFill>
                  <a:schemeClr val="accent4"/>
                </a:solidFill>
              </a:rPr>
              <a:t>One Nation, One ID, One Platform  ·  Building a Stronger, Safer and Empowered Bharat</a:t>
            </a:r>
            <a:endParaRPr lang="en-US" sz="1300" dirty="0"/>
          </a:p>
        </p:txBody>
      </p:sp>
      <p:graphicFrame>
        <p:nvGraphicFramePr>
          <p:cNvPr id="4" name="company-facts"/>
          <p:cNvGraphicFramePr>
            <a:graphicFrameLocks noGrp="1"/>
          </p:cNvGraphicFramePr>
          <p:nvPr>
            <p:extLst>
              <p:ext uri="{D42A27DB-BD31-4B8C-83A1-F6EECF244321}">
                <p14:modId xmlns:p14="http://schemas.microsoft.com/office/powerpoint/2010/main" val="1579011935"/>
              </p:ext>
            </p:extLst>
          </p:nvPr>
        </p:nvGraphicFramePr>
        <p:xfrm>
          <a:off x="7589520" y="1417320"/>
          <a:ext cx="4023360" cy="914400"/>
        </p:xfrm>
        <a:graphic>
          <a:graphicData uri="http://schemas.openxmlformats.org/drawingml/2006/table">
            <a:tbl>
              <a:tblPr/>
              <a:tblGrid>
                <a:gridCol w="1417320"/>
                <a:gridCol w="2606040"/>
              </a:tblGrid>
              <a:tr h="502920">
                <a:tc gridSpan="2">
                  <a:txBody>
                    <a:bodyPr/>
                    <a:lstStyle/>
                    <a:p>
                      <a:pPr indent="0" marL="0">
                        <a:buNone/>
                      </a:pPr>
                      <a:r>
                        <a:rPr lang="en-US" sz="1300" b="1" dirty="0">
                          <a:solidFill>
                            <a:schemeClr val="bg1"/>
                          </a:solidFill>
                        </a:rPr>
                        <a:t>Company at a glance</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tx1"/>
                    </a:solidFill>
                  </a:tcPr>
                </a:tc>
                <a:tc hMerge="1">
                  <a:tcPr/>
                </a:tc>
              </a:tr>
              <a:tr h="502920">
                <a:tc>
                  <a:txBody>
                    <a:bodyPr/>
                    <a:lstStyle/>
                    <a:p>
                      <a:pPr indent="0" marL="0">
                        <a:buNone/>
                      </a:pPr>
                      <a:r>
                        <a:rPr lang="en-US" sz="1300" b="1" dirty="0">
                          <a:solidFill>
                            <a:schemeClr val="tx1"/>
                          </a:solidFill>
                        </a:rPr>
                        <a:t>Company</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[Registered legal name]</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Founded</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[Year]</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Headquarters</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[City, State]</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Team size</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i="1" dirty="0">
                          <a:solidFill>
                            <a:schemeClr val="tx2"/>
                          </a:solidFill>
                        </a:rPr>
                        <a:t>[Number of people]</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Website</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www.bharatshramsetu.com</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Portal</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login.bharatshramsetu.com</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Email</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info@bharatshramsetu.com</a:t>
                      </a:r>
                      <a:endParaRPr lang="en-US" sz="1300" dirty="0"/>
                    </a:p>
                  </a:txBody>
                  <a:tcPr marL="109728" marR="109728"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India’s contract workforce still runs on paper registers</a:t>
            </a:r>
            <a:endParaRPr lang="en-US" sz="3200" dirty="0"/>
          </a:p>
        </p:txBody>
      </p:sp>
      <p:sp>
        <p:nvSpPr>
          <p:cNvPr id="3" name="scale-panel"/>
          <p:cNvSpPr/>
          <p:nvPr/>
        </p:nvSpPr>
        <p:spPr>
          <a:xfrm>
            <a:off x="548640" y="1508760"/>
            <a:ext cx="3291840" cy="4480560"/>
          </a:xfrm>
          <a:prstGeom prst="roundRect">
            <a:avLst>
              <a:gd name="adj" fmla="val 4167"/>
            </a:avLst>
          </a:prstGeom>
          <a:solidFill>
            <a:schemeClr val="tx2"/>
          </a:solidFill>
          <a:ln w="12700">
            <a:solidFill>
              <a:schemeClr val="tx2"/>
            </a:solidFill>
            <a:prstDash val="solid"/>
          </a:ln>
        </p:spPr>
      </p:sp>
      <p:sp>
        <p:nvSpPr>
          <p:cNvPr id="4" name="Text 2"/>
          <p:cNvSpPr txBox="1"/>
          <p:nvPr/>
        </p:nvSpPr>
        <p:spPr>
          <a:xfrm>
            <a:off x="868680" y="1874520"/>
            <a:ext cx="2834640" cy="822960"/>
          </a:xfrm>
          <a:prstGeom prst="rect">
            <a:avLst/>
          </a:prstGeom>
          <a:noFill/>
          <a:ln/>
        </p:spPr>
        <p:txBody>
          <a:bodyPr wrap="square" lIns="0" tIns="0" rIns="0" bIns="0" rtlCol="0" anchor="t"/>
          <a:lstStyle/>
          <a:p>
            <a:pPr indent="0" marL="0">
              <a:buNone/>
            </a:pPr>
            <a:r>
              <a:rPr lang="en-US" sz="4000" b="1" dirty="0">
                <a:solidFill>
                  <a:schemeClr val="bg1"/>
                </a:solidFill>
              </a:rPr>
              <a:t>50+ Crore</a:t>
            </a:r>
            <a:endParaRPr lang="en-US" sz="4000" dirty="0"/>
          </a:p>
        </p:txBody>
      </p:sp>
      <p:sp>
        <p:nvSpPr>
          <p:cNvPr id="5" name="Text 3"/>
          <p:cNvSpPr txBox="1"/>
          <p:nvPr/>
        </p:nvSpPr>
        <p:spPr>
          <a:xfrm>
            <a:off x="868680" y="2697480"/>
            <a:ext cx="2743200" cy="365760"/>
          </a:xfrm>
          <a:prstGeom prst="rect">
            <a:avLst/>
          </a:prstGeom>
          <a:noFill/>
          <a:ln/>
        </p:spPr>
        <p:txBody>
          <a:bodyPr wrap="square" lIns="0" tIns="0" rIns="0" bIns="0" rtlCol="0" anchor="t"/>
          <a:lstStyle/>
          <a:p>
            <a:pPr indent="0" marL="0">
              <a:buNone/>
            </a:pPr>
            <a:r>
              <a:rPr lang="en-US" sz="1600" dirty="0">
                <a:solidFill>
                  <a:schemeClr val="bg2"/>
                </a:solidFill>
              </a:rPr>
              <a:t>workers in India</a:t>
            </a:r>
            <a:endParaRPr lang="en-US" sz="1600" dirty="0"/>
          </a:p>
        </p:txBody>
      </p:sp>
      <p:sp>
        <p:nvSpPr>
          <p:cNvPr id="6" name="Text 4"/>
          <p:cNvSpPr txBox="1"/>
          <p:nvPr/>
        </p:nvSpPr>
        <p:spPr>
          <a:xfrm>
            <a:off x="868680" y="3383280"/>
            <a:ext cx="2743200" cy="731520"/>
          </a:xfrm>
          <a:prstGeom prst="rect">
            <a:avLst/>
          </a:prstGeom>
          <a:noFill/>
          <a:ln/>
        </p:spPr>
        <p:txBody>
          <a:bodyPr wrap="square" lIns="0" tIns="0" rIns="0" bIns="0" rtlCol="0" anchor="t"/>
          <a:lstStyle/>
          <a:p>
            <a:pPr indent="0" marL="0">
              <a:buNone/>
            </a:pPr>
            <a:r>
              <a:rPr lang="en-US" sz="4000" b="1" dirty="0">
                <a:solidFill>
                  <a:schemeClr val="accent1"/>
                </a:solidFill>
              </a:rPr>
              <a:t>Millions</a:t>
            </a:r>
            <a:endParaRPr lang="en-US" sz="4000" dirty="0"/>
          </a:p>
        </p:txBody>
      </p:sp>
      <p:sp>
        <p:nvSpPr>
          <p:cNvPr id="7" name="Text 5"/>
          <p:cNvSpPr txBox="1"/>
          <p:nvPr/>
        </p:nvSpPr>
        <p:spPr>
          <a:xfrm>
            <a:off x="868680" y="4114800"/>
            <a:ext cx="2743200" cy="365760"/>
          </a:xfrm>
          <a:prstGeom prst="rect">
            <a:avLst/>
          </a:prstGeom>
          <a:noFill/>
          <a:ln/>
        </p:spPr>
        <p:txBody>
          <a:bodyPr wrap="square" lIns="0" tIns="0" rIns="0" bIns="0" rtlCol="0" anchor="t"/>
          <a:lstStyle/>
          <a:p>
            <a:pPr indent="0" marL="0">
              <a:buNone/>
            </a:pPr>
            <a:r>
              <a:rPr lang="en-US" sz="1600" dirty="0">
                <a:solidFill>
                  <a:schemeClr val="bg2"/>
                </a:solidFill>
              </a:rPr>
              <a:t>of establishments</a:t>
            </a:r>
            <a:endParaRPr lang="en-US" sz="1600" dirty="0"/>
          </a:p>
        </p:txBody>
      </p:sp>
      <p:sp>
        <p:nvSpPr>
          <p:cNvPr id="8" name="Text 6"/>
          <p:cNvSpPr txBox="1"/>
          <p:nvPr/>
        </p:nvSpPr>
        <p:spPr>
          <a:xfrm>
            <a:off x="868680" y="5349240"/>
            <a:ext cx="2743200" cy="411480"/>
          </a:xfrm>
          <a:prstGeom prst="rect">
            <a:avLst/>
          </a:prstGeom>
          <a:noFill/>
          <a:ln/>
        </p:spPr>
        <p:txBody>
          <a:bodyPr wrap="square" lIns="0" tIns="0" rIns="0" bIns="0" rtlCol="0" anchor="t"/>
          <a:lstStyle/>
          <a:p>
            <a:pPr indent="0" marL="0">
              <a:buNone/>
            </a:pPr>
            <a:r>
              <a:rPr lang="en-US" sz="1000" dirty="0">
                <a:solidFill>
                  <a:schemeClr val="accent6"/>
                </a:solidFill>
              </a:rPr>
              <a:t>Scale figures as used on the BharatShramSetu portal</a:t>
            </a:r>
            <a:endParaRPr lang="en-US" sz="1000" dirty="0"/>
          </a:p>
        </p:txBody>
      </p:sp>
      <p:sp>
        <p:nvSpPr>
          <p:cNvPr id="9" name="icon-circle-15"/>
          <p:cNvSpPr/>
          <p:nvPr/>
        </p:nvSpPr>
        <p:spPr>
          <a:xfrm>
            <a:off x="4251960" y="1600200"/>
            <a:ext cx="658368" cy="658368"/>
          </a:xfrm>
          <a:prstGeom prst="ellipse">
            <a:avLst/>
          </a:prstGeom>
          <a:solidFill>
            <a:schemeClr val="accent1"/>
          </a:solidFill>
          <a:ln w="12700">
            <a:solidFill>
              <a:schemeClr val="accent1"/>
            </a:solidFill>
            <a:prstDash val="solid"/>
          </a:ln>
        </p:spPr>
      </p:sp>
      <p:pic>
        <p:nvPicPr>
          <p:cNvPr id="10" name="icon-16" descr="preencoded.png">    </p:cNvPr>
          <p:cNvPicPr>
            <a:picLocks noChangeAspect="1"/>
          </p:cNvPicPr>
          <p:nvPr/>
        </p:nvPicPr>
        <p:blipFill>
          <a:blip r:embed="rId1"/>
          <a:stretch>
            <a:fillRect/>
          </a:stretch>
        </p:blipFill>
        <p:spPr>
          <a:xfrm>
            <a:off x="4409968" y="1758208"/>
            <a:ext cx="342351" cy="342351"/>
          </a:xfrm>
          <a:prstGeom prst="rect">
            <a:avLst/>
          </a:prstGeom>
        </p:spPr>
      </p:pic>
      <p:sp>
        <p:nvSpPr>
          <p:cNvPr id="11" name="Text 8"/>
          <p:cNvSpPr txBox="1"/>
          <p:nvPr/>
        </p:nvSpPr>
        <p:spPr>
          <a:xfrm>
            <a:off x="5166360" y="1581912"/>
            <a:ext cx="6400800" cy="365760"/>
          </a:xfrm>
          <a:prstGeom prst="rect">
            <a:avLst/>
          </a:prstGeom>
          <a:noFill/>
          <a:ln/>
        </p:spPr>
        <p:txBody>
          <a:bodyPr wrap="square" lIns="0" tIns="0" rIns="0" bIns="0" rtlCol="0" anchor="t"/>
          <a:lstStyle/>
          <a:p>
            <a:pPr indent="0" marL="0">
              <a:buNone/>
            </a:pPr>
            <a:r>
              <a:rPr lang="en-US" sz="2000" b="1" dirty="0">
                <a:solidFill>
                  <a:schemeClr val="tx1"/>
                </a:solidFill>
              </a:rPr>
              <a:t>Workers</a:t>
            </a:r>
            <a:endParaRPr lang="en-US" sz="2000" dirty="0"/>
          </a:p>
        </p:txBody>
      </p:sp>
      <p:sp>
        <p:nvSpPr>
          <p:cNvPr id="12" name="Text 9"/>
          <p:cNvSpPr txBox="1"/>
          <p:nvPr/>
        </p:nvSpPr>
        <p:spPr>
          <a:xfrm>
            <a:off x="5166360" y="1984248"/>
            <a:ext cx="6400800" cy="777240"/>
          </a:xfrm>
          <a:prstGeom prst="rect">
            <a:avLst/>
          </a:prstGeom>
          <a:noFill/>
          <a:ln/>
        </p:spPr>
        <p:txBody>
          <a:bodyPr wrap="square" lIns="0" tIns="0" rIns="0" bIns="0" rtlCol="0" anchor="t"/>
          <a:lstStyle/>
          <a:p>
            <a:pPr indent="0" marL="0">
              <a:buNone/>
            </a:pPr>
            <a:r>
              <a:rPr lang="en-US" sz="1500" dirty="0">
                <a:solidFill>
                  <a:schemeClr val="tx2"/>
                </a:solidFill>
              </a:rPr>
              <a:t>No portable record of days worked, wages or PF, and forms in a language that is not theirs. Short payments are hard to prove.</a:t>
            </a:r>
            <a:endParaRPr lang="en-US" sz="1500" dirty="0"/>
          </a:p>
        </p:txBody>
      </p:sp>
      <p:sp>
        <p:nvSpPr>
          <p:cNvPr id="13" name="icon-circle-17"/>
          <p:cNvSpPr/>
          <p:nvPr/>
        </p:nvSpPr>
        <p:spPr>
          <a:xfrm>
            <a:off x="4251960" y="3063240"/>
            <a:ext cx="658368" cy="658368"/>
          </a:xfrm>
          <a:prstGeom prst="ellipse">
            <a:avLst/>
          </a:prstGeom>
          <a:solidFill>
            <a:schemeClr val="accent2"/>
          </a:solidFill>
          <a:ln w="12700">
            <a:solidFill>
              <a:schemeClr val="accent2"/>
            </a:solidFill>
            <a:prstDash val="solid"/>
          </a:ln>
        </p:spPr>
      </p:sp>
      <p:pic>
        <p:nvPicPr>
          <p:cNvPr id="14" name="icon-18" descr="preencoded.png">    </p:cNvPr>
          <p:cNvPicPr>
            <a:picLocks noChangeAspect="1"/>
          </p:cNvPicPr>
          <p:nvPr/>
        </p:nvPicPr>
        <p:blipFill>
          <a:blip r:embed="rId2"/>
          <a:stretch>
            <a:fillRect/>
          </a:stretch>
        </p:blipFill>
        <p:spPr>
          <a:xfrm>
            <a:off x="4409968" y="3221248"/>
            <a:ext cx="342351" cy="342351"/>
          </a:xfrm>
          <a:prstGeom prst="rect">
            <a:avLst/>
          </a:prstGeom>
        </p:spPr>
      </p:pic>
      <p:sp>
        <p:nvSpPr>
          <p:cNvPr id="15" name="Text 11"/>
          <p:cNvSpPr txBox="1"/>
          <p:nvPr/>
        </p:nvSpPr>
        <p:spPr>
          <a:xfrm>
            <a:off x="5166360" y="3044952"/>
            <a:ext cx="6400800" cy="365760"/>
          </a:xfrm>
          <a:prstGeom prst="rect">
            <a:avLst/>
          </a:prstGeom>
          <a:noFill/>
          <a:ln/>
        </p:spPr>
        <p:txBody>
          <a:bodyPr wrap="square" lIns="0" tIns="0" rIns="0" bIns="0" rtlCol="0" anchor="t"/>
          <a:lstStyle/>
          <a:p>
            <a:pPr indent="0" marL="0">
              <a:buNone/>
            </a:pPr>
            <a:r>
              <a:rPr lang="en-US" sz="2000" b="1" dirty="0">
                <a:solidFill>
                  <a:schemeClr val="tx1"/>
                </a:solidFill>
              </a:rPr>
              <a:t>Contractors</a:t>
            </a:r>
            <a:endParaRPr lang="en-US" sz="2000" dirty="0"/>
          </a:p>
        </p:txBody>
      </p:sp>
      <p:sp>
        <p:nvSpPr>
          <p:cNvPr id="16" name="Text 12"/>
          <p:cNvSpPr txBox="1"/>
          <p:nvPr/>
        </p:nvSpPr>
        <p:spPr>
          <a:xfrm>
            <a:off x="5166360" y="3447288"/>
            <a:ext cx="6400800" cy="777240"/>
          </a:xfrm>
          <a:prstGeom prst="rect">
            <a:avLst/>
          </a:prstGeom>
          <a:noFill/>
          <a:ln/>
        </p:spPr>
        <p:txBody>
          <a:bodyPr wrap="square" lIns="0" tIns="0" rIns="0" bIns="0" rtlCol="0" anchor="t"/>
          <a:lstStyle/>
          <a:p>
            <a:pPr indent="0" marL="0">
              <a:buNone/>
            </a:pPr>
            <a:r>
              <a:rPr lang="en-US" sz="1500" dirty="0">
                <a:solidFill>
                  <a:schemeClr val="tx2"/>
                </a:solidFill>
              </a:rPr>
              <a:t>Manual musters, CLRA registers and PF/ESIC returns, with different wage, PT and LWF rules in every state.</a:t>
            </a:r>
            <a:endParaRPr lang="en-US" sz="1500" dirty="0"/>
          </a:p>
        </p:txBody>
      </p:sp>
      <p:sp>
        <p:nvSpPr>
          <p:cNvPr id="17" name="icon-circle-19"/>
          <p:cNvSpPr/>
          <p:nvPr/>
        </p:nvSpPr>
        <p:spPr>
          <a:xfrm>
            <a:off x="4251960" y="4526280"/>
            <a:ext cx="658368" cy="658368"/>
          </a:xfrm>
          <a:prstGeom prst="ellipse">
            <a:avLst/>
          </a:prstGeom>
          <a:solidFill>
            <a:schemeClr val="accent3"/>
          </a:solidFill>
          <a:ln w="12700">
            <a:solidFill>
              <a:schemeClr val="accent3"/>
            </a:solidFill>
            <a:prstDash val="solid"/>
          </a:ln>
        </p:spPr>
      </p:sp>
      <p:pic>
        <p:nvPicPr>
          <p:cNvPr id="18" name="icon-20" descr="preencoded.png">    </p:cNvPr>
          <p:cNvPicPr>
            <a:picLocks noChangeAspect="1"/>
          </p:cNvPicPr>
          <p:nvPr/>
        </p:nvPicPr>
        <p:blipFill>
          <a:blip r:embed="rId3"/>
          <a:stretch>
            <a:fillRect/>
          </a:stretch>
        </p:blipFill>
        <p:spPr>
          <a:xfrm>
            <a:off x="4409968" y="4684288"/>
            <a:ext cx="342351" cy="342351"/>
          </a:xfrm>
          <a:prstGeom prst="rect">
            <a:avLst/>
          </a:prstGeom>
        </p:spPr>
      </p:pic>
      <p:sp>
        <p:nvSpPr>
          <p:cNvPr id="19" name="Text 14"/>
          <p:cNvSpPr txBox="1"/>
          <p:nvPr/>
        </p:nvSpPr>
        <p:spPr>
          <a:xfrm>
            <a:off x="5166360" y="4507992"/>
            <a:ext cx="6400800" cy="365760"/>
          </a:xfrm>
          <a:prstGeom prst="rect">
            <a:avLst/>
          </a:prstGeom>
          <a:noFill/>
          <a:ln/>
        </p:spPr>
        <p:txBody>
          <a:bodyPr wrap="square" lIns="0" tIns="0" rIns="0" bIns="0" rtlCol="0" anchor="t"/>
          <a:lstStyle/>
          <a:p>
            <a:pPr indent="0" marL="0">
              <a:buNone/>
            </a:pPr>
            <a:r>
              <a:rPr lang="en-US" sz="2000" b="1" dirty="0">
                <a:solidFill>
                  <a:schemeClr val="tx1"/>
                </a:solidFill>
              </a:rPr>
              <a:t>Principal employers</a:t>
            </a:r>
            <a:endParaRPr lang="en-US" sz="2000" dirty="0"/>
          </a:p>
        </p:txBody>
      </p:sp>
      <p:sp>
        <p:nvSpPr>
          <p:cNvPr id="20" name="Text 15"/>
          <p:cNvSpPr txBox="1"/>
          <p:nvPr/>
        </p:nvSpPr>
        <p:spPr>
          <a:xfrm>
            <a:off x="5166360" y="4910328"/>
            <a:ext cx="6400800" cy="777240"/>
          </a:xfrm>
          <a:prstGeom prst="rect">
            <a:avLst/>
          </a:prstGeom>
          <a:noFill/>
          <a:ln/>
        </p:spPr>
        <p:txBody>
          <a:bodyPr wrap="square" lIns="0" tIns="0" rIns="0" bIns="0" rtlCol="0" anchor="t"/>
          <a:lstStyle/>
          <a:p>
            <a:pPr indent="0" marL="0">
              <a:buNone/>
            </a:pPr>
            <a:r>
              <a:rPr lang="en-US" sz="1500" dirty="0">
                <a:solidFill>
                  <a:schemeClr val="tx2"/>
                </a:solidFill>
              </a:rPr>
              <a:t>Legally liable for wages and dues of workers they never hired directly, with little visibility into contractors.</a:t>
            </a:r>
            <a:endParaRPr lang="en-US" sz="15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Why now</a:t>
            </a:r>
            <a:endParaRPr lang="en-US" sz="3200" dirty="0"/>
          </a:p>
        </p:txBody>
      </p:sp>
      <p:sp>
        <p:nvSpPr>
          <p:cNvPr id="3" name="driver-card-21"/>
          <p:cNvSpPr/>
          <p:nvPr/>
        </p:nvSpPr>
        <p:spPr>
          <a:xfrm>
            <a:off x="548640" y="1463040"/>
            <a:ext cx="5440680" cy="2057400"/>
          </a:xfrm>
          <a:prstGeom prst="roundRect">
            <a:avLst>
              <a:gd name="adj" fmla="val 5333"/>
            </a:avLst>
          </a:prstGeom>
          <a:solidFill>
            <a:schemeClr val="bg2"/>
          </a:solidFill>
          <a:ln w="12700">
            <a:solidFill>
              <a:schemeClr val="bg2"/>
            </a:solidFill>
            <a:prstDash val="solid"/>
          </a:ln>
        </p:spPr>
      </p:sp>
      <p:sp>
        <p:nvSpPr>
          <p:cNvPr id="4" name="icon-circle-22"/>
          <p:cNvSpPr/>
          <p:nvPr/>
        </p:nvSpPr>
        <p:spPr>
          <a:xfrm>
            <a:off x="822960" y="1737360"/>
            <a:ext cx="585216" cy="585216"/>
          </a:xfrm>
          <a:prstGeom prst="ellipse">
            <a:avLst/>
          </a:prstGeom>
          <a:solidFill>
            <a:schemeClr val="accent3"/>
          </a:solidFill>
          <a:ln w="12700">
            <a:solidFill>
              <a:schemeClr val="accent3"/>
            </a:solidFill>
            <a:prstDash val="solid"/>
          </a:ln>
        </p:spPr>
      </p:sp>
      <p:pic>
        <p:nvPicPr>
          <p:cNvPr id="5" name="icon-23" descr="preencoded.png">    </p:cNvPr>
          <p:cNvPicPr>
            <a:picLocks noChangeAspect="1"/>
          </p:cNvPicPr>
          <p:nvPr/>
        </p:nvPicPr>
        <p:blipFill>
          <a:blip r:embed="rId1"/>
          <a:stretch>
            <a:fillRect/>
          </a:stretch>
        </p:blipFill>
        <p:spPr>
          <a:xfrm>
            <a:off x="963412" y="1877812"/>
            <a:ext cx="304312" cy="304312"/>
          </a:xfrm>
          <a:prstGeom prst="rect">
            <a:avLst/>
          </a:prstGeom>
        </p:spPr>
      </p:pic>
      <p:sp>
        <p:nvSpPr>
          <p:cNvPr id="6" name="Text 3"/>
          <p:cNvSpPr txBox="1"/>
          <p:nvPr/>
        </p:nvSpPr>
        <p:spPr>
          <a:xfrm>
            <a:off x="1600200" y="1755648"/>
            <a:ext cx="4160520" cy="548640"/>
          </a:xfrm>
          <a:prstGeom prst="rect">
            <a:avLst/>
          </a:prstGeom>
          <a:noFill/>
          <a:ln/>
        </p:spPr>
        <p:txBody>
          <a:bodyPr wrap="square" lIns="0" tIns="0" rIns="0" bIns="0" rtlCol="0" anchor="t"/>
          <a:lstStyle/>
          <a:p>
            <a:pPr indent="0" marL="0">
              <a:buNone/>
            </a:pPr>
            <a:r>
              <a:rPr lang="en-US" sz="1800" b="1" dirty="0">
                <a:solidFill>
                  <a:schemeClr val="tx1"/>
                </a:solidFill>
              </a:rPr>
              <a:t>Labour law is being re-plumbed</a:t>
            </a:r>
            <a:endParaRPr lang="en-US" sz="1800" dirty="0"/>
          </a:p>
        </p:txBody>
      </p:sp>
      <p:sp>
        <p:nvSpPr>
          <p:cNvPr id="7" name="Text 4"/>
          <p:cNvSpPr txBox="1"/>
          <p:nvPr/>
        </p:nvSpPr>
        <p:spPr>
          <a:xfrm>
            <a:off x="1600200" y="2304288"/>
            <a:ext cx="4160520" cy="1051560"/>
          </a:xfrm>
          <a:prstGeom prst="rect">
            <a:avLst/>
          </a:prstGeom>
          <a:noFill/>
          <a:ln/>
        </p:spPr>
        <p:txBody>
          <a:bodyPr wrap="square" lIns="0" tIns="0" rIns="0" bIns="0" rtlCol="0" anchor="t"/>
          <a:lstStyle/>
          <a:p>
            <a:pPr indent="0" marL="0">
              <a:buNone/>
            </a:pPr>
            <a:r>
              <a:rPr lang="en-US" sz="1400" dirty="0">
                <a:solidFill>
                  <a:schemeClr val="tx2"/>
                </a:solidFill>
              </a:rPr>
              <a:t>The four Labour Codes consolidate 29 central labour laws. Registers, wages and social security move to new, uniform definitions.</a:t>
            </a:r>
            <a:endParaRPr lang="en-US" sz="1400" dirty="0"/>
          </a:p>
        </p:txBody>
      </p:sp>
      <p:sp>
        <p:nvSpPr>
          <p:cNvPr id="8" name="driver-card-24"/>
          <p:cNvSpPr/>
          <p:nvPr/>
        </p:nvSpPr>
        <p:spPr>
          <a:xfrm>
            <a:off x="6172200" y="1463040"/>
            <a:ext cx="5440680" cy="2057400"/>
          </a:xfrm>
          <a:prstGeom prst="roundRect">
            <a:avLst>
              <a:gd name="adj" fmla="val 5333"/>
            </a:avLst>
          </a:prstGeom>
          <a:solidFill>
            <a:schemeClr val="bg2"/>
          </a:solidFill>
          <a:ln w="12700">
            <a:solidFill>
              <a:schemeClr val="bg2"/>
            </a:solidFill>
            <a:prstDash val="solid"/>
          </a:ln>
        </p:spPr>
      </p:sp>
      <p:sp>
        <p:nvSpPr>
          <p:cNvPr id="9" name="icon-circle-25"/>
          <p:cNvSpPr/>
          <p:nvPr/>
        </p:nvSpPr>
        <p:spPr>
          <a:xfrm>
            <a:off x="6446520" y="1737360"/>
            <a:ext cx="585216" cy="585216"/>
          </a:xfrm>
          <a:prstGeom prst="ellipse">
            <a:avLst/>
          </a:prstGeom>
          <a:solidFill>
            <a:schemeClr val="accent2"/>
          </a:solidFill>
          <a:ln w="12700">
            <a:solidFill>
              <a:schemeClr val="accent2"/>
            </a:solidFill>
            <a:prstDash val="solid"/>
          </a:ln>
        </p:spPr>
      </p:sp>
      <p:pic>
        <p:nvPicPr>
          <p:cNvPr id="10" name="icon-26" descr="preencoded.png">    </p:cNvPr>
          <p:cNvPicPr>
            <a:picLocks noChangeAspect="1"/>
          </p:cNvPicPr>
          <p:nvPr/>
        </p:nvPicPr>
        <p:blipFill>
          <a:blip r:embed="rId2"/>
          <a:stretch>
            <a:fillRect/>
          </a:stretch>
        </p:blipFill>
        <p:spPr>
          <a:xfrm>
            <a:off x="6586972" y="1877812"/>
            <a:ext cx="304312" cy="304312"/>
          </a:xfrm>
          <a:prstGeom prst="rect">
            <a:avLst/>
          </a:prstGeom>
        </p:spPr>
      </p:pic>
      <p:sp>
        <p:nvSpPr>
          <p:cNvPr id="11" name="Text 7"/>
          <p:cNvSpPr txBox="1"/>
          <p:nvPr/>
        </p:nvSpPr>
        <p:spPr>
          <a:xfrm>
            <a:off x="7223760" y="1755648"/>
            <a:ext cx="4160520" cy="548640"/>
          </a:xfrm>
          <a:prstGeom prst="rect">
            <a:avLst/>
          </a:prstGeom>
          <a:noFill/>
          <a:ln/>
        </p:spPr>
        <p:txBody>
          <a:bodyPr wrap="square" lIns="0" tIns="0" rIns="0" bIns="0" rtlCol="0" anchor="t"/>
          <a:lstStyle/>
          <a:p>
            <a:pPr indent="0" marL="0">
              <a:buNone/>
            </a:pPr>
            <a:r>
              <a:rPr lang="en-US" sz="1800" b="1" dirty="0">
                <a:solidFill>
                  <a:schemeClr val="tx1"/>
                </a:solidFill>
              </a:rPr>
              <a:t>Digital public infrastructure is ready</a:t>
            </a:r>
            <a:endParaRPr lang="en-US" sz="1800" dirty="0"/>
          </a:p>
        </p:txBody>
      </p:sp>
      <p:sp>
        <p:nvSpPr>
          <p:cNvPr id="12" name="Text 8"/>
          <p:cNvSpPr txBox="1"/>
          <p:nvPr/>
        </p:nvSpPr>
        <p:spPr>
          <a:xfrm>
            <a:off x="7223760" y="2304288"/>
            <a:ext cx="4160520" cy="1051560"/>
          </a:xfrm>
          <a:prstGeom prst="rect">
            <a:avLst/>
          </a:prstGeom>
          <a:noFill/>
          <a:ln/>
        </p:spPr>
        <p:txBody>
          <a:bodyPr wrap="square" lIns="0" tIns="0" rIns="0" bIns="0" rtlCol="0" anchor="t"/>
          <a:lstStyle/>
          <a:p>
            <a:pPr indent="0" marL="0">
              <a:buNone/>
            </a:pPr>
            <a:r>
              <a:rPr lang="en-US" sz="1400" dirty="0">
                <a:solidFill>
                  <a:schemeClr val="tx2"/>
                </a:solidFill>
              </a:rPr>
              <a:t>Aadhaar, UPI, DigiLocker and e-Shram make verification at source and digital payment practical for every worker.</a:t>
            </a:r>
            <a:endParaRPr lang="en-US" sz="1400" dirty="0"/>
          </a:p>
        </p:txBody>
      </p:sp>
      <p:sp>
        <p:nvSpPr>
          <p:cNvPr id="13" name="driver-card-27"/>
          <p:cNvSpPr/>
          <p:nvPr/>
        </p:nvSpPr>
        <p:spPr>
          <a:xfrm>
            <a:off x="548640" y="3749040"/>
            <a:ext cx="5440680" cy="2057400"/>
          </a:xfrm>
          <a:prstGeom prst="roundRect">
            <a:avLst>
              <a:gd name="adj" fmla="val 5333"/>
            </a:avLst>
          </a:prstGeom>
          <a:solidFill>
            <a:schemeClr val="bg2"/>
          </a:solidFill>
          <a:ln w="12700">
            <a:solidFill>
              <a:schemeClr val="bg2"/>
            </a:solidFill>
            <a:prstDash val="solid"/>
          </a:ln>
        </p:spPr>
      </p:sp>
      <p:sp>
        <p:nvSpPr>
          <p:cNvPr id="14" name="icon-circle-28"/>
          <p:cNvSpPr/>
          <p:nvPr/>
        </p:nvSpPr>
        <p:spPr>
          <a:xfrm>
            <a:off x="822960" y="4023360"/>
            <a:ext cx="585216" cy="585216"/>
          </a:xfrm>
          <a:prstGeom prst="ellipse">
            <a:avLst/>
          </a:prstGeom>
          <a:solidFill>
            <a:schemeClr val="accent1"/>
          </a:solidFill>
          <a:ln w="12700">
            <a:solidFill>
              <a:schemeClr val="accent1"/>
            </a:solidFill>
            <a:prstDash val="solid"/>
          </a:ln>
        </p:spPr>
      </p:sp>
      <p:pic>
        <p:nvPicPr>
          <p:cNvPr id="15" name="icon-29" descr="preencoded.png">    </p:cNvPr>
          <p:cNvPicPr>
            <a:picLocks noChangeAspect="1"/>
          </p:cNvPicPr>
          <p:nvPr/>
        </p:nvPicPr>
        <p:blipFill>
          <a:blip r:embed="rId3"/>
          <a:stretch>
            <a:fillRect/>
          </a:stretch>
        </p:blipFill>
        <p:spPr>
          <a:xfrm>
            <a:off x="963412" y="4163812"/>
            <a:ext cx="304312" cy="304312"/>
          </a:xfrm>
          <a:prstGeom prst="rect">
            <a:avLst/>
          </a:prstGeom>
        </p:spPr>
      </p:pic>
      <p:sp>
        <p:nvSpPr>
          <p:cNvPr id="16" name="Text 11"/>
          <p:cNvSpPr txBox="1"/>
          <p:nvPr/>
        </p:nvSpPr>
        <p:spPr>
          <a:xfrm>
            <a:off x="1600200" y="4041648"/>
            <a:ext cx="4160520" cy="548640"/>
          </a:xfrm>
          <a:prstGeom prst="rect">
            <a:avLst/>
          </a:prstGeom>
          <a:noFill/>
          <a:ln/>
        </p:spPr>
        <p:txBody>
          <a:bodyPr wrap="square" lIns="0" tIns="0" rIns="0" bIns="0" rtlCol="0" anchor="t"/>
          <a:lstStyle/>
          <a:p>
            <a:pPr indent="0" marL="0">
              <a:buNone/>
            </a:pPr>
            <a:r>
              <a:rPr lang="en-US" sz="1800" b="1" dirty="0">
                <a:solidFill>
                  <a:schemeClr val="tx1"/>
                </a:solidFill>
              </a:rPr>
              <a:t>Worker data must be consented</a:t>
            </a:r>
            <a:endParaRPr lang="en-US" sz="1800" dirty="0"/>
          </a:p>
        </p:txBody>
      </p:sp>
      <p:sp>
        <p:nvSpPr>
          <p:cNvPr id="17" name="Text 12"/>
          <p:cNvSpPr txBox="1"/>
          <p:nvPr/>
        </p:nvSpPr>
        <p:spPr>
          <a:xfrm>
            <a:off x="1600200" y="4590288"/>
            <a:ext cx="4160520" cy="1051560"/>
          </a:xfrm>
          <a:prstGeom prst="rect">
            <a:avLst/>
          </a:prstGeom>
          <a:noFill/>
          <a:ln/>
        </p:spPr>
        <p:txBody>
          <a:bodyPr wrap="square" lIns="0" tIns="0" rIns="0" bIns="0" rtlCol="0" anchor="t"/>
          <a:lstStyle/>
          <a:p>
            <a:pPr indent="0" marL="0">
              <a:buNone/>
            </a:pPr>
            <a:r>
              <a:rPr lang="en-US" sz="1400" dirty="0">
                <a:solidFill>
                  <a:schemeClr val="tx2"/>
                </a:solidFill>
              </a:rPr>
              <a:t>The DPDP Act, 2023 makes consented, purpose-limited and auditable handling of personal data a legal requirement.</a:t>
            </a:r>
            <a:endParaRPr lang="en-US" sz="1400" dirty="0"/>
          </a:p>
        </p:txBody>
      </p:sp>
      <p:sp>
        <p:nvSpPr>
          <p:cNvPr id="18" name="driver-card-30"/>
          <p:cNvSpPr/>
          <p:nvPr/>
        </p:nvSpPr>
        <p:spPr>
          <a:xfrm>
            <a:off x="6172200" y="3749040"/>
            <a:ext cx="5440680" cy="2057400"/>
          </a:xfrm>
          <a:prstGeom prst="roundRect">
            <a:avLst>
              <a:gd name="adj" fmla="val 5333"/>
            </a:avLst>
          </a:prstGeom>
          <a:solidFill>
            <a:schemeClr val="bg2"/>
          </a:solidFill>
          <a:ln w="12700">
            <a:solidFill>
              <a:schemeClr val="bg2"/>
            </a:solidFill>
            <a:prstDash val="solid"/>
          </a:ln>
        </p:spPr>
      </p:sp>
      <p:sp>
        <p:nvSpPr>
          <p:cNvPr id="19" name="icon-circle-31"/>
          <p:cNvSpPr/>
          <p:nvPr/>
        </p:nvSpPr>
        <p:spPr>
          <a:xfrm>
            <a:off x="6446520" y="4023360"/>
            <a:ext cx="585216" cy="585216"/>
          </a:xfrm>
          <a:prstGeom prst="ellipse">
            <a:avLst/>
          </a:prstGeom>
          <a:solidFill>
            <a:schemeClr val="tx2"/>
          </a:solidFill>
          <a:ln w="12700">
            <a:solidFill>
              <a:schemeClr val="tx2"/>
            </a:solidFill>
            <a:prstDash val="solid"/>
          </a:ln>
        </p:spPr>
      </p:sp>
      <p:pic>
        <p:nvPicPr>
          <p:cNvPr id="20" name="icon-32" descr="preencoded.png">    </p:cNvPr>
          <p:cNvPicPr>
            <a:picLocks noChangeAspect="1"/>
          </p:cNvPicPr>
          <p:nvPr/>
        </p:nvPicPr>
        <p:blipFill>
          <a:blip r:embed="rId4"/>
          <a:stretch>
            <a:fillRect/>
          </a:stretch>
        </p:blipFill>
        <p:spPr>
          <a:xfrm>
            <a:off x="6586972" y="4163812"/>
            <a:ext cx="304312" cy="304312"/>
          </a:xfrm>
          <a:prstGeom prst="rect">
            <a:avLst/>
          </a:prstGeom>
        </p:spPr>
      </p:pic>
      <p:sp>
        <p:nvSpPr>
          <p:cNvPr id="21" name="Text 15"/>
          <p:cNvSpPr txBox="1"/>
          <p:nvPr/>
        </p:nvSpPr>
        <p:spPr>
          <a:xfrm>
            <a:off x="7223760" y="4041648"/>
            <a:ext cx="4160520" cy="548640"/>
          </a:xfrm>
          <a:prstGeom prst="rect">
            <a:avLst/>
          </a:prstGeom>
          <a:noFill/>
          <a:ln/>
        </p:spPr>
        <p:txBody>
          <a:bodyPr wrap="square" lIns="0" tIns="0" rIns="0" bIns="0" rtlCol="0" anchor="t"/>
          <a:lstStyle/>
          <a:p>
            <a:pPr indent="0" marL="0">
              <a:buNone/>
            </a:pPr>
            <a:r>
              <a:rPr lang="en-US" sz="1800" b="1" dirty="0">
                <a:solidFill>
                  <a:schemeClr val="tx1"/>
                </a:solidFill>
              </a:rPr>
              <a:t>Principal employers are accountable</a:t>
            </a:r>
            <a:endParaRPr lang="en-US" sz="1800" dirty="0"/>
          </a:p>
        </p:txBody>
      </p:sp>
      <p:sp>
        <p:nvSpPr>
          <p:cNvPr id="22" name="Text 16"/>
          <p:cNvSpPr txBox="1"/>
          <p:nvPr/>
        </p:nvSpPr>
        <p:spPr>
          <a:xfrm>
            <a:off x="7223760" y="4590288"/>
            <a:ext cx="4160520" cy="1051560"/>
          </a:xfrm>
          <a:prstGeom prst="rect">
            <a:avLst/>
          </a:prstGeom>
          <a:noFill/>
          <a:ln/>
        </p:spPr>
        <p:txBody>
          <a:bodyPr wrap="square" lIns="0" tIns="0" rIns="0" bIns="0" rtlCol="0" anchor="t"/>
          <a:lstStyle/>
          <a:p>
            <a:pPr indent="0" marL="0">
              <a:buNone/>
            </a:pPr>
            <a:r>
              <a:rPr lang="en-US" sz="1400" dirty="0">
                <a:solidFill>
                  <a:schemeClr val="tx2"/>
                </a:solidFill>
              </a:rPr>
              <a:t>Audits, ESG reporting and supply-chain reviews now reach the contract workforce, not only direct employees.</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A movement for the people who build India</a:t>
            </a:r>
            <a:endParaRPr lang="en-US" sz="3200" dirty="0"/>
          </a:p>
        </p:txBody>
      </p:sp>
      <p:sp>
        <p:nvSpPr>
          <p:cNvPr id="3" name="Text 1"/>
          <p:cNvSpPr txBox="1"/>
          <p:nvPr/>
        </p:nvSpPr>
        <p:spPr>
          <a:xfrm>
            <a:off x="548640" y="1371600"/>
            <a:ext cx="6309360" cy="1188720"/>
          </a:xfrm>
          <a:prstGeom prst="rect">
            <a:avLst/>
          </a:prstGeom>
          <a:noFill/>
          <a:ln/>
        </p:spPr>
        <p:txBody>
          <a:bodyPr wrap="square" lIns="0" tIns="0" rIns="0" bIns="0" rtlCol="0" anchor="t"/>
          <a:lstStyle/>
          <a:p>
            <a:pPr indent="0" marL="0">
              <a:buNone/>
            </a:pPr>
            <a:r>
              <a:rPr lang="en-US" sz="1700" b="1" dirty="0">
                <a:solidFill>
                  <a:schemeClr val="tx2"/>
                </a:solidFill>
              </a:rPr>
              <a:t>Fifty crore people build our roads, run our looms and keep our plants alive. Most still prove who they are with photocopies, in a language that is not theirs, at a gate where no one knows their name.</a:t>
            </a:r>
            <a:endParaRPr lang="en-US" sz="1700" dirty="0"/>
          </a:p>
        </p:txBody>
      </p:sp>
      <p:sp>
        <p:nvSpPr>
          <p:cNvPr id="4" name="Text 2"/>
          <p:cNvSpPr txBox="1"/>
          <p:nvPr/>
        </p:nvSpPr>
        <p:spPr>
          <a:xfrm>
            <a:off x="548640" y="2606040"/>
            <a:ext cx="6309360" cy="868680"/>
          </a:xfrm>
          <a:prstGeom prst="rect">
            <a:avLst/>
          </a:prstGeom>
          <a:noFill/>
          <a:ln/>
        </p:spPr>
        <p:txBody>
          <a:bodyPr wrap="square" lIns="0" tIns="0" rIns="0" bIns="0" rtlCol="0" anchor="t"/>
          <a:lstStyle/>
          <a:p>
            <a:pPr indent="0" marL="0">
              <a:buNone/>
            </a:pPr>
            <a:r>
              <a:rPr lang="en-US" sz="1500" dirty="0">
                <a:solidFill>
                  <a:schemeClr val="tx2"/>
                </a:solidFill>
              </a:rPr>
              <a:t>BharatShramSetu starts with them: their identity, their consent, their attendance and their voice. When the worker is protected, the contractor, the employer and the nation are too.</a:t>
            </a:r>
            <a:endParaRPr lang="en-US" sz="1500" dirty="0"/>
          </a:p>
        </p:txBody>
      </p:sp>
      <p:sp>
        <p:nvSpPr>
          <p:cNvPr id="5" name="icon-circle-33"/>
          <p:cNvSpPr/>
          <p:nvPr/>
        </p:nvSpPr>
        <p:spPr>
          <a:xfrm>
            <a:off x="548640" y="3703320"/>
            <a:ext cx="548640" cy="548640"/>
          </a:xfrm>
          <a:prstGeom prst="ellipse">
            <a:avLst/>
          </a:prstGeom>
          <a:solidFill>
            <a:schemeClr val="accent1"/>
          </a:solidFill>
          <a:ln w="12700">
            <a:solidFill>
              <a:schemeClr val="accent1"/>
            </a:solidFill>
            <a:prstDash val="solid"/>
          </a:ln>
        </p:spPr>
      </p:sp>
      <p:pic>
        <p:nvPicPr>
          <p:cNvPr id="6" name="icon-34" descr="preencoded.png">    </p:cNvPr>
          <p:cNvPicPr>
            <a:picLocks noChangeAspect="1"/>
          </p:cNvPicPr>
          <p:nvPr/>
        </p:nvPicPr>
        <p:blipFill>
          <a:blip r:embed="rId1"/>
          <a:stretch>
            <a:fillRect/>
          </a:stretch>
        </p:blipFill>
        <p:spPr>
          <a:xfrm>
            <a:off x="680314" y="3834994"/>
            <a:ext cx="285293" cy="285293"/>
          </a:xfrm>
          <a:prstGeom prst="rect">
            <a:avLst/>
          </a:prstGeom>
        </p:spPr>
      </p:pic>
      <p:sp>
        <p:nvSpPr>
          <p:cNvPr id="7" name="Text 4"/>
          <p:cNvSpPr txBox="1"/>
          <p:nvPr/>
        </p:nvSpPr>
        <p:spPr>
          <a:xfrm>
            <a:off x="1280160" y="3685032"/>
            <a:ext cx="5577840" cy="320040"/>
          </a:xfrm>
          <a:prstGeom prst="rect">
            <a:avLst/>
          </a:prstGeom>
          <a:noFill/>
          <a:ln/>
        </p:spPr>
        <p:txBody>
          <a:bodyPr wrap="square" lIns="0" tIns="0" rIns="0" bIns="0" rtlCol="0" anchor="t"/>
          <a:lstStyle/>
          <a:p>
            <a:pPr indent="0" marL="0">
              <a:buNone/>
            </a:pPr>
            <a:r>
              <a:rPr lang="en-US" sz="1600" b="1" dirty="0">
                <a:solidFill>
                  <a:schemeClr val="tx1"/>
                </a:solidFill>
              </a:rPr>
              <a:t>As simple as a scan</a:t>
            </a:r>
            <a:endParaRPr lang="en-US" sz="1600" dirty="0"/>
          </a:p>
        </p:txBody>
      </p:sp>
      <p:sp>
        <p:nvSpPr>
          <p:cNvPr id="8" name="Text 5"/>
          <p:cNvSpPr txBox="1"/>
          <p:nvPr/>
        </p:nvSpPr>
        <p:spPr>
          <a:xfrm>
            <a:off x="1280160" y="4005072"/>
            <a:ext cx="5577840" cy="457200"/>
          </a:xfrm>
          <a:prstGeom prst="rect">
            <a:avLst/>
          </a:prstGeom>
          <a:noFill/>
          <a:ln/>
        </p:spPr>
        <p:txBody>
          <a:bodyPr wrap="square" lIns="0" tIns="0" rIns="0" bIns="0" rtlCol="0" anchor="t"/>
          <a:lstStyle/>
          <a:p>
            <a:pPr indent="0" marL="0">
              <a:buNone/>
            </a:pPr>
            <a:r>
              <a:rPr lang="en-US" sz="1300" dirty="0">
                <a:solidFill>
                  <a:schemeClr val="tx2"/>
                </a:solidFill>
              </a:rPr>
              <a:t>As easy as the apps India already loves. No forms, no agent, no training day.</a:t>
            </a:r>
            <a:endParaRPr lang="en-US" sz="1300" dirty="0"/>
          </a:p>
        </p:txBody>
      </p:sp>
      <p:sp>
        <p:nvSpPr>
          <p:cNvPr id="9" name="icon-circle-35"/>
          <p:cNvSpPr/>
          <p:nvPr/>
        </p:nvSpPr>
        <p:spPr>
          <a:xfrm>
            <a:off x="548640" y="4526280"/>
            <a:ext cx="548640" cy="548640"/>
          </a:xfrm>
          <a:prstGeom prst="ellipse">
            <a:avLst/>
          </a:prstGeom>
          <a:solidFill>
            <a:schemeClr val="tx2"/>
          </a:solidFill>
          <a:ln w="12700">
            <a:solidFill>
              <a:schemeClr val="tx2"/>
            </a:solidFill>
            <a:prstDash val="solid"/>
          </a:ln>
        </p:spPr>
      </p:sp>
      <p:pic>
        <p:nvPicPr>
          <p:cNvPr id="10" name="icon-36" descr="preencoded.png">    </p:cNvPr>
          <p:cNvPicPr>
            <a:picLocks noChangeAspect="1"/>
          </p:cNvPicPr>
          <p:nvPr/>
        </p:nvPicPr>
        <p:blipFill>
          <a:blip r:embed="rId2"/>
          <a:stretch>
            <a:fillRect/>
          </a:stretch>
        </p:blipFill>
        <p:spPr>
          <a:xfrm>
            <a:off x="680314" y="4657954"/>
            <a:ext cx="285293" cy="285293"/>
          </a:xfrm>
          <a:prstGeom prst="rect">
            <a:avLst/>
          </a:prstGeom>
        </p:spPr>
      </p:pic>
      <p:sp>
        <p:nvSpPr>
          <p:cNvPr id="11" name="Text 7"/>
          <p:cNvSpPr txBox="1"/>
          <p:nvPr/>
        </p:nvSpPr>
        <p:spPr>
          <a:xfrm>
            <a:off x="1280160" y="4507992"/>
            <a:ext cx="5577840" cy="320040"/>
          </a:xfrm>
          <a:prstGeom prst="rect">
            <a:avLst/>
          </a:prstGeom>
          <a:noFill/>
          <a:ln/>
        </p:spPr>
        <p:txBody>
          <a:bodyPr wrap="square" lIns="0" tIns="0" rIns="0" bIns="0" rtlCol="0" anchor="t"/>
          <a:lstStyle/>
          <a:p>
            <a:pPr indent="0" marL="0">
              <a:buNone/>
            </a:pPr>
            <a:r>
              <a:rPr lang="en-US" sz="1600" b="1" dirty="0">
                <a:solidFill>
                  <a:schemeClr val="tx1"/>
                </a:solidFill>
              </a:rPr>
              <a:t>In your own language</a:t>
            </a:r>
            <a:endParaRPr lang="en-US" sz="1600" dirty="0"/>
          </a:p>
        </p:txBody>
      </p:sp>
      <p:sp>
        <p:nvSpPr>
          <p:cNvPr id="12" name="Text 8"/>
          <p:cNvSpPr txBox="1"/>
          <p:nvPr/>
        </p:nvSpPr>
        <p:spPr>
          <a:xfrm>
            <a:off x="1280160" y="4828032"/>
            <a:ext cx="5577840" cy="457200"/>
          </a:xfrm>
          <a:prstGeom prst="rect">
            <a:avLst/>
          </a:prstGeom>
          <a:noFill/>
          <a:ln/>
        </p:spPr>
        <p:txBody>
          <a:bodyPr wrap="square" lIns="0" tIns="0" rIns="0" bIns="0" rtlCol="0" anchor="t"/>
          <a:lstStyle/>
          <a:p>
            <a:pPr indent="0" marL="0">
              <a:buNone/>
            </a:pPr>
            <a:r>
              <a:rPr lang="en-US" sz="1300" dirty="0">
                <a:solidFill>
                  <a:schemeClr val="tx2"/>
                </a:solidFill>
              </a:rPr>
              <a:t>16 Indian languages and a voice guide. Nobody signs what they cannot read.</a:t>
            </a:r>
            <a:endParaRPr lang="en-US" sz="1300" dirty="0"/>
          </a:p>
        </p:txBody>
      </p:sp>
      <p:sp>
        <p:nvSpPr>
          <p:cNvPr id="13" name="icon-circle-37"/>
          <p:cNvSpPr/>
          <p:nvPr/>
        </p:nvSpPr>
        <p:spPr>
          <a:xfrm>
            <a:off x="548640" y="5349240"/>
            <a:ext cx="548640" cy="548640"/>
          </a:xfrm>
          <a:prstGeom prst="ellipse">
            <a:avLst/>
          </a:prstGeom>
          <a:solidFill>
            <a:schemeClr val="accent2"/>
          </a:solidFill>
          <a:ln w="12700">
            <a:solidFill>
              <a:schemeClr val="accent2"/>
            </a:solidFill>
            <a:prstDash val="solid"/>
          </a:ln>
        </p:spPr>
      </p:sp>
      <p:pic>
        <p:nvPicPr>
          <p:cNvPr id="14" name="icon-38" descr="preencoded.png">    </p:cNvPr>
          <p:cNvPicPr>
            <a:picLocks noChangeAspect="1"/>
          </p:cNvPicPr>
          <p:nvPr/>
        </p:nvPicPr>
        <p:blipFill>
          <a:blip r:embed="rId3"/>
          <a:stretch>
            <a:fillRect/>
          </a:stretch>
        </p:blipFill>
        <p:spPr>
          <a:xfrm>
            <a:off x="680314" y="5480914"/>
            <a:ext cx="285293" cy="285293"/>
          </a:xfrm>
          <a:prstGeom prst="rect">
            <a:avLst/>
          </a:prstGeom>
        </p:spPr>
      </p:pic>
      <p:sp>
        <p:nvSpPr>
          <p:cNvPr id="15" name="Text 10"/>
          <p:cNvSpPr txBox="1"/>
          <p:nvPr/>
        </p:nvSpPr>
        <p:spPr>
          <a:xfrm>
            <a:off x="1280160" y="5330952"/>
            <a:ext cx="5577840" cy="320040"/>
          </a:xfrm>
          <a:prstGeom prst="rect">
            <a:avLst/>
          </a:prstGeom>
          <a:noFill/>
          <a:ln/>
        </p:spPr>
        <p:txBody>
          <a:bodyPr wrap="square" lIns="0" tIns="0" rIns="0" bIns="0" rtlCol="0" anchor="t"/>
          <a:lstStyle/>
          <a:p>
            <a:pPr indent="0" marL="0">
              <a:buNone/>
            </a:pPr>
            <a:r>
              <a:rPr lang="en-US" sz="1600" b="1" dirty="0">
                <a:solidFill>
                  <a:schemeClr val="tx1"/>
                </a:solidFill>
              </a:rPr>
              <a:t>Yours wherever you go</a:t>
            </a:r>
            <a:endParaRPr lang="en-US" sz="1600" dirty="0"/>
          </a:p>
        </p:txBody>
      </p:sp>
      <p:sp>
        <p:nvSpPr>
          <p:cNvPr id="16" name="Text 11"/>
          <p:cNvSpPr txBox="1"/>
          <p:nvPr/>
        </p:nvSpPr>
        <p:spPr>
          <a:xfrm>
            <a:off x="1280160" y="5650992"/>
            <a:ext cx="5577840" cy="457200"/>
          </a:xfrm>
          <a:prstGeom prst="rect">
            <a:avLst/>
          </a:prstGeom>
          <a:noFill/>
          <a:ln/>
        </p:spPr>
        <p:txBody>
          <a:bodyPr wrap="square" lIns="0" tIns="0" rIns="0" bIns="0" rtlCol="0" anchor="t"/>
          <a:lstStyle/>
          <a:p>
            <a:pPr indent="0" marL="0">
              <a:buNone/>
            </a:pPr>
            <a:r>
              <a:rPr lang="en-US" sz="1300" dirty="0">
                <a:solidFill>
                  <a:schemeClr val="tx2"/>
                </a:solidFill>
              </a:rPr>
              <a:t>One identity across employers, contractors and states.</a:t>
            </a:r>
            <a:endParaRPr lang="en-US" sz="1300" dirty="0"/>
          </a:p>
        </p:txBody>
      </p:sp>
      <p:pic>
        <p:nvPicPr>
          <p:cNvPr id="17" name="movement-photo" descr="preencoded.png">    </p:cNvPr>
          <p:cNvPicPr>
            <a:picLocks noChangeAspect="1"/>
          </p:cNvPicPr>
          <p:nvPr/>
        </p:nvPicPr>
        <p:blipFill>
          <a:blip r:embed="rId4"/>
          <a:stretch>
            <a:fillRect/>
          </a:stretch>
        </p:blipFill>
        <p:spPr>
          <a:xfrm>
            <a:off x="7178040" y="1417320"/>
            <a:ext cx="4434840" cy="4617720"/>
          </a:xfrm>
          <a:prstGeom prst="rect">
            <a:avLst/>
          </a:prstGeom>
        </p:spPr>
      </p:pic>
      <p:sp>
        <p:nvSpPr>
          <p:cNvPr id="18" name="Text 12"/>
          <p:cNvSpPr txBox="1"/>
          <p:nvPr/>
        </p:nvSpPr>
        <p:spPr>
          <a:xfrm>
            <a:off x="7178040" y="6053328"/>
            <a:ext cx="4434840" cy="228600"/>
          </a:xfrm>
          <a:prstGeom prst="rect">
            <a:avLst/>
          </a:prstGeom>
          <a:noFill/>
          <a:ln/>
        </p:spPr>
        <p:txBody>
          <a:bodyPr wrap="square" lIns="0" tIns="0" rIns="0" bIns="0" rtlCol="0" anchor="t"/>
          <a:lstStyle/>
          <a:p>
            <a:pPr algn="r" indent="0" marL="0">
              <a:buNone/>
            </a:pPr>
            <a:r>
              <a:rPr lang="en-US" sz="900" dirty="0">
                <a:solidFill>
                  <a:schemeClr val="tx2"/>
                </a:solidFill>
              </a:rPr>
              <a:t>Hands at a loom · Igor Ovsyannykov, CC0</a:t>
            </a:r>
            <a:endParaRPr lang="en-US" sz="9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Ramesh’s first day at a new site</a:t>
            </a:r>
            <a:endParaRPr lang="en-US" sz="3200" dirty="0"/>
          </a:p>
        </p:txBody>
      </p:sp>
      <p:sp>
        <p:nvSpPr>
          <p:cNvPr id="3" name="day-line"/>
          <p:cNvSpPr/>
          <p:nvPr/>
        </p:nvSpPr>
        <p:spPr>
          <a:xfrm>
            <a:off x="822960" y="2148840"/>
            <a:ext cx="10515600" cy="0"/>
          </a:xfrm>
          <a:prstGeom prst="line">
            <a:avLst/>
          </a:prstGeom>
          <a:noFill/>
          <a:ln w="19050">
            <a:solidFill>
              <a:schemeClr val="accent6"/>
            </a:solidFill>
            <a:prstDash val="dash"/>
          </a:ln>
        </p:spPr>
      </p:sp>
      <p:sp>
        <p:nvSpPr>
          <p:cNvPr id="4" name="day-dot-39"/>
          <p:cNvSpPr/>
          <p:nvPr/>
        </p:nvSpPr>
        <p:spPr>
          <a:xfrm>
            <a:off x="685800" y="2011680"/>
            <a:ext cx="274320" cy="274320"/>
          </a:xfrm>
          <a:prstGeom prst="ellipse">
            <a:avLst/>
          </a:prstGeom>
          <a:solidFill>
            <a:schemeClr val="accent1"/>
          </a:solidFill>
          <a:ln w="25400">
            <a:solidFill>
              <a:schemeClr val="tx1"/>
            </a:solidFill>
            <a:prstDash val="solid"/>
          </a:ln>
        </p:spPr>
      </p:sp>
      <p:sp>
        <p:nvSpPr>
          <p:cNvPr id="5" name="Text 3"/>
          <p:cNvSpPr txBox="1"/>
          <p:nvPr/>
        </p:nvSpPr>
        <p:spPr>
          <a:xfrm>
            <a:off x="548640" y="1508760"/>
            <a:ext cx="1737360" cy="320040"/>
          </a:xfrm>
          <a:prstGeom prst="rect">
            <a:avLst/>
          </a:prstGeom>
          <a:noFill/>
          <a:ln/>
        </p:spPr>
        <p:txBody>
          <a:bodyPr wrap="square" lIns="0" tIns="0" rIns="0" bIns="0" rtlCol="0" anchor="t"/>
          <a:lstStyle/>
          <a:p>
            <a:pPr indent="0" marL="0">
              <a:buNone/>
            </a:pPr>
            <a:r>
              <a:rPr lang="en-US" sz="1400" b="1" dirty="0">
                <a:solidFill>
                  <a:schemeClr val="accent1"/>
                </a:solidFill>
              </a:rPr>
              <a:t>07:40</a:t>
            </a:r>
            <a:endParaRPr lang="en-US" sz="1400" dirty="0"/>
          </a:p>
        </p:txBody>
      </p:sp>
      <p:sp>
        <p:nvSpPr>
          <p:cNvPr id="6" name="Text 4"/>
          <p:cNvSpPr txBox="1"/>
          <p:nvPr/>
        </p:nvSpPr>
        <p:spPr>
          <a:xfrm>
            <a:off x="548640" y="2514600"/>
            <a:ext cx="1737360" cy="685800"/>
          </a:xfrm>
          <a:prstGeom prst="rect">
            <a:avLst/>
          </a:prstGeom>
          <a:noFill/>
          <a:ln/>
        </p:spPr>
        <p:txBody>
          <a:bodyPr wrap="square" lIns="0" tIns="0" rIns="0" bIns="0" rtlCol="0" anchor="t"/>
          <a:lstStyle/>
          <a:p>
            <a:pPr indent="0" marL="0">
              <a:buNone/>
            </a:pPr>
            <a:r>
              <a:rPr lang="en-US" sz="1600" b="1" dirty="0">
                <a:solidFill>
                  <a:schemeClr val="bg1"/>
                </a:solidFill>
              </a:rPr>
              <a:t>Darbhanga to Pune</a:t>
            </a:r>
            <a:endParaRPr lang="en-US" sz="1600" dirty="0"/>
          </a:p>
        </p:txBody>
      </p:sp>
      <p:sp>
        <p:nvSpPr>
          <p:cNvPr id="7" name="Text 5"/>
          <p:cNvSpPr txBox="1"/>
          <p:nvPr/>
        </p:nvSpPr>
        <p:spPr>
          <a:xfrm>
            <a:off x="548640" y="3200400"/>
            <a:ext cx="1737360" cy="1005840"/>
          </a:xfrm>
          <a:prstGeom prst="rect">
            <a:avLst/>
          </a:prstGeom>
          <a:noFill/>
          <a:ln/>
        </p:spPr>
        <p:txBody>
          <a:bodyPr wrap="square" lIns="0" tIns="0" rIns="0" bIns="0" rtlCol="0" anchor="t"/>
          <a:lstStyle/>
          <a:p>
            <a:pPr indent="0" marL="0">
              <a:buNone/>
            </a:pPr>
            <a:r>
              <a:rPr lang="en-US" sz="1300" dirty="0">
                <a:solidFill>
                  <a:schemeClr val="bg2"/>
                </a:solidFill>
              </a:rPr>
              <a:t>1,700 km from home. No agent, no photocopies.</a:t>
            </a:r>
            <a:endParaRPr lang="en-US" sz="1300" dirty="0"/>
          </a:p>
        </p:txBody>
      </p:sp>
      <p:sp>
        <p:nvSpPr>
          <p:cNvPr id="8" name="day-dot-40"/>
          <p:cNvSpPr/>
          <p:nvPr/>
        </p:nvSpPr>
        <p:spPr>
          <a:xfrm>
            <a:off x="2560320" y="2011680"/>
            <a:ext cx="274320" cy="274320"/>
          </a:xfrm>
          <a:prstGeom prst="ellipse">
            <a:avLst/>
          </a:prstGeom>
          <a:solidFill>
            <a:schemeClr val="accent1"/>
          </a:solidFill>
          <a:ln w="25400">
            <a:solidFill>
              <a:schemeClr val="tx1"/>
            </a:solidFill>
            <a:prstDash val="solid"/>
          </a:ln>
        </p:spPr>
      </p:sp>
      <p:sp>
        <p:nvSpPr>
          <p:cNvPr id="9" name="Text 7"/>
          <p:cNvSpPr txBox="1"/>
          <p:nvPr/>
        </p:nvSpPr>
        <p:spPr>
          <a:xfrm>
            <a:off x="2423160" y="1508760"/>
            <a:ext cx="1737360" cy="320040"/>
          </a:xfrm>
          <a:prstGeom prst="rect">
            <a:avLst/>
          </a:prstGeom>
          <a:noFill/>
          <a:ln/>
        </p:spPr>
        <p:txBody>
          <a:bodyPr wrap="square" lIns="0" tIns="0" rIns="0" bIns="0" rtlCol="0" anchor="t"/>
          <a:lstStyle/>
          <a:p>
            <a:pPr indent="0" marL="0">
              <a:buNone/>
            </a:pPr>
            <a:r>
              <a:rPr lang="en-US" sz="1400" b="1" dirty="0">
                <a:solidFill>
                  <a:schemeClr val="accent1"/>
                </a:solidFill>
              </a:rPr>
              <a:t>07:42</a:t>
            </a:r>
            <a:endParaRPr lang="en-US" sz="1400" dirty="0"/>
          </a:p>
        </p:txBody>
      </p:sp>
      <p:sp>
        <p:nvSpPr>
          <p:cNvPr id="10" name="Text 8"/>
          <p:cNvSpPr txBox="1"/>
          <p:nvPr/>
        </p:nvSpPr>
        <p:spPr>
          <a:xfrm>
            <a:off x="2423160" y="2514600"/>
            <a:ext cx="1737360" cy="685800"/>
          </a:xfrm>
          <a:prstGeom prst="rect">
            <a:avLst/>
          </a:prstGeom>
          <a:noFill/>
          <a:ln/>
        </p:spPr>
        <p:txBody>
          <a:bodyPr wrap="square" lIns="0" tIns="0" rIns="0" bIns="0" rtlCol="0" anchor="t"/>
          <a:lstStyle/>
          <a:p>
            <a:pPr indent="0" marL="0">
              <a:buNone/>
            </a:pPr>
            <a:r>
              <a:rPr lang="en-US" sz="1600" b="1" dirty="0">
                <a:solidFill>
                  <a:schemeClr val="bg1"/>
                </a:solidFill>
              </a:rPr>
              <a:t>One scan, in Maithili</a:t>
            </a:r>
            <a:endParaRPr lang="en-US" sz="1600" dirty="0"/>
          </a:p>
        </p:txBody>
      </p:sp>
      <p:sp>
        <p:nvSpPr>
          <p:cNvPr id="11" name="Text 9"/>
          <p:cNvSpPr txBox="1"/>
          <p:nvPr/>
        </p:nvSpPr>
        <p:spPr>
          <a:xfrm>
            <a:off x="2423160" y="3200400"/>
            <a:ext cx="1737360" cy="1005840"/>
          </a:xfrm>
          <a:prstGeom prst="rect">
            <a:avLst/>
          </a:prstGeom>
          <a:noFill/>
          <a:ln/>
        </p:spPr>
        <p:txBody>
          <a:bodyPr wrap="square" lIns="0" tIns="0" rIns="0" bIns="0" rtlCol="0" anchor="t"/>
          <a:lstStyle/>
          <a:p>
            <a:pPr indent="0" marL="0">
              <a:buNone/>
            </a:pPr>
            <a:r>
              <a:rPr lang="en-US" sz="1300" dirty="0">
                <a:solidFill>
                  <a:schemeClr val="bg2"/>
                </a:solidFill>
              </a:rPr>
              <a:t>The app greets him in his language.</a:t>
            </a:r>
            <a:endParaRPr lang="en-US" sz="1300" dirty="0"/>
          </a:p>
        </p:txBody>
      </p:sp>
      <p:sp>
        <p:nvSpPr>
          <p:cNvPr id="12" name="day-dot-41"/>
          <p:cNvSpPr/>
          <p:nvPr/>
        </p:nvSpPr>
        <p:spPr>
          <a:xfrm>
            <a:off x="4434840" y="2011680"/>
            <a:ext cx="274320" cy="274320"/>
          </a:xfrm>
          <a:prstGeom prst="ellipse">
            <a:avLst/>
          </a:prstGeom>
          <a:solidFill>
            <a:schemeClr val="accent1"/>
          </a:solidFill>
          <a:ln w="25400">
            <a:solidFill>
              <a:schemeClr val="tx1"/>
            </a:solidFill>
            <a:prstDash val="solid"/>
          </a:ln>
        </p:spPr>
      </p:sp>
      <p:sp>
        <p:nvSpPr>
          <p:cNvPr id="13" name="Text 11"/>
          <p:cNvSpPr txBox="1"/>
          <p:nvPr/>
        </p:nvSpPr>
        <p:spPr>
          <a:xfrm>
            <a:off x="4297680" y="1508760"/>
            <a:ext cx="1737360" cy="320040"/>
          </a:xfrm>
          <a:prstGeom prst="rect">
            <a:avLst/>
          </a:prstGeom>
          <a:noFill/>
          <a:ln/>
        </p:spPr>
        <p:txBody>
          <a:bodyPr wrap="square" lIns="0" tIns="0" rIns="0" bIns="0" rtlCol="0" anchor="t"/>
          <a:lstStyle/>
          <a:p>
            <a:pPr indent="0" marL="0">
              <a:buNone/>
            </a:pPr>
            <a:r>
              <a:rPr lang="en-US" sz="1400" b="1" dirty="0">
                <a:solidFill>
                  <a:schemeClr val="accent1"/>
                </a:solidFill>
              </a:rPr>
              <a:t>07:45</a:t>
            </a:r>
            <a:endParaRPr lang="en-US" sz="1400" dirty="0"/>
          </a:p>
        </p:txBody>
      </p:sp>
      <p:sp>
        <p:nvSpPr>
          <p:cNvPr id="14" name="Text 12"/>
          <p:cNvSpPr txBox="1"/>
          <p:nvPr/>
        </p:nvSpPr>
        <p:spPr>
          <a:xfrm>
            <a:off x="4297680" y="2514600"/>
            <a:ext cx="1737360" cy="685800"/>
          </a:xfrm>
          <a:prstGeom prst="rect">
            <a:avLst/>
          </a:prstGeom>
          <a:noFill/>
          <a:ln/>
        </p:spPr>
        <p:txBody>
          <a:bodyPr wrap="square" lIns="0" tIns="0" rIns="0" bIns="0" rtlCol="0" anchor="t"/>
          <a:lstStyle/>
          <a:p>
            <a:pPr indent="0" marL="0">
              <a:buNone/>
            </a:pPr>
            <a:r>
              <a:rPr lang="en-US" sz="1600" b="1" dirty="0">
                <a:solidFill>
                  <a:schemeClr val="bg1"/>
                </a:solidFill>
              </a:rPr>
              <a:t>Onboarded and verified</a:t>
            </a:r>
            <a:endParaRPr lang="en-US" sz="1600" dirty="0"/>
          </a:p>
        </p:txBody>
      </p:sp>
      <p:sp>
        <p:nvSpPr>
          <p:cNvPr id="15" name="Text 13"/>
          <p:cNvSpPr txBox="1"/>
          <p:nvPr/>
        </p:nvSpPr>
        <p:spPr>
          <a:xfrm>
            <a:off x="4297680" y="3200400"/>
            <a:ext cx="1737360" cy="1005840"/>
          </a:xfrm>
          <a:prstGeom prst="rect">
            <a:avLst/>
          </a:prstGeom>
          <a:noFill/>
          <a:ln/>
        </p:spPr>
        <p:txBody>
          <a:bodyPr wrap="square" lIns="0" tIns="0" rIns="0" bIns="0" rtlCol="0" anchor="t"/>
          <a:lstStyle/>
          <a:p>
            <a:pPr indent="0" marL="0">
              <a:buNone/>
            </a:pPr>
            <a:r>
              <a:rPr lang="en-US" sz="1300" dirty="0">
                <a:solidFill>
                  <a:schemeClr val="bg2"/>
                </a:solidFill>
              </a:rPr>
              <a:t>Contractor approves; documents checked at source.</a:t>
            </a:r>
            <a:endParaRPr lang="en-US" sz="1300" dirty="0"/>
          </a:p>
        </p:txBody>
      </p:sp>
      <p:sp>
        <p:nvSpPr>
          <p:cNvPr id="16" name="day-dot-42"/>
          <p:cNvSpPr/>
          <p:nvPr/>
        </p:nvSpPr>
        <p:spPr>
          <a:xfrm>
            <a:off x="6309360" y="2011680"/>
            <a:ext cx="274320" cy="274320"/>
          </a:xfrm>
          <a:prstGeom prst="ellipse">
            <a:avLst/>
          </a:prstGeom>
          <a:solidFill>
            <a:schemeClr val="accent1"/>
          </a:solidFill>
          <a:ln w="25400">
            <a:solidFill>
              <a:schemeClr val="tx1"/>
            </a:solidFill>
            <a:prstDash val="solid"/>
          </a:ln>
        </p:spPr>
      </p:sp>
      <p:sp>
        <p:nvSpPr>
          <p:cNvPr id="17" name="Text 15"/>
          <p:cNvSpPr txBox="1"/>
          <p:nvPr/>
        </p:nvSpPr>
        <p:spPr>
          <a:xfrm>
            <a:off x="6172200" y="1508760"/>
            <a:ext cx="1737360" cy="320040"/>
          </a:xfrm>
          <a:prstGeom prst="rect">
            <a:avLst/>
          </a:prstGeom>
          <a:noFill/>
          <a:ln/>
        </p:spPr>
        <p:txBody>
          <a:bodyPr wrap="square" lIns="0" tIns="0" rIns="0" bIns="0" rtlCol="0" anchor="t"/>
          <a:lstStyle/>
          <a:p>
            <a:pPr indent="0" marL="0">
              <a:buNone/>
            </a:pPr>
            <a:r>
              <a:rPr lang="en-US" sz="1400" b="1" dirty="0">
                <a:solidFill>
                  <a:schemeClr val="accent1"/>
                </a:solidFill>
              </a:rPr>
              <a:t>07:51</a:t>
            </a:r>
            <a:endParaRPr lang="en-US" sz="1400" dirty="0"/>
          </a:p>
        </p:txBody>
      </p:sp>
      <p:sp>
        <p:nvSpPr>
          <p:cNvPr id="18" name="Text 16"/>
          <p:cNvSpPr txBox="1"/>
          <p:nvPr/>
        </p:nvSpPr>
        <p:spPr>
          <a:xfrm>
            <a:off x="6172200" y="2514600"/>
            <a:ext cx="1737360" cy="685800"/>
          </a:xfrm>
          <a:prstGeom prst="rect">
            <a:avLst/>
          </a:prstGeom>
          <a:noFill/>
          <a:ln/>
        </p:spPr>
        <p:txBody>
          <a:bodyPr wrap="square" lIns="0" tIns="0" rIns="0" bIns="0" rtlCol="0" anchor="t"/>
          <a:lstStyle/>
          <a:p>
            <a:pPr indent="0" marL="0">
              <a:buNone/>
            </a:pPr>
            <a:r>
              <a:rPr lang="en-US" sz="1600" b="1" dirty="0">
                <a:solidFill>
                  <a:schemeClr val="bg1"/>
                </a:solidFill>
              </a:rPr>
              <a:t>Gate pass, safe to work</a:t>
            </a:r>
            <a:endParaRPr lang="en-US" sz="1600" dirty="0"/>
          </a:p>
        </p:txBody>
      </p:sp>
      <p:sp>
        <p:nvSpPr>
          <p:cNvPr id="19" name="Text 17"/>
          <p:cNvSpPr txBox="1"/>
          <p:nvPr/>
        </p:nvSpPr>
        <p:spPr>
          <a:xfrm>
            <a:off x="6172200" y="3200400"/>
            <a:ext cx="1737360" cy="1005840"/>
          </a:xfrm>
          <a:prstGeom prst="rect">
            <a:avLst/>
          </a:prstGeom>
          <a:noFill/>
          <a:ln/>
        </p:spPr>
        <p:txBody>
          <a:bodyPr wrap="square" lIns="0" tIns="0" rIns="0" bIns="0" rtlCol="0" anchor="t"/>
          <a:lstStyle/>
          <a:p>
            <a:pPr indent="0" marL="0">
              <a:buNone/>
            </a:pPr>
            <a:r>
              <a:rPr lang="en-US" sz="1300" dirty="0">
                <a:solidFill>
                  <a:schemeClr val="bg2"/>
                </a:solidFill>
              </a:rPr>
              <a:t>Induction, PPE and fitness checked first.</a:t>
            </a:r>
            <a:endParaRPr lang="en-US" sz="1300" dirty="0"/>
          </a:p>
        </p:txBody>
      </p:sp>
      <p:sp>
        <p:nvSpPr>
          <p:cNvPr id="20" name="day-dot-43"/>
          <p:cNvSpPr/>
          <p:nvPr/>
        </p:nvSpPr>
        <p:spPr>
          <a:xfrm>
            <a:off x="8183880" y="2011680"/>
            <a:ext cx="274320" cy="274320"/>
          </a:xfrm>
          <a:prstGeom prst="ellipse">
            <a:avLst/>
          </a:prstGeom>
          <a:solidFill>
            <a:schemeClr val="accent1"/>
          </a:solidFill>
          <a:ln w="25400">
            <a:solidFill>
              <a:schemeClr val="tx1"/>
            </a:solidFill>
            <a:prstDash val="solid"/>
          </a:ln>
        </p:spPr>
      </p:sp>
      <p:sp>
        <p:nvSpPr>
          <p:cNvPr id="21" name="Text 19"/>
          <p:cNvSpPr txBox="1"/>
          <p:nvPr/>
        </p:nvSpPr>
        <p:spPr>
          <a:xfrm>
            <a:off x="8046720" y="1508760"/>
            <a:ext cx="1737360" cy="320040"/>
          </a:xfrm>
          <a:prstGeom prst="rect">
            <a:avLst/>
          </a:prstGeom>
          <a:noFill/>
          <a:ln/>
        </p:spPr>
        <p:txBody>
          <a:bodyPr wrap="square" lIns="0" tIns="0" rIns="0" bIns="0" rtlCol="0" anchor="t"/>
          <a:lstStyle/>
          <a:p>
            <a:pPr indent="0" marL="0">
              <a:buNone/>
            </a:pPr>
            <a:r>
              <a:rPr lang="en-US" sz="1400" b="1" dirty="0">
                <a:solidFill>
                  <a:schemeClr val="accent1"/>
                </a:solidFill>
              </a:rPr>
              <a:t>08:00</a:t>
            </a:r>
            <a:endParaRPr lang="en-US" sz="1400" dirty="0"/>
          </a:p>
        </p:txBody>
      </p:sp>
      <p:sp>
        <p:nvSpPr>
          <p:cNvPr id="22" name="Text 20"/>
          <p:cNvSpPr txBox="1"/>
          <p:nvPr/>
        </p:nvSpPr>
        <p:spPr>
          <a:xfrm>
            <a:off x="8046720" y="2514600"/>
            <a:ext cx="1737360" cy="685800"/>
          </a:xfrm>
          <a:prstGeom prst="rect">
            <a:avLst/>
          </a:prstGeom>
          <a:noFill/>
          <a:ln/>
        </p:spPr>
        <p:txBody>
          <a:bodyPr wrap="square" lIns="0" tIns="0" rIns="0" bIns="0" rtlCol="0" anchor="t"/>
          <a:lstStyle/>
          <a:p>
            <a:pPr indent="0" marL="0">
              <a:buNone/>
            </a:pPr>
            <a:r>
              <a:rPr lang="en-US" sz="1600" b="1" dirty="0">
                <a:solidFill>
                  <a:schemeClr val="bg1"/>
                </a:solidFill>
              </a:rPr>
              <a:t>Present, on site</a:t>
            </a:r>
            <a:endParaRPr lang="en-US" sz="1600" dirty="0"/>
          </a:p>
        </p:txBody>
      </p:sp>
      <p:sp>
        <p:nvSpPr>
          <p:cNvPr id="23" name="Text 21"/>
          <p:cNvSpPr txBox="1"/>
          <p:nvPr/>
        </p:nvSpPr>
        <p:spPr>
          <a:xfrm>
            <a:off x="8046720" y="3200400"/>
            <a:ext cx="1737360" cy="1005840"/>
          </a:xfrm>
          <a:prstGeom prst="rect">
            <a:avLst/>
          </a:prstGeom>
          <a:noFill/>
          <a:ln/>
        </p:spPr>
        <p:txBody>
          <a:bodyPr wrap="square" lIns="0" tIns="0" rIns="0" bIns="0" rtlCol="0" anchor="t"/>
          <a:lstStyle/>
          <a:p>
            <a:pPr indent="0" marL="0">
              <a:buNone/>
            </a:pPr>
            <a:r>
              <a:rPr lang="en-US" sz="1300" dirty="0">
                <a:solidFill>
                  <a:schemeClr val="bg2"/>
                </a:solidFill>
              </a:rPr>
              <a:t>Vision AI and geo-fencing mark him in.</a:t>
            </a:r>
            <a:endParaRPr lang="en-US" sz="1300" dirty="0"/>
          </a:p>
        </p:txBody>
      </p:sp>
      <p:sp>
        <p:nvSpPr>
          <p:cNvPr id="24" name="day-dot-44"/>
          <p:cNvSpPr/>
          <p:nvPr/>
        </p:nvSpPr>
        <p:spPr>
          <a:xfrm>
            <a:off x="10058400" y="2011680"/>
            <a:ext cx="274320" cy="274320"/>
          </a:xfrm>
          <a:prstGeom prst="ellipse">
            <a:avLst/>
          </a:prstGeom>
          <a:solidFill>
            <a:schemeClr val="accent5"/>
          </a:solidFill>
          <a:ln w="25400">
            <a:solidFill>
              <a:schemeClr val="tx1"/>
            </a:solidFill>
            <a:prstDash val="solid"/>
          </a:ln>
        </p:spPr>
      </p:sp>
      <p:sp>
        <p:nvSpPr>
          <p:cNvPr id="25" name="Text 23"/>
          <p:cNvSpPr txBox="1"/>
          <p:nvPr/>
        </p:nvSpPr>
        <p:spPr>
          <a:xfrm>
            <a:off x="9921240" y="1508760"/>
            <a:ext cx="1737360" cy="320040"/>
          </a:xfrm>
          <a:prstGeom prst="rect">
            <a:avLst/>
          </a:prstGeom>
          <a:noFill/>
          <a:ln/>
        </p:spPr>
        <p:txBody>
          <a:bodyPr wrap="square" lIns="0" tIns="0" rIns="0" bIns="0" rtlCol="0" anchor="t"/>
          <a:lstStyle/>
          <a:p>
            <a:pPr indent="0" marL="0">
              <a:buNone/>
            </a:pPr>
            <a:r>
              <a:rPr lang="en-US" sz="1400" b="1" dirty="0">
                <a:solidFill>
                  <a:schemeClr val="accent1"/>
                </a:solidFill>
              </a:rPr>
              <a:t>Any day</a:t>
            </a:r>
            <a:endParaRPr lang="en-US" sz="1400" dirty="0"/>
          </a:p>
        </p:txBody>
      </p:sp>
      <p:sp>
        <p:nvSpPr>
          <p:cNvPr id="26" name="Text 24"/>
          <p:cNvSpPr txBox="1"/>
          <p:nvPr/>
        </p:nvSpPr>
        <p:spPr>
          <a:xfrm>
            <a:off x="9921240" y="2514600"/>
            <a:ext cx="1737360" cy="685800"/>
          </a:xfrm>
          <a:prstGeom prst="rect">
            <a:avLst/>
          </a:prstGeom>
          <a:noFill/>
          <a:ln/>
        </p:spPr>
        <p:txBody>
          <a:bodyPr wrap="square" lIns="0" tIns="0" rIns="0" bIns="0" rtlCol="0" anchor="t"/>
          <a:lstStyle/>
          <a:p>
            <a:pPr indent="0" marL="0">
              <a:buNone/>
            </a:pPr>
            <a:r>
              <a:rPr lang="en-US" sz="1600" b="1" dirty="0">
                <a:solidFill>
                  <a:schemeClr val="bg1"/>
                </a:solidFill>
              </a:rPr>
              <a:t>Heard, on the clock</a:t>
            </a:r>
            <a:endParaRPr lang="en-US" sz="1600" dirty="0"/>
          </a:p>
        </p:txBody>
      </p:sp>
      <p:sp>
        <p:nvSpPr>
          <p:cNvPr id="27" name="Text 25"/>
          <p:cNvSpPr txBox="1"/>
          <p:nvPr/>
        </p:nvSpPr>
        <p:spPr>
          <a:xfrm>
            <a:off x="9921240" y="3200400"/>
            <a:ext cx="1737360" cy="1005840"/>
          </a:xfrm>
          <a:prstGeom prst="rect">
            <a:avLst/>
          </a:prstGeom>
          <a:noFill/>
          <a:ln/>
        </p:spPr>
        <p:txBody>
          <a:bodyPr wrap="square" lIns="0" tIns="0" rIns="0" bIns="0" rtlCol="0" anchor="t"/>
          <a:lstStyle/>
          <a:p>
            <a:pPr indent="0" marL="0">
              <a:buNone/>
            </a:pPr>
            <a:r>
              <a:rPr lang="en-US" sz="1300" dirty="0">
                <a:solidFill>
                  <a:schemeClr val="bg2"/>
                </a:solidFill>
              </a:rPr>
              <a:t>A spoken grievance gets an SLA and an owner.</a:t>
            </a:r>
            <a:endParaRPr lang="en-US" sz="1300" dirty="0"/>
          </a:p>
        </p:txBody>
      </p:sp>
      <p:sp>
        <p:nvSpPr>
          <p:cNvPr id="28" name="Text 26"/>
          <p:cNvSpPr txBox="1"/>
          <p:nvPr/>
        </p:nvSpPr>
        <p:spPr>
          <a:xfrm>
            <a:off x="548640" y="4572000"/>
            <a:ext cx="11064240" cy="731520"/>
          </a:xfrm>
          <a:prstGeom prst="rect">
            <a:avLst/>
          </a:prstGeom>
          <a:noFill/>
          <a:ln/>
        </p:spPr>
        <p:txBody>
          <a:bodyPr wrap="square" lIns="0" tIns="0" rIns="0" bIns="0" rtlCol="0" anchor="t"/>
          <a:lstStyle/>
          <a:p>
            <a:pPr indent="0" marL="0">
              <a:buNone/>
            </a:pPr>
            <a:r>
              <a:rPr lang="en-US" sz="3600" b="1" dirty="0">
                <a:solidFill>
                  <a:schemeClr val="bg1"/>
                </a:solidFill>
              </a:rPr>
              <a:t>Twenty minutes.  </a:t>
            </a:r>
            <a:pPr indent="0" marL="0">
              <a:buNone/>
            </a:pPr>
            <a:r>
              <a:rPr lang="en-US" sz="3600" b="1" dirty="0">
                <a:solidFill>
                  <a:schemeClr val="accent1"/>
                </a:solidFill>
              </a:rPr>
              <a:t>One QR.  </a:t>
            </a:r>
            <a:pPr indent="0" marL="0">
              <a:buNone/>
            </a:pPr>
            <a:r>
              <a:rPr lang="en-US" sz="3600" b="1" dirty="0">
                <a:solidFill>
                  <a:schemeClr val="accent5"/>
                </a:solidFill>
              </a:rPr>
              <a:t>Zero paper.</a:t>
            </a:r>
            <a:endParaRPr lang="en-US" sz="3600" dirty="0"/>
          </a:p>
        </p:txBody>
      </p:sp>
      <p:sp>
        <p:nvSpPr>
          <p:cNvPr id="29" name="Text 27"/>
          <p:cNvSpPr txBox="1"/>
          <p:nvPr/>
        </p:nvSpPr>
        <p:spPr>
          <a:xfrm>
            <a:off x="548640" y="5349240"/>
            <a:ext cx="11064240" cy="365760"/>
          </a:xfrm>
          <a:prstGeom prst="rect">
            <a:avLst/>
          </a:prstGeom>
          <a:noFill/>
          <a:ln/>
        </p:spPr>
        <p:txBody>
          <a:bodyPr wrap="square" lIns="0" tIns="0" rIns="0" bIns="0" rtlCol="0" anchor="t"/>
          <a:lstStyle/>
          <a:p>
            <a:pPr indent="0" marL="0">
              <a:buNone/>
            </a:pPr>
            <a:r>
              <a:rPr lang="en-US" sz="1400" dirty="0">
                <a:solidFill>
                  <a:schemeClr val="accent6"/>
                </a:solidFill>
              </a:rPr>
              <a:t>A sample morning for a sample worker. This is what convenience looks like for someone who has never had it.</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One verified record shared by the three parties</a:t>
            </a:r>
            <a:endParaRPr lang="en-US" sz="3200" dirty="0"/>
          </a:p>
        </p:txBody>
      </p:sp>
      <p:sp>
        <p:nvSpPr>
          <p:cNvPr id="3" name="icon-circle-45"/>
          <p:cNvSpPr/>
          <p:nvPr/>
        </p:nvSpPr>
        <p:spPr>
          <a:xfrm>
            <a:off x="548640" y="1508760"/>
            <a:ext cx="658368" cy="658368"/>
          </a:xfrm>
          <a:prstGeom prst="ellipse">
            <a:avLst/>
          </a:prstGeom>
          <a:solidFill>
            <a:schemeClr val="accent3"/>
          </a:solidFill>
          <a:ln w="12700">
            <a:solidFill>
              <a:schemeClr val="accent3"/>
            </a:solidFill>
            <a:prstDash val="solid"/>
          </a:ln>
        </p:spPr>
      </p:sp>
      <p:pic>
        <p:nvPicPr>
          <p:cNvPr id="4" name="icon-46" descr="preencoded.png">    </p:cNvPr>
          <p:cNvPicPr>
            <a:picLocks noChangeAspect="1"/>
          </p:cNvPicPr>
          <p:nvPr/>
        </p:nvPicPr>
        <p:blipFill>
          <a:blip r:embed="rId1"/>
          <a:stretch>
            <a:fillRect/>
          </a:stretch>
        </p:blipFill>
        <p:spPr>
          <a:xfrm>
            <a:off x="706648" y="1666768"/>
            <a:ext cx="342351" cy="342351"/>
          </a:xfrm>
          <a:prstGeom prst="rect">
            <a:avLst/>
          </a:prstGeom>
        </p:spPr>
      </p:pic>
      <p:sp>
        <p:nvSpPr>
          <p:cNvPr id="5" name="Text 2"/>
          <p:cNvSpPr txBox="1"/>
          <p:nvPr/>
        </p:nvSpPr>
        <p:spPr>
          <a:xfrm>
            <a:off x="1371600" y="1664208"/>
            <a:ext cx="1645920" cy="365760"/>
          </a:xfrm>
          <a:prstGeom prst="rect">
            <a:avLst/>
          </a:prstGeom>
          <a:noFill/>
          <a:ln/>
        </p:spPr>
        <p:txBody>
          <a:bodyPr wrap="square" lIns="0" tIns="0" rIns="0" bIns="0" rtlCol="0" anchor="t"/>
          <a:lstStyle/>
          <a:p>
            <a:pPr indent="0" marL="0">
              <a:buNone/>
            </a:pPr>
            <a:r>
              <a:rPr lang="en-US" sz="1800" b="1" dirty="0">
                <a:solidFill>
                  <a:schemeClr val="bg1"/>
                </a:solidFill>
              </a:rPr>
              <a:t>Employer</a:t>
            </a:r>
            <a:endParaRPr lang="en-US" sz="1800" dirty="0"/>
          </a:p>
        </p:txBody>
      </p:sp>
      <p:sp>
        <p:nvSpPr>
          <p:cNvPr id="6" name="flow-arrow-47"/>
          <p:cNvSpPr/>
          <p:nvPr/>
        </p:nvSpPr>
        <p:spPr>
          <a:xfrm>
            <a:off x="877824" y="2221992"/>
            <a:ext cx="0" cy="329184"/>
          </a:xfrm>
          <a:prstGeom prst="line">
            <a:avLst/>
          </a:prstGeom>
          <a:noFill/>
          <a:ln w="19050">
            <a:solidFill>
              <a:schemeClr val="accent6"/>
            </a:solidFill>
            <a:prstDash val="solid"/>
            <a:tailEnd type="triangle"/>
          </a:ln>
        </p:spPr>
      </p:sp>
      <p:sp>
        <p:nvSpPr>
          <p:cNvPr id="7" name="icon-circle-48"/>
          <p:cNvSpPr/>
          <p:nvPr/>
        </p:nvSpPr>
        <p:spPr>
          <a:xfrm>
            <a:off x="548640" y="2441448"/>
            <a:ext cx="658368" cy="658368"/>
          </a:xfrm>
          <a:prstGeom prst="ellipse">
            <a:avLst/>
          </a:prstGeom>
          <a:solidFill>
            <a:schemeClr val="accent6"/>
          </a:solidFill>
          <a:ln w="12700">
            <a:solidFill>
              <a:schemeClr val="accent6"/>
            </a:solidFill>
            <a:prstDash val="solid"/>
          </a:ln>
        </p:spPr>
      </p:sp>
      <p:pic>
        <p:nvPicPr>
          <p:cNvPr id="8" name="icon-49" descr="preencoded.png">    </p:cNvPr>
          <p:cNvPicPr>
            <a:picLocks noChangeAspect="1"/>
          </p:cNvPicPr>
          <p:nvPr/>
        </p:nvPicPr>
        <p:blipFill>
          <a:blip r:embed="rId2"/>
          <a:stretch>
            <a:fillRect/>
          </a:stretch>
        </p:blipFill>
        <p:spPr>
          <a:xfrm>
            <a:off x="706648" y="2599456"/>
            <a:ext cx="342351" cy="342351"/>
          </a:xfrm>
          <a:prstGeom prst="rect">
            <a:avLst/>
          </a:prstGeom>
        </p:spPr>
      </p:pic>
      <p:sp>
        <p:nvSpPr>
          <p:cNvPr id="9" name="Text 5"/>
          <p:cNvSpPr txBox="1"/>
          <p:nvPr/>
        </p:nvSpPr>
        <p:spPr>
          <a:xfrm>
            <a:off x="1371600" y="2596896"/>
            <a:ext cx="1645920" cy="365760"/>
          </a:xfrm>
          <a:prstGeom prst="rect">
            <a:avLst/>
          </a:prstGeom>
          <a:noFill/>
          <a:ln/>
        </p:spPr>
        <p:txBody>
          <a:bodyPr wrap="square" lIns="0" tIns="0" rIns="0" bIns="0" rtlCol="0" anchor="t"/>
          <a:lstStyle/>
          <a:p>
            <a:pPr indent="0" marL="0">
              <a:buNone/>
            </a:pPr>
            <a:r>
              <a:rPr lang="en-US" sz="1800" b="1" dirty="0">
                <a:solidFill>
                  <a:schemeClr val="bg1"/>
                </a:solidFill>
              </a:rPr>
              <a:t>Site</a:t>
            </a:r>
            <a:endParaRPr lang="en-US" sz="1800" dirty="0"/>
          </a:p>
        </p:txBody>
      </p:sp>
      <p:sp>
        <p:nvSpPr>
          <p:cNvPr id="10" name="flow-arrow-50"/>
          <p:cNvSpPr/>
          <p:nvPr/>
        </p:nvSpPr>
        <p:spPr>
          <a:xfrm>
            <a:off x="877824" y="3154680"/>
            <a:ext cx="0" cy="329184"/>
          </a:xfrm>
          <a:prstGeom prst="line">
            <a:avLst/>
          </a:prstGeom>
          <a:noFill/>
          <a:ln w="19050">
            <a:solidFill>
              <a:schemeClr val="accent6"/>
            </a:solidFill>
            <a:prstDash val="solid"/>
            <a:tailEnd type="triangle"/>
          </a:ln>
        </p:spPr>
      </p:sp>
      <p:sp>
        <p:nvSpPr>
          <p:cNvPr id="11" name="icon-circle-51"/>
          <p:cNvSpPr/>
          <p:nvPr/>
        </p:nvSpPr>
        <p:spPr>
          <a:xfrm>
            <a:off x="548640" y="3374136"/>
            <a:ext cx="658368" cy="658368"/>
          </a:xfrm>
          <a:prstGeom prst="ellipse">
            <a:avLst/>
          </a:prstGeom>
          <a:solidFill>
            <a:schemeClr val="accent2"/>
          </a:solidFill>
          <a:ln w="12700">
            <a:solidFill>
              <a:schemeClr val="accent2"/>
            </a:solidFill>
            <a:prstDash val="solid"/>
          </a:ln>
        </p:spPr>
      </p:sp>
      <p:pic>
        <p:nvPicPr>
          <p:cNvPr id="12" name="icon-52" descr="preencoded.png">    </p:cNvPr>
          <p:cNvPicPr>
            <a:picLocks noChangeAspect="1"/>
          </p:cNvPicPr>
          <p:nvPr/>
        </p:nvPicPr>
        <p:blipFill>
          <a:blip r:embed="rId3"/>
          <a:stretch>
            <a:fillRect/>
          </a:stretch>
        </p:blipFill>
        <p:spPr>
          <a:xfrm>
            <a:off x="706648" y="3532144"/>
            <a:ext cx="342351" cy="342351"/>
          </a:xfrm>
          <a:prstGeom prst="rect">
            <a:avLst/>
          </a:prstGeom>
        </p:spPr>
      </p:pic>
      <p:sp>
        <p:nvSpPr>
          <p:cNvPr id="13" name="Text 8"/>
          <p:cNvSpPr txBox="1"/>
          <p:nvPr/>
        </p:nvSpPr>
        <p:spPr>
          <a:xfrm>
            <a:off x="1371600" y="3529584"/>
            <a:ext cx="1645920" cy="365760"/>
          </a:xfrm>
          <a:prstGeom prst="rect">
            <a:avLst/>
          </a:prstGeom>
          <a:noFill/>
          <a:ln/>
        </p:spPr>
        <p:txBody>
          <a:bodyPr wrap="square" lIns="0" tIns="0" rIns="0" bIns="0" rtlCol="0" anchor="t"/>
          <a:lstStyle/>
          <a:p>
            <a:pPr indent="0" marL="0">
              <a:buNone/>
            </a:pPr>
            <a:r>
              <a:rPr lang="en-US" sz="1800" b="1" dirty="0">
                <a:solidFill>
                  <a:schemeClr val="bg1"/>
                </a:solidFill>
              </a:rPr>
              <a:t>Contractor</a:t>
            </a:r>
            <a:endParaRPr lang="en-US" sz="1800" dirty="0"/>
          </a:p>
        </p:txBody>
      </p:sp>
      <p:sp>
        <p:nvSpPr>
          <p:cNvPr id="14" name="flow-arrow-53"/>
          <p:cNvSpPr/>
          <p:nvPr/>
        </p:nvSpPr>
        <p:spPr>
          <a:xfrm>
            <a:off x="877824" y="4087368"/>
            <a:ext cx="0" cy="329184"/>
          </a:xfrm>
          <a:prstGeom prst="line">
            <a:avLst/>
          </a:prstGeom>
          <a:noFill/>
          <a:ln w="19050">
            <a:solidFill>
              <a:schemeClr val="accent6"/>
            </a:solidFill>
            <a:prstDash val="solid"/>
            <a:tailEnd type="triangle"/>
          </a:ln>
        </p:spPr>
      </p:sp>
      <p:sp>
        <p:nvSpPr>
          <p:cNvPr id="15" name="icon-circle-54"/>
          <p:cNvSpPr/>
          <p:nvPr/>
        </p:nvSpPr>
        <p:spPr>
          <a:xfrm>
            <a:off x="548640" y="4306824"/>
            <a:ext cx="658368" cy="658368"/>
          </a:xfrm>
          <a:prstGeom prst="ellipse">
            <a:avLst/>
          </a:prstGeom>
          <a:solidFill>
            <a:schemeClr val="accent1"/>
          </a:solidFill>
          <a:ln w="12700">
            <a:solidFill>
              <a:schemeClr val="accent1"/>
            </a:solidFill>
            <a:prstDash val="solid"/>
          </a:ln>
        </p:spPr>
      </p:sp>
      <p:pic>
        <p:nvPicPr>
          <p:cNvPr id="16" name="icon-55" descr="preencoded.png">    </p:cNvPr>
          <p:cNvPicPr>
            <a:picLocks noChangeAspect="1"/>
          </p:cNvPicPr>
          <p:nvPr/>
        </p:nvPicPr>
        <p:blipFill>
          <a:blip r:embed="rId4"/>
          <a:stretch>
            <a:fillRect/>
          </a:stretch>
        </p:blipFill>
        <p:spPr>
          <a:xfrm>
            <a:off x="706648" y="4464832"/>
            <a:ext cx="342351" cy="342351"/>
          </a:xfrm>
          <a:prstGeom prst="rect">
            <a:avLst/>
          </a:prstGeom>
        </p:spPr>
      </p:pic>
      <p:sp>
        <p:nvSpPr>
          <p:cNvPr id="17" name="Text 11"/>
          <p:cNvSpPr txBox="1"/>
          <p:nvPr/>
        </p:nvSpPr>
        <p:spPr>
          <a:xfrm>
            <a:off x="1371600" y="4462272"/>
            <a:ext cx="1645920" cy="365760"/>
          </a:xfrm>
          <a:prstGeom prst="rect">
            <a:avLst/>
          </a:prstGeom>
          <a:noFill/>
          <a:ln/>
        </p:spPr>
        <p:txBody>
          <a:bodyPr wrap="square" lIns="0" tIns="0" rIns="0" bIns="0" rtlCol="0" anchor="t"/>
          <a:lstStyle/>
          <a:p>
            <a:pPr indent="0" marL="0">
              <a:buNone/>
            </a:pPr>
            <a:r>
              <a:rPr lang="en-US" sz="1800" b="1" dirty="0">
                <a:solidFill>
                  <a:schemeClr val="bg1"/>
                </a:solidFill>
              </a:rPr>
              <a:t>Worker</a:t>
            </a:r>
            <a:endParaRPr lang="en-US" sz="1800" dirty="0"/>
          </a:p>
        </p:txBody>
      </p:sp>
      <p:sp>
        <p:nvSpPr>
          <p:cNvPr id="18" name="Text 12"/>
          <p:cNvSpPr txBox="1"/>
          <p:nvPr/>
        </p:nvSpPr>
        <p:spPr>
          <a:xfrm>
            <a:off x="548640" y="5074920"/>
            <a:ext cx="3840480" cy="1005840"/>
          </a:xfrm>
          <a:prstGeom prst="rect">
            <a:avLst/>
          </a:prstGeom>
          <a:noFill/>
          <a:ln/>
        </p:spPr>
        <p:txBody>
          <a:bodyPr wrap="square" lIns="0" tIns="0" rIns="0" bIns="0" rtlCol="0" anchor="t"/>
          <a:lstStyle/>
          <a:p>
            <a:pPr indent="0" marL="0">
              <a:buNone/>
            </a:pPr>
            <a:r>
              <a:rPr lang="en-US" sz="1700" b="1" dirty="0">
                <a:solidFill>
                  <a:schemeClr val="bg1"/>
                </a:solidFill>
              </a:rPr>
              <a:t>E·C·S·W binding</a:t>
            </a:r>
            <a:endParaRPr lang="en-US" sz="1400" dirty="0"/>
          </a:p>
          <a:p>
            <a:pPr indent="0" marL="0">
              <a:buNone/>
            </a:pPr>
            <a:r>
              <a:rPr lang="en-US" sz="1400" dirty="0">
                <a:solidFill>
                  <a:schemeClr val="bg2"/>
                </a:solidFill>
              </a:rPr>
              <a:t>One worker, one site, one contractor at a time, with consent on both sides. Everything else follows from it.</a:t>
            </a:r>
            <a:endParaRPr lang="en-US" sz="1400" dirty="0"/>
          </a:p>
        </p:txBody>
      </p:sp>
      <p:sp>
        <p:nvSpPr>
          <p:cNvPr id="19" name="control-wall-frame-56"/>
          <p:cNvSpPr/>
          <p:nvPr/>
        </p:nvSpPr>
        <p:spPr>
          <a:xfrm>
            <a:off x="4572000" y="1417320"/>
            <a:ext cx="7040880" cy="4663440"/>
          </a:xfrm>
          <a:prstGeom prst="roundRect">
            <a:avLst>
              <a:gd name="adj" fmla="val 2353"/>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20" name="control-wall-57" descr="preencoded.png">    </p:cNvPr>
          <p:cNvPicPr>
            <a:picLocks noChangeAspect="1"/>
          </p:cNvPicPr>
          <p:nvPr/>
        </p:nvPicPr>
        <p:blipFill>
          <a:blip r:embed="rId5"/>
          <a:srcRect l="0" r="0" t="0" b="0"/>
          <a:stretch/>
        </p:blipFill>
        <p:spPr>
          <a:xfrm>
            <a:off x="4645152" y="1490472"/>
            <a:ext cx="6894576" cy="4517136"/>
          </a:xfrm>
          <a:prstGeom prst="rect">
            <a:avLst/>
          </a:prstGeom>
        </p:spPr>
      </p:pic>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One QR. Four solutions</a:t>
            </a:r>
            <a:endParaRPr lang="en-US" sz="3200" dirty="0"/>
          </a:p>
        </p:txBody>
      </p:sp>
      <p:sp>
        <p:nvSpPr>
          <p:cNvPr id="3" name="qr-core"/>
          <p:cNvSpPr/>
          <p:nvPr/>
        </p:nvSpPr>
        <p:spPr>
          <a:xfrm>
            <a:off x="4727448" y="1600200"/>
            <a:ext cx="2743200" cy="2743200"/>
          </a:xfrm>
          <a:prstGeom prst="roundRect">
            <a:avLst>
              <a:gd name="adj" fmla="val 6667"/>
            </a:avLst>
          </a:prstGeom>
          <a:solidFill>
            <a:schemeClr val="tx1"/>
          </a:solidFill>
          <a:ln w="12700">
            <a:solidFill>
              <a:schemeClr val="tx1"/>
            </a:solidFill>
            <a:prstDash val="solid"/>
          </a:ln>
          <a:effectLst>
            <a:outerShdw sx="100000" sy="100000" kx="0" ky="0" algn="bl" rotWithShape="0" blurRad="177800" dist="50800" dir="5400000">
              <a:srgbClr val="01183A">
                <a:alpha val="30000"/>
              </a:srgbClr>
            </a:outerShdw>
          </a:effectLst>
        </p:spPr>
      </p:sp>
      <p:pic>
        <p:nvPicPr>
          <p:cNvPr id="4" name="qr-core-icon" descr="preencoded.png">    </p:cNvPr>
          <p:cNvPicPr>
            <a:picLocks noChangeAspect="1"/>
          </p:cNvPicPr>
          <p:nvPr/>
        </p:nvPicPr>
        <p:blipFill>
          <a:blip r:embed="rId1"/>
          <a:stretch>
            <a:fillRect/>
          </a:stretch>
        </p:blipFill>
        <p:spPr>
          <a:xfrm>
            <a:off x="5230368" y="1965960"/>
            <a:ext cx="1737360" cy="1737360"/>
          </a:xfrm>
          <a:prstGeom prst="rect">
            <a:avLst/>
          </a:prstGeom>
        </p:spPr>
      </p:pic>
      <p:sp>
        <p:nvSpPr>
          <p:cNvPr id="5" name="Text 2"/>
          <p:cNvSpPr txBox="1"/>
          <p:nvPr/>
        </p:nvSpPr>
        <p:spPr>
          <a:xfrm>
            <a:off x="4727448" y="3794760"/>
            <a:ext cx="2743200" cy="365760"/>
          </a:xfrm>
          <a:prstGeom prst="rect">
            <a:avLst/>
          </a:prstGeom>
          <a:noFill/>
          <a:ln/>
        </p:spPr>
        <p:txBody>
          <a:bodyPr wrap="square" lIns="0" tIns="0" rIns="0" bIns="0" rtlCol="0" anchor="t"/>
          <a:lstStyle/>
          <a:p>
            <a:pPr algn="ctr" indent="0" marL="0">
              <a:buNone/>
            </a:pPr>
            <a:r>
              <a:rPr lang="en-US" sz="1300" b="1" dirty="0">
                <a:solidFill>
                  <a:schemeClr val="bg1"/>
                </a:solidFill>
              </a:rPr>
              <a:t>One worker · One QR</a:t>
            </a:r>
            <a:endParaRPr lang="en-US" sz="1300" dirty="0"/>
          </a:p>
        </p:txBody>
      </p:sp>
      <p:sp>
        <p:nvSpPr>
          <p:cNvPr id="6" name="icon-circle-58"/>
          <p:cNvSpPr/>
          <p:nvPr/>
        </p:nvSpPr>
        <p:spPr>
          <a:xfrm>
            <a:off x="3794760" y="1554480"/>
            <a:ext cx="548640" cy="548640"/>
          </a:xfrm>
          <a:prstGeom prst="ellipse">
            <a:avLst/>
          </a:prstGeom>
          <a:solidFill>
            <a:schemeClr val="accent1"/>
          </a:solidFill>
          <a:ln w="12700">
            <a:solidFill>
              <a:schemeClr val="accent1"/>
            </a:solidFill>
            <a:prstDash val="solid"/>
          </a:ln>
        </p:spPr>
      </p:sp>
      <p:pic>
        <p:nvPicPr>
          <p:cNvPr id="7" name="icon-59" descr="preencoded.png">    </p:cNvPr>
          <p:cNvPicPr>
            <a:picLocks noChangeAspect="1"/>
          </p:cNvPicPr>
          <p:nvPr/>
        </p:nvPicPr>
        <p:blipFill>
          <a:blip r:embed="rId2"/>
          <a:stretch>
            <a:fillRect/>
          </a:stretch>
        </p:blipFill>
        <p:spPr>
          <a:xfrm>
            <a:off x="3926434" y="1686154"/>
            <a:ext cx="285293" cy="285293"/>
          </a:xfrm>
          <a:prstGeom prst="rect">
            <a:avLst/>
          </a:prstGeom>
        </p:spPr>
      </p:pic>
      <p:sp>
        <p:nvSpPr>
          <p:cNvPr id="8" name="Text 4"/>
          <p:cNvSpPr txBox="1"/>
          <p:nvPr/>
        </p:nvSpPr>
        <p:spPr>
          <a:xfrm>
            <a:off x="548640" y="1572768"/>
            <a:ext cx="3017520" cy="365760"/>
          </a:xfrm>
          <a:prstGeom prst="rect">
            <a:avLst/>
          </a:prstGeom>
          <a:noFill/>
          <a:ln/>
        </p:spPr>
        <p:txBody>
          <a:bodyPr wrap="square" lIns="0" tIns="0" rIns="0" bIns="0" rtlCol="0" anchor="t"/>
          <a:lstStyle/>
          <a:p>
            <a:pPr algn="r" indent="0" marL="0">
              <a:buNone/>
            </a:pPr>
            <a:r>
              <a:rPr lang="en-US" sz="1800" b="1" dirty="0">
                <a:solidFill>
                  <a:schemeClr val="tx1"/>
                </a:solidFill>
              </a:rPr>
              <a:t>Onboarding</a:t>
            </a:r>
            <a:endParaRPr lang="en-US" sz="1800" dirty="0"/>
          </a:p>
        </p:txBody>
      </p:sp>
      <p:sp>
        <p:nvSpPr>
          <p:cNvPr id="9" name="Text 5"/>
          <p:cNvSpPr txBox="1"/>
          <p:nvPr/>
        </p:nvSpPr>
        <p:spPr>
          <a:xfrm>
            <a:off x="548640" y="1965960"/>
            <a:ext cx="3017520" cy="731520"/>
          </a:xfrm>
          <a:prstGeom prst="rect">
            <a:avLst/>
          </a:prstGeom>
          <a:noFill/>
          <a:ln/>
        </p:spPr>
        <p:txBody>
          <a:bodyPr wrap="square" lIns="0" tIns="0" rIns="0" bIns="0" rtlCol="0" anchor="t"/>
          <a:lstStyle/>
          <a:p>
            <a:pPr algn="r" indent="0" marL="0">
              <a:buNone/>
            </a:pPr>
            <a:r>
              <a:rPr lang="en-US" sz="1300" dirty="0">
                <a:solidFill>
                  <a:schemeClr val="tx2"/>
                </a:solidFill>
              </a:rPr>
              <a:t>Join a contractor and site with one scan and dual consent.</a:t>
            </a:r>
            <a:endParaRPr lang="en-US" sz="1300" dirty="0"/>
          </a:p>
        </p:txBody>
      </p:sp>
      <p:sp>
        <p:nvSpPr>
          <p:cNvPr id="10" name="qr-ray-60"/>
          <p:cNvSpPr/>
          <p:nvPr/>
        </p:nvSpPr>
        <p:spPr>
          <a:xfrm>
            <a:off x="4343400" y="1828800"/>
            <a:ext cx="365760" cy="0"/>
          </a:xfrm>
          <a:prstGeom prst="line">
            <a:avLst/>
          </a:prstGeom>
          <a:noFill/>
          <a:ln w="19050">
            <a:solidFill>
              <a:schemeClr val="accent1"/>
            </a:solidFill>
            <a:prstDash val="dash"/>
          </a:ln>
        </p:spPr>
      </p:sp>
      <p:sp>
        <p:nvSpPr>
          <p:cNvPr id="11" name="icon-circle-61"/>
          <p:cNvSpPr/>
          <p:nvPr/>
        </p:nvSpPr>
        <p:spPr>
          <a:xfrm>
            <a:off x="7863840" y="1554480"/>
            <a:ext cx="548640" cy="548640"/>
          </a:xfrm>
          <a:prstGeom prst="ellipse">
            <a:avLst/>
          </a:prstGeom>
          <a:solidFill>
            <a:schemeClr val="accent2"/>
          </a:solidFill>
          <a:ln w="12700">
            <a:solidFill>
              <a:schemeClr val="accent2"/>
            </a:solidFill>
            <a:prstDash val="solid"/>
          </a:ln>
        </p:spPr>
      </p:sp>
      <p:pic>
        <p:nvPicPr>
          <p:cNvPr id="12" name="icon-62" descr="preencoded.png">    </p:cNvPr>
          <p:cNvPicPr>
            <a:picLocks noChangeAspect="1"/>
          </p:cNvPicPr>
          <p:nvPr/>
        </p:nvPicPr>
        <p:blipFill>
          <a:blip r:embed="rId3"/>
          <a:stretch>
            <a:fillRect/>
          </a:stretch>
        </p:blipFill>
        <p:spPr>
          <a:xfrm>
            <a:off x="7995514" y="1686154"/>
            <a:ext cx="285293" cy="285293"/>
          </a:xfrm>
          <a:prstGeom prst="rect">
            <a:avLst/>
          </a:prstGeom>
        </p:spPr>
      </p:pic>
      <p:sp>
        <p:nvSpPr>
          <p:cNvPr id="13" name="Text 8"/>
          <p:cNvSpPr txBox="1"/>
          <p:nvPr/>
        </p:nvSpPr>
        <p:spPr>
          <a:xfrm>
            <a:off x="8595360" y="1572768"/>
            <a:ext cx="3017520" cy="365760"/>
          </a:xfrm>
          <a:prstGeom prst="rect">
            <a:avLst/>
          </a:prstGeom>
          <a:noFill/>
          <a:ln/>
        </p:spPr>
        <p:txBody>
          <a:bodyPr wrap="square" lIns="0" tIns="0" rIns="0" bIns="0" rtlCol="0" anchor="t"/>
          <a:lstStyle/>
          <a:p>
            <a:pPr algn="l" indent="0" marL="0">
              <a:buNone/>
            </a:pPr>
            <a:r>
              <a:rPr lang="en-US" sz="1800" b="1" dirty="0">
                <a:solidFill>
                  <a:schemeClr val="tx1"/>
                </a:solidFill>
              </a:rPr>
              <a:t>Attendance</a:t>
            </a:r>
            <a:endParaRPr lang="en-US" sz="1800" dirty="0"/>
          </a:p>
        </p:txBody>
      </p:sp>
      <p:sp>
        <p:nvSpPr>
          <p:cNvPr id="14" name="Text 9"/>
          <p:cNvSpPr txBox="1"/>
          <p:nvPr/>
        </p:nvSpPr>
        <p:spPr>
          <a:xfrm>
            <a:off x="8595360" y="1965960"/>
            <a:ext cx="3017520" cy="731520"/>
          </a:xfrm>
          <a:prstGeom prst="rect">
            <a:avLst/>
          </a:prstGeom>
          <a:noFill/>
          <a:ln/>
        </p:spPr>
        <p:txBody>
          <a:bodyPr wrap="square" lIns="0" tIns="0" rIns="0" bIns="0" rtlCol="0" anchor="t"/>
          <a:lstStyle/>
          <a:p>
            <a:pPr algn="l" indent="0" marL="0">
              <a:buNone/>
            </a:pPr>
            <a:r>
              <a:rPr lang="en-US" sz="1300" dirty="0">
                <a:solidFill>
                  <a:schemeClr val="tx2"/>
                </a:solidFill>
              </a:rPr>
              <a:t>Vision AI, RFID, site QR and geo-fencing, in one record.</a:t>
            </a:r>
            <a:endParaRPr lang="en-US" sz="1300" dirty="0"/>
          </a:p>
        </p:txBody>
      </p:sp>
      <p:sp>
        <p:nvSpPr>
          <p:cNvPr id="15" name="qr-ray-63"/>
          <p:cNvSpPr/>
          <p:nvPr/>
        </p:nvSpPr>
        <p:spPr>
          <a:xfrm>
            <a:off x="7498080" y="1828800"/>
            <a:ext cx="365760" cy="0"/>
          </a:xfrm>
          <a:prstGeom prst="line">
            <a:avLst/>
          </a:prstGeom>
          <a:noFill/>
          <a:ln w="19050">
            <a:solidFill>
              <a:schemeClr val="accent1"/>
            </a:solidFill>
            <a:prstDash val="dash"/>
          </a:ln>
        </p:spPr>
      </p:sp>
      <p:sp>
        <p:nvSpPr>
          <p:cNvPr id="16" name="icon-circle-64"/>
          <p:cNvSpPr/>
          <p:nvPr/>
        </p:nvSpPr>
        <p:spPr>
          <a:xfrm>
            <a:off x="3794760" y="3063240"/>
            <a:ext cx="548640" cy="548640"/>
          </a:xfrm>
          <a:prstGeom prst="ellipse">
            <a:avLst/>
          </a:prstGeom>
          <a:solidFill>
            <a:schemeClr val="accent3"/>
          </a:solidFill>
          <a:ln w="12700">
            <a:solidFill>
              <a:schemeClr val="accent3"/>
            </a:solidFill>
            <a:prstDash val="solid"/>
          </a:ln>
        </p:spPr>
      </p:sp>
      <p:pic>
        <p:nvPicPr>
          <p:cNvPr id="17" name="icon-65" descr="preencoded.png">    </p:cNvPr>
          <p:cNvPicPr>
            <a:picLocks noChangeAspect="1"/>
          </p:cNvPicPr>
          <p:nvPr/>
        </p:nvPicPr>
        <p:blipFill>
          <a:blip r:embed="rId4"/>
          <a:stretch>
            <a:fillRect/>
          </a:stretch>
        </p:blipFill>
        <p:spPr>
          <a:xfrm>
            <a:off x="3926434" y="3194914"/>
            <a:ext cx="285293" cy="285293"/>
          </a:xfrm>
          <a:prstGeom prst="rect">
            <a:avLst/>
          </a:prstGeom>
        </p:spPr>
      </p:pic>
      <p:sp>
        <p:nvSpPr>
          <p:cNvPr id="18" name="Text 12"/>
          <p:cNvSpPr txBox="1"/>
          <p:nvPr/>
        </p:nvSpPr>
        <p:spPr>
          <a:xfrm>
            <a:off x="548640" y="3081528"/>
            <a:ext cx="3017520" cy="365760"/>
          </a:xfrm>
          <a:prstGeom prst="rect">
            <a:avLst/>
          </a:prstGeom>
          <a:noFill/>
          <a:ln/>
        </p:spPr>
        <p:txBody>
          <a:bodyPr wrap="square" lIns="0" tIns="0" rIns="0" bIns="0" rtlCol="0" anchor="t"/>
          <a:lstStyle/>
          <a:p>
            <a:pPr algn="r" indent="0" marL="0">
              <a:buNone/>
            </a:pPr>
            <a:r>
              <a:rPr lang="en-US" sz="1800" b="1" dirty="0">
                <a:solidFill>
                  <a:schemeClr val="tx1"/>
                </a:solidFill>
              </a:rPr>
              <a:t>Gate pass</a:t>
            </a:r>
            <a:endParaRPr lang="en-US" sz="1800" dirty="0"/>
          </a:p>
        </p:txBody>
      </p:sp>
      <p:sp>
        <p:nvSpPr>
          <p:cNvPr id="19" name="Text 13"/>
          <p:cNvSpPr txBox="1"/>
          <p:nvPr/>
        </p:nvSpPr>
        <p:spPr>
          <a:xfrm>
            <a:off x="548640" y="3474720"/>
            <a:ext cx="3017520" cy="731520"/>
          </a:xfrm>
          <a:prstGeom prst="rect">
            <a:avLst/>
          </a:prstGeom>
          <a:noFill/>
          <a:ln/>
        </p:spPr>
        <p:txBody>
          <a:bodyPr wrap="square" lIns="0" tIns="0" rIns="0" bIns="0" rtlCol="0" anchor="t"/>
          <a:lstStyle/>
          <a:p>
            <a:pPr algn="r" indent="0" marL="0">
              <a:buNone/>
            </a:pPr>
            <a:r>
              <a:rPr lang="en-US" sz="1300" dirty="0">
                <a:solidFill>
                  <a:schemeClr val="tx2"/>
                </a:solidFill>
              </a:rPr>
              <a:t>Only after induction, PPE, fitness and compliance clear.</a:t>
            </a:r>
            <a:endParaRPr lang="en-US" sz="1300" dirty="0"/>
          </a:p>
        </p:txBody>
      </p:sp>
      <p:sp>
        <p:nvSpPr>
          <p:cNvPr id="20" name="qr-ray-66"/>
          <p:cNvSpPr/>
          <p:nvPr/>
        </p:nvSpPr>
        <p:spPr>
          <a:xfrm>
            <a:off x="4343400" y="3337560"/>
            <a:ext cx="365760" cy="0"/>
          </a:xfrm>
          <a:prstGeom prst="line">
            <a:avLst/>
          </a:prstGeom>
          <a:noFill/>
          <a:ln w="19050">
            <a:solidFill>
              <a:schemeClr val="accent1"/>
            </a:solidFill>
            <a:prstDash val="dash"/>
          </a:ln>
        </p:spPr>
      </p:sp>
      <p:sp>
        <p:nvSpPr>
          <p:cNvPr id="21" name="icon-circle-67"/>
          <p:cNvSpPr/>
          <p:nvPr/>
        </p:nvSpPr>
        <p:spPr>
          <a:xfrm>
            <a:off x="7863840" y="3063240"/>
            <a:ext cx="548640" cy="548640"/>
          </a:xfrm>
          <a:prstGeom prst="ellipse">
            <a:avLst/>
          </a:prstGeom>
          <a:solidFill>
            <a:schemeClr val="tx2"/>
          </a:solidFill>
          <a:ln w="12700">
            <a:solidFill>
              <a:schemeClr val="tx2"/>
            </a:solidFill>
            <a:prstDash val="solid"/>
          </a:ln>
        </p:spPr>
      </p:sp>
      <p:pic>
        <p:nvPicPr>
          <p:cNvPr id="22" name="icon-68" descr="preencoded.png">    </p:cNvPr>
          <p:cNvPicPr>
            <a:picLocks noChangeAspect="1"/>
          </p:cNvPicPr>
          <p:nvPr/>
        </p:nvPicPr>
        <p:blipFill>
          <a:blip r:embed="rId5"/>
          <a:stretch>
            <a:fillRect/>
          </a:stretch>
        </p:blipFill>
        <p:spPr>
          <a:xfrm>
            <a:off x="7995514" y="3194914"/>
            <a:ext cx="285293" cy="285293"/>
          </a:xfrm>
          <a:prstGeom prst="rect">
            <a:avLst/>
          </a:prstGeom>
        </p:spPr>
      </p:pic>
      <p:sp>
        <p:nvSpPr>
          <p:cNvPr id="23" name="Text 16"/>
          <p:cNvSpPr txBox="1"/>
          <p:nvPr/>
        </p:nvSpPr>
        <p:spPr>
          <a:xfrm>
            <a:off x="8595360" y="3081528"/>
            <a:ext cx="3017520" cy="365760"/>
          </a:xfrm>
          <a:prstGeom prst="rect">
            <a:avLst/>
          </a:prstGeom>
          <a:noFill/>
          <a:ln/>
        </p:spPr>
        <p:txBody>
          <a:bodyPr wrap="square" lIns="0" tIns="0" rIns="0" bIns="0" rtlCol="0" anchor="t"/>
          <a:lstStyle/>
          <a:p>
            <a:pPr algn="l" indent="0" marL="0">
              <a:buNone/>
            </a:pPr>
            <a:r>
              <a:rPr lang="en-US" sz="1800" b="1" dirty="0">
                <a:solidFill>
                  <a:schemeClr val="tx1"/>
                </a:solidFill>
              </a:rPr>
              <a:t>Verification</a:t>
            </a:r>
            <a:endParaRPr lang="en-US" sz="1800" dirty="0"/>
          </a:p>
        </p:txBody>
      </p:sp>
      <p:sp>
        <p:nvSpPr>
          <p:cNvPr id="24" name="Text 17"/>
          <p:cNvSpPr txBox="1"/>
          <p:nvPr/>
        </p:nvSpPr>
        <p:spPr>
          <a:xfrm>
            <a:off x="8595360" y="3474720"/>
            <a:ext cx="3017520" cy="731520"/>
          </a:xfrm>
          <a:prstGeom prst="rect">
            <a:avLst/>
          </a:prstGeom>
          <a:noFill/>
          <a:ln/>
        </p:spPr>
        <p:txBody>
          <a:bodyPr wrap="square" lIns="0" tIns="0" rIns="0" bIns="0" rtlCol="0" anchor="t"/>
          <a:lstStyle/>
          <a:p>
            <a:pPr algn="l" indent="0" marL="0">
              <a:buNone/>
            </a:pPr>
            <a:r>
              <a:rPr lang="en-US" sz="1300" dirty="0">
                <a:solidFill>
                  <a:schemeClr val="tx2"/>
                </a:solidFill>
              </a:rPr>
              <a:t>Aadhaar, PAN, UAN, ESIC, bank, e-Shram, DigiLocker at source.</a:t>
            </a:r>
            <a:endParaRPr lang="en-US" sz="1300" dirty="0"/>
          </a:p>
        </p:txBody>
      </p:sp>
      <p:sp>
        <p:nvSpPr>
          <p:cNvPr id="25" name="qr-ray-69"/>
          <p:cNvSpPr/>
          <p:nvPr/>
        </p:nvSpPr>
        <p:spPr>
          <a:xfrm>
            <a:off x="7498080" y="3337560"/>
            <a:ext cx="365760" cy="0"/>
          </a:xfrm>
          <a:prstGeom prst="line">
            <a:avLst/>
          </a:prstGeom>
          <a:noFill/>
          <a:ln w="19050">
            <a:solidFill>
              <a:schemeClr val="accent1"/>
            </a:solidFill>
            <a:prstDash val="dash"/>
          </a:ln>
        </p:spPr>
      </p:sp>
      <p:sp>
        <p:nvSpPr>
          <p:cNvPr id="26" name="upi-vision"/>
          <p:cNvSpPr/>
          <p:nvPr/>
        </p:nvSpPr>
        <p:spPr>
          <a:xfrm>
            <a:off x="548640" y="4800600"/>
            <a:ext cx="11064240" cy="1097280"/>
          </a:xfrm>
          <a:prstGeom prst="roundRect">
            <a:avLst>
              <a:gd name="adj" fmla="val 10000"/>
            </a:avLst>
          </a:prstGeom>
          <a:solidFill>
            <a:schemeClr val="bg2"/>
          </a:solidFill>
          <a:ln w="12700">
            <a:solidFill>
              <a:schemeClr val="bg2"/>
            </a:solidFill>
            <a:prstDash val="solid"/>
          </a:ln>
        </p:spPr>
      </p:sp>
      <p:sp>
        <p:nvSpPr>
          <p:cNvPr id="27" name="Text 20"/>
          <p:cNvSpPr txBox="1"/>
          <p:nvPr/>
        </p:nvSpPr>
        <p:spPr>
          <a:xfrm>
            <a:off x="822960" y="4800600"/>
            <a:ext cx="10515600" cy="1097280"/>
          </a:xfrm>
          <a:prstGeom prst="rect">
            <a:avLst/>
          </a:prstGeom>
          <a:noFill/>
          <a:ln/>
        </p:spPr>
        <p:txBody>
          <a:bodyPr wrap="square" lIns="0" tIns="0" rIns="0" bIns="0" rtlCol="0" anchor="ctr"/>
          <a:lstStyle/>
          <a:p>
            <a:pPr indent="0" marL="0">
              <a:buNone/>
            </a:pPr>
            <a:r>
              <a:rPr lang="en-US" sz="2200" b="1" dirty="0">
                <a:solidFill>
                  <a:schemeClr val="tx2"/>
                </a:solidFill>
              </a:rPr>
              <a:t>Our vision: </a:t>
            </a:r>
            <a:pPr indent="0" marL="0">
              <a:buNone/>
            </a:pPr>
            <a:r>
              <a:rPr lang="en-US" sz="2200" b="1" dirty="0">
                <a:solidFill>
                  <a:schemeClr val="accent4"/>
                </a:solidFill>
              </a:rPr>
              <a:t>the UPI of compliance. </a:t>
            </a:r>
            <a:pPr indent="0" marL="0">
              <a:buNone/>
            </a:pPr>
            <a:r>
              <a:rPr lang="en-US" sz="1600" b="1" dirty="0">
                <a:solidFill>
                  <a:schemeClr val="tx2"/>
                </a:solidFill>
              </a:rPr>
              <a:t>One scan every worker carries, every site recognises and every authority can trust.</a:t>
            </a:r>
            <a:endParaRPr lang="en-US" sz="22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16 languages. No worker left out</a:t>
            </a:r>
            <a:endParaRPr lang="en-US" sz="3200" dirty="0"/>
          </a:p>
        </p:txBody>
      </p:sp>
      <p:sp>
        <p:nvSpPr>
          <p:cNvPr id="3" name="Text 1"/>
          <p:cNvSpPr txBox="1"/>
          <p:nvPr/>
        </p:nvSpPr>
        <p:spPr>
          <a:xfrm>
            <a:off x="548640" y="1417320"/>
            <a:ext cx="4023360" cy="1188720"/>
          </a:xfrm>
          <a:prstGeom prst="rect">
            <a:avLst/>
          </a:prstGeom>
          <a:noFill/>
          <a:ln/>
        </p:spPr>
        <p:txBody>
          <a:bodyPr wrap="square" lIns="0" tIns="0" rIns="0" bIns="0" rtlCol="0" anchor="t"/>
          <a:lstStyle/>
          <a:p>
            <a:pPr indent="0" marL="0">
              <a:buNone/>
            </a:pPr>
            <a:r>
              <a:rPr lang="en-US" sz="1800" b="1" dirty="0">
                <a:solidFill>
                  <a:schemeClr val="accent1"/>
                </a:solidFill>
              </a:rPr>
              <a:t>Our USP: </a:t>
            </a:r>
            <a:pPr indent="0" marL="0">
              <a:buNone/>
            </a:pPr>
            <a:r>
              <a:rPr lang="en-US" sz="1800" b="1" dirty="0">
                <a:solidFill>
                  <a:schemeClr val="bg1"/>
                </a:solidFill>
              </a:rPr>
              <a:t>no one else speaks to India’s workforce in 16 Indian languages, with a voice guide.</a:t>
            </a:r>
            <a:endParaRPr lang="en-US" sz="1800" dirty="0"/>
          </a:p>
        </p:txBody>
      </p:sp>
      <p:sp>
        <p:nvSpPr>
          <p:cNvPr id="4" name="Text 2"/>
          <p:cNvSpPr txBox="1"/>
          <p:nvPr/>
        </p:nvSpPr>
        <p:spPr>
          <a:xfrm>
            <a:off x="548640" y="2743200"/>
            <a:ext cx="4023360" cy="1463040"/>
          </a:xfrm>
          <a:prstGeom prst="rect">
            <a:avLst/>
          </a:prstGeom>
          <a:noFill/>
          <a:ln/>
        </p:spPr>
        <p:txBody>
          <a:bodyPr wrap="square" lIns="0" tIns="0" rIns="0" bIns="0" rtlCol="0" anchor="t"/>
          <a:lstStyle/>
          <a:p>
            <a:pPr indent="0" marL="0">
              <a:buNone/>
            </a:pPr>
            <a:r>
              <a:rPr lang="en-US" sz="1400" dirty="0">
                <a:solidFill>
                  <a:schemeClr val="bg2"/>
                </a:solidFill>
              </a:rPr>
              <a:t>A worker from Odisha on a site in Gujarat should never sign something they cannot read. Every screen, alert and grievance works in the worker’s own language, from Kashmir to Kanyakumari.</a:t>
            </a:r>
            <a:endParaRPr lang="en-US" sz="1400" dirty="0"/>
          </a:p>
        </p:txBody>
      </p:sp>
      <p:sp>
        <p:nvSpPr>
          <p:cNvPr id="5" name="Text 3"/>
          <p:cNvSpPr txBox="1"/>
          <p:nvPr/>
        </p:nvSpPr>
        <p:spPr>
          <a:xfrm>
            <a:off x="548640" y="4389120"/>
            <a:ext cx="4023360" cy="1188720"/>
          </a:xfrm>
          <a:prstGeom prst="rect">
            <a:avLst/>
          </a:prstGeom>
          <a:noFill/>
          <a:ln/>
        </p:spPr>
        <p:txBody>
          <a:bodyPr wrap="square" lIns="0" tIns="0" rIns="0" bIns="0" rtlCol="0" anchor="t"/>
          <a:lstStyle/>
          <a:p>
            <a:pPr indent="0" marL="0">
              <a:buNone/>
            </a:pPr>
            <a:r>
              <a:rPr lang="en-US" sz="1200" dirty="0">
                <a:solidFill>
                  <a:schemeClr val="accent6"/>
                </a:solidFill>
              </a:rPr>
              <a:t>Hindi · Bengali · Telugu · Marathi · Tamil · Urdu · Gujarati · Kannada · Odia · Malayalam · Punjabi · Assamese · Maithili · Santali · Kashmiri · English</a:t>
            </a:r>
            <a:endParaRPr lang="en-US" sz="1200" dirty="0"/>
          </a:p>
        </p:txBody>
      </p:sp>
      <p:sp>
        <p:nvSpPr>
          <p:cNvPr id="6" name="language-wall-frame-70"/>
          <p:cNvSpPr/>
          <p:nvPr/>
        </p:nvSpPr>
        <p:spPr>
          <a:xfrm>
            <a:off x="4846320" y="1417320"/>
            <a:ext cx="6766560" cy="4572000"/>
          </a:xfrm>
          <a:prstGeom prst="roundRect">
            <a:avLst>
              <a:gd name="adj" fmla="val 2400"/>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7" name="language-wall-71" descr="preencoded.png">    </p:cNvPr>
          <p:cNvPicPr>
            <a:picLocks noChangeAspect="1"/>
          </p:cNvPicPr>
          <p:nvPr/>
        </p:nvPicPr>
        <p:blipFill>
          <a:blip r:embed="rId1"/>
          <a:srcRect l="0" r="0" t="0" b="0"/>
          <a:stretch/>
        </p:blipFill>
        <p:spPr>
          <a:xfrm>
            <a:off x="4919472" y="1490472"/>
            <a:ext cx="6620256" cy="4425696"/>
          </a:xfrm>
          <a:prstGeom prst="rect">
            <a:avLst/>
          </a:prstGeom>
        </p:spPr>
      </p:pic>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One identity that travels with the worker</a:t>
            </a:r>
            <a:endParaRPr lang="en-US" sz="3200" dirty="0"/>
          </a:p>
        </p:txBody>
      </p:sp>
      <p:sp>
        <p:nvSpPr>
          <p:cNvPr id="3" name="icon-circle-72"/>
          <p:cNvSpPr/>
          <p:nvPr/>
        </p:nvSpPr>
        <p:spPr>
          <a:xfrm>
            <a:off x="548640" y="1508760"/>
            <a:ext cx="585216" cy="585216"/>
          </a:xfrm>
          <a:prstGeom prst="ellipse">
            <a:avLst/>
          </a:prstGeom>
          <a:solidFill>
            <a:schemeClr val="accent1"/>
          </a:solidFill>
          <a:ln w="12700">
            <a:solidFill>
              <a:schemeClr val="accent1"/>
            </a:solidFill>
            <a:prstDash val="solid"/>
          </a:ln>
        </p:spPr>
      </p:sp>
      <p:pic>
        <p:nvPicPr>
          <p:cNvPr id="4" name="icon-73" descr="preencoded.png">    </p:cNvPr>
          <p:cNvPicPr>
            <a:picLocks noChangeAspect="1"/>
          </p:cNvPicPr>
          <p:nvPr/>
        </p:nvPicPr>
        <p:blipFill>
          <a:blip r:embed="rId1"/>
          <a:stretch>
            <a:fillRect/>
          </a:stretch>
        </p:blipFill>
        <p:spPr>
          <a:xfrm>
            <a:off x="689092" y="1649212"/>
            <a:ext cx="304312" cy="304312"/>
          </a:xfrm>
          <a:prstGeom prst="rect">
            <a:avLst/>
          </a:prstGeom>
        </p:spPr>
      </p:pic>
      <p:sp>
        <p:nvSpPr>
          <p:cNvPr id="5" name="Text 2"/>
          <p:cNvSpPr txBox="1"/>
          <p:nvPr/>
        </p:nvSpPr>
        <p:spPr>
          <a:xfrm>
            <a:off x="1371600" y="1490472"/>
            <a:ext cx="4754880" cy="365760"/>
          </a:xfrm>
          <a:prstGeom prst="rect">
            <a:avLst/>
          </a:prstGeom>
          <a:noFill/>
          <a:ln/>
        </p:spPr>
        <p:txBody>
          <a:bodyPr wrap="square" lIns="0" tIns="0" rIns="0" bIns="0" rtlCol="0" anchor="t"/>
          <a:lstStyle/>
          <a:p>
            <a:pPr indent="0" marL="0">
              <a:buNone/>
            </a:pPr>
            <a:r>
              <a:rPr lang="en-US" sz="1800" b="1" dirty="0">
                <a:solidFill>
                  <a:schemeClr val="tx1"/>
                </a:solidFill>
              </a:rPr>
              <a:t>Portable identity</a:t>
            </a:r>
            <a:endParaRPr lang="en-US" sz="1800" dirty="0"/>
          </a:p>
        </p:txBody>
      </p:sp>
      <p:sp>
        <p:nvSpPr>
          <p:cNvPr id="6" name="Text 3"/>
          <p:cNvSpPr txBox="1"/>
          <p:nvPr/>
        </p:nvSpPr>
        <p:spPr>
          <a:xfrm>
            <a:off x="1371600" y="1874520"/>
            <a:ext cx="4754880" cy="914400"/>
          </a:xfrm>
          <a:prstGeom prst="rect">
            <a:avLst/>
          </a:prstGeom>
          <a:noFill/>
          <a:ln/>
        </p:spPr>
        <p:txBody>
          <a:bodyPr wrap="square" lIns="0" tIns="0" rIns="0" bIns="0" rtlCol="0" anchor="t"/>
          <a:lstStyle/>
          <a:p>
            <a:pPr indent="0" marL="0">
              <a:buNone/>
            </a:pPr>
            <a:r>
              <a:rPr lang="en-US" sz="1400" dirty="0">
                <a:solidFill>
                  <a:schemeClr val="tx2"/>
                </a:solidFill>
              </a:rPr>
              <a:t>Across employers, contractors and locations. Verified documents, training and history move with the worker; nothing is collected twice.</a:t>
            </a:r>
            <a:endParaRPr lang="en-US" sz="1400" dirty="0"/>
          </a:p>
        </p:txBody>
      </p:sp>
      <p:sp>
        <p:nvSpPr>
          <p:cNvPr id="7" name="icon-circle-74"/>
          <p:cNvSpPr/>
          <p:nvPr/>
        </p:nvSpPr>
        <p:spPr>
          <a:xfrm>
            <a:off x="548640" y="2971800"/>
            <a:ext cx="585216" cy="585216"/>
          </a:xfrm>
          <a:prstGeom prst="ellipse">
            <a:avLst/>
          </a:prstGeom>
          <a:solidFill>
            <a:schemeClr val="accent2"/>
          </a:solidFill>
          <a:ln w="12700">
            <a:solidFill>
              <a:schemeClr val="accent2"/>
            </a:solidFill>
            <a:prstDash val="solid"/>
          </a:ln>
        </p:spPr>
      </p:sp>
      <p:pic>
        <p:nvPicPr>
          <p:cNvPr id="8" name="icon-75" descr="preencoded.png">    </p:cNvPr>
          <p:cNvPicPr>
            <a:picLocks noChangeAspect="1"/>
          </p:cNvPicPr>
          <p:nvPr/>
        </p:nvPicPr>
        <p:blipFill>
          <a:blip r:embed="rId2"/>
          <a:stretch>
            <a:fillRect/>
          </a:stretch>
        </p:blipFill>
        <p:spPr>
          <a:xfrm>
            <a:off x="689092" y="3112252"/>
            <a:ext cx="304312" cy="304312"/>
          </a:xfrm>
          <a:prstGeom prst="rect">
            <a:avLst/>
          </a:prstGeom>
        </p:spPr>
      </p:pic>
      <p:sp>
        <p:nvSpPr>
          <p:cNvPr id="9" name="Text 5"/>
          <p:cNvSpPr txBox="1"/>
          <p:nvPr/>
        </p:nvSpPr>
        <p:spPr>
          <a:xfrm>
            <a:off x="1371600" y="2953512"/>
            <a:ext cx="4754880" cy="365760"/>
          </a:xfrm>
          <a:prstGeom prst="rect">
            <a:avLst/>
          </a:prstGeom>
          <a:noFill/>
          <a:ln/>
        </p:spPr>
        <p:txBody>
          <a:bodyPr wrap="square" lIns="0" tIns="0" rIns="0" bIns="0" rtlCol="0" anchor="t"/>
          <a:lstStyle/>
          <a:p>
            <a:pPr indent="0" marL="0">
              <a:buNone/>
            </a:pPr>
            <a:r>
              <a:rPr lang="en-US" sz="1800" b="1" dirty="0">
                <a:solidFill>
                  <a:schemeClr val="tx1"/>
                </a:solidFill>
              </a:rPr>
              <a:t>Primary and secondary contractors</a:t>
            </a:r>
            <a:endParaRPr lang="en-US" sz="1800" dirty="0"/>
          </a:p>
        </p:txBody>
      </p:sp>
      <p:sp>
        <p:nvSpPr>
          <p:cNvPr id="10" name="Text 6"/>
          <p:cNvSpPr txBox="1"/>
          <p:nvPr/>
        </p:nvSpPr>
        <p:spPr>
          <a:xfrm>
            <a:off x="1371600" y="3337560"/>
            <a:ext cx="4754880" cy="914400"/>
          </a:xfrm>
          <a:prstGeom prst="rect">
            <a:avLst/>
          </a:prstGeom>
          <a:noFill/>
          <a:ln/>
        </p:spPr>
        <p:txBody>
          <a:bodyPr wrap="square" lIns="0" tIns="0" rIns="0" bIns="0" rtlCol="0" anchor="t"/>
          <a:lstStyle/>
          <a:p>
            <a:pPr indent="0" marL="0">
              <a:buNone/>
            </a:pPr>
            <a:r>
              <a:rPr lang="en-US" sz="1400" dirty="0">
                <a:solidFill>
                  <a:schemeClr val="tx2"/>
                </a:solidFill>
              </a:rPr>
              <a:t>The full chain is recorded, so accountability never slips between a contractor and a sub-contractor.</a:t>
            </a:r>
            <a:endParaRPr lang="en-US" sz="1400" dirty="0"/>
          </a:p>
        </p:txBody>
      </p:sp>
      <p:sp>
        <p:nvSpPr>
          <p:cNvPr id="11" name="icon-circle-76"/>
          <p:cNvSpPr/>
          <p:nvPr/>
        </p:nvSpPr>
        <p:spPr>
          <a:xfrm>
            <a:off x="548640" y="4434840"/>
            <a:ext cx="585216" cy="585216"/>
          </a:xfrm>
          <a:prstGeom prst="ellipse">
            <a:avLst/>
          </a:prstGeom>
          <a:solidFill>
            <a:schemeClr val="accent3"/>
          </a:solidFill>
          <a:ln w="12700">
            <a:solidFill>
              <a:schemeClr val="accent3"/>
            </a:solidFill>
            <a:prstDash val="solid"/>
          </a:ln>
        </p:spPr>
      </p:sp>
      <p:pic>
        <p:nvPicPr>
          <p:cNvPr id="12" name="icon-77" descr="preencoded.png">    </p:cNvPr>
          <p:cNvPicPr>
            <a:picLocks noChangeAspect="1"/>
          </p:cNvPicPr>
          <p:nvPr/>
        </p:nvPicPr>
        <p:blipFill>
          <a:blip r:embed="rId3"/>
          <a:stretch>
            <a:fillRect/>
          </a:stretch>
        </p:blipFill>
        <p:spPr>
          <a:xfrm>
            <a:off x="689092" y="4575292"/>
            <a:ext cx="304312" cy="304312"/>
          </a:xfrm>
          <a:prstGeom prst="rect">
            <a:avLst/>
          </a:prstGeom>
        </p:spPr>
      </p:pic>
      <p:sp>
        <p:nvSpPr>
          <p:cNvPr id="13" name="Text 8"/>
          <p:cNvSpPr txBox="1"/>
          <p:nvPr/>
        </p:nvSpPr>
        <p:spPr>
          <a:xfrm>
            <a:off x="1371600" y="4416552"/>
            <a:ext cx="4754880" cy="365760"/>
          </a:xfrm>
          <a:prstGeom prst="rect">
            <a:avLst/>
          </a:prstGeom>
          <a:noFill/>
          <a:ln/>
        </p:spPr>
        <p:txBody>
          <a:bodyPr wrap="square" lIns="0" tIns="0" rIns="0" bIns="0" rtlCol="0" anchor="t"/>
          <a:lstStyle/>
          <a:p>
            <a:pPr indent="0" marL="0">
              <a:buNone/>
            </a:pPr>
            <a:r>
              <a:rPr lang="en-US" sz="1800" b="1" dirty="0">
                <a:solidFill>
                  <a:schemeClr val="tx1"/>
                </a:solidFill>
              </a:rPr>
              <a:t>Aligned with the new Labour Codes</a:t>
            </a:r>
            <a:endParaRPr lang="en-US" sz="1800" dirty="0"/>
          </a:p>
        </p:txBody>
      </p:sp>
      <p:sp>
        <p:nvSpPr>
          <p:cNvPr id="14" name="Text 9"/>
          <p:cNvSpPr txBox="1"/>
          <p:nvPr/>
        </p:nvSpPr>
        <p:spPr>
          <a:xfrm>
            <a:off x="1371600" y="4800600"/>
            <a:ext cx="4754880" cy="914400"/>
          </a:xfrm>
          <a:prstGeom prst="rect">
            <a:avLst/>
          </a:prstGeom>
          <a:noFill/>
          <a:ln/>
        </p:spPr>
        <p:txBody>
          <a:bodyPr wrap="square" lIns="0" tIns="0" rIns="0" bIns="0" rtlCol="0" anchor="t"/>
          <a:lstStyle/>
          <a:p>
            <a:pPr indent="0" marL="0">
              <a:buNone/>
            </a:pPr>
            <a:r>
              <a:rPr lang="en-US" sz="1400" dirty="0">
                <a:solidFill>
                  <a:schemeClr val="tx2"/>
                </a:solidFill>
              </a:rPr>
              <a:t>Wages, Social Security, OSH and Industrial Relations codes, layered with state rules, applied almost automatically.</a:t>
            </a:r>
            <a:endParaRPr lang="en-US" sz="1400" dirty="0"/>
          </a:p>
        </p:txBody>
      </p:sp>
      <p:sp>
        <p:nvSpPr>
          <p:cNvPr id="15" name="identity-history-frame-78"/>
          <p:cNvSpPr/>
          <p:nvPr/>
        </p:nvSpPr>
        <p:spPr>
          <a:xfrm>
            <a:off x="6400800" y="1371600"/>
            <a:ext cx="5212080" cy="4572000"/>
          </a:xfrm>
          <a:prstGeom prst="roundRect">
            <a:avLst>
              <a:gd name="adj" fmla="val 2400"/>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16" name="identity-history-79" descr="preencoded.png">    </p:cNvPr>
          <p:cNvPicPr>
            <a:picLocks noChangeAspect="1"/>
          </p:cNvPicPr>
          <p:nvPr/>
        </p:nvPicPr>
        <p:blipFill>
          <a:blip r:embed="rId4"/>
          <a:srcRect l="0" r="0" t="0" b="0"/>
          <a:stretch/>
        </p:blipFill>
        <p:spPr>
          <a:xfrm>
            <a:off x="6473952" y="1444752"/>
            <a:ext cx="5065776" cy="4425696"/>
          </a:xfrm>
          <a:prstGeom prst="rect">
            <a:avLst/>
          </a:prstGeom>
        </p:spPr>
      </p:pic>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Identity, binding and attendance at the gate</a:t>
            </a:r>
            <a:endParaRPr lang="en-US" sz="3200" dirty="0"/>
          </a:p>
        </p:txBody>
      </p:sp>
      <p:sp>
        <p:nvSpPr>
          <p:cNvPr id="3" name="icon-circle-80"/>
          <p:cNvSpPr/>
          <p:nvPr/>
        </p:nvSpPr>
        <p:spPr>
          <a:xfrm>
            <a:off x="548640" y="1508760"/>
            <a:ext cx="585216" cy="585216"/>
          </a:xfrm>
          <a:prstGeom prst="ellipse">
            <a:avLst/>
          </a:prstGeom>
          <a:solidFill>
            <a:schemeClr val="accent1"/>
          </a:solidFill>
          <a:ln w="12700">
            <a:solidFill>
              <a:schemeClr val="accent1"/>
            </a:solidFill>
            <a:prstDash val="solid"/>
          </a:ln>
        </p:spPr>
      </p:sp>
      <p:pic>
        <p:nvPicPr>
          <p:cNvPr id="4" name="icon-81" descr="preencoded.png">    </p:cNvPr>
          <p:cNvPicPr>
            <a:picLocks noChangeAspect="1"/>
          </p:cNvPicPr>
          <p:nvPr/>
        </p:nvPicPr>
        <p:blipFill>
          <a:blip r:embed="rId1"/>
          <a:stretch>
            <a:fillRect/>
          </a:stretch>
        </p:blipFill>
        <p:spPr>
          <a:xfrm>
            <a:off x="689092" y="1649212"/>
            <a:ext cx="304312" cy="304312"/>
          </a:xfrm>
          <a:prstGeom prst="rect">
            <a:avLst/>
          </a:prstGeom>
        </p:spPr>
      </p:pic>
      <p:sp>
        <p:nvSpPr>
          <p:cNvPr id="5" name="Text 2"/>
          <p:cNvSpPr txBox="1"/>
          <p:nvPr/>
        </p:nvSpPr>
        <p:spPr>
          <a:xfrm>
            <a:off x="1371600" y="1490472"/>
            <a:ext cx="4023360" cy="365760"/>
          </a:xfrm>
          <a:prstGeom prst="rect">
            <a:avLst/>
          </a:prstGeom>
          <a:noFill/>
          <a:ln/>
        </p:spPr>
        <p:txBody>
          <a:bodyPr wrap="square" lIns="0" tIns="0" rIns="0" bIns="0" rtlCol="0" anchor="t"/>
          <a:lstStyle/>
          <a:p>
            <a:pPr indent="0" marL="0">
              <a:buNone/>
            </a:pPr>
            <a:r>
              <a:rPr lang="en-US" sz="1800" b="1" dirty="0">
                <a:solidFill>
                  <a:schemeClr val="tx1"/>
                </a:solidFill>
              </a:rPr>
              <a:t>QR binding and unbinding</a:t>
            </a:r>
            <a:endParaRPr lang="en-US" sz="1800" dirty="0"/>
          </a:p>
        </p:txBody>
      </p:sp>
      <p:sp>
        <p:nvSpPr>
          <p:cNvPr id="6" name="Text 3"/>
          <p:cNvSpPr txBox="1"/>
          <p:nvPr/>
        </p:nvSpPr>
        <p:spPr>
          <a:xfrm>
            <a:off x="1371600" y="1874520"/>
            <a:ext cx="4023360" cy="868680"/>
          </a:xfrm>
          <a:prstGeom prst="rect">
            <a:avLst/>
          </a:prstGeom>
          <a:noFill/>
          <a:ln/>
        </p:spPr>
        <p:txBody>
          <a:bodyPr wrap="square" lIns="0" tIns="0" rIns="0" bIns="0" rtlCol="0" anchor="t"/>
          <a:lstStyle/>
          <a:p>
            <a:pPr indent="0" marL="0">
              <a:buNone/>
            </a:pPr>
            <a:r>
              <a:rPr lang="en-US" sz="1400" dirty="0">
                <a:solidFill>
                  <a:schemeClr val="tx2"/>
                </a:solidFill>
              </a:rPr>
              <a:t>Scan to bind with dual consent and IVR/OTP fallback. Release with an end date; re-binding needs the worker’s MPIN.</a:t>
            </a:r>
            <a:endParaRPr lang="en-US" sz="1400" dirty="0"/>
          </a:p>
        </p:txBody>
      </p:sp>
      <p:sp>
        <p:nvSpPr>
          <p:cNvPr id="7" name="icon-circle-82"/>
          <p:cNvSpPr/>
          <p:nvPr/>
        </p:nvSpPr>
        <p:spPr>
          <a:xfrm>
            <a:off x="548640" y="2926080"/>
            <a:ext cx="585216" cy="585216"/>
          </a:xfrm>
          <a:prstGeom prst="ellipse">
            <a:avLst/>
          </a:prstGeom>
          <a:solidFill>
            <a:schemeClr val="accent2"/>
          </a:solidFill>
          <a:ln w="12700">
            <a:solidFill>
              <a:schemeClr val="accent2"/>
            </a:solidFill>
            <a:prstDash val="solid"/>
          </a:ln>
        </p:spPr>
      </p:sp>
      <p:pic>
        <p:nvPicPr>
          <p:cNvPr id="8" name="icon-83" descr="preencoded.png">    </p:cNvPr>
          <p:cNvPicPr>
            <a:picLocks noChangeAspect="1"/>
          </p:cNvPicPr>
          <p:nvPr/>
        </p:nvPicPr>
        <p:blipFill>
          <a:blip r:embed="rId2"/>
          <a:stretch>
            <a:fillRect/>
          </a:stretch>
        </p:blipFill>
        <p:spPr>
          <a:xfrm>
            <a:off x="689092" y="3066532"/>
            <a:ext cx="304312" cy="304312"/>
          </a:xfrm>
          <a:prstGeom prst="rect">
            <a:avLst/>
          </a:prstGeom>
        </p:spPr>
      </p:pic>
      <p:sp>
        <p:nvSpPr>
          <p:cNvPr id="9" name="Text 5"/>
          <p:cNvSpPr txBox="1"/>
          <p:nvPr/>
        </p:nvSpPr>
        <p:spPr>
          <a:xfrm>
            <a:off x="1371600" y="2907792"/>
            <a:ext cx="4023360" cy="365760"/>
          </a:xfrm>
          <a:prstGeom prst="rect">
            <a:avLst/>
          </a:prstGeom>
          <a:noFill/>
          <a:ln/>
        </p:spPr>
        <p:txBody>
          <a:bodyPr wrap="square" lIns="0" tIns="0" rIns="0" bIns="0" rtlCol="0" anchor="t"/>
          <a:lstStyle/>
          <a:p>
            <a:pPr indent="0" marL="0">
              <a:buNone/>
            </a:pPr>
            <a:r>
              <a:rPr lang="en-US" sz="1800" b="1" dirty="0">
                <a:solidFill>
                  <a:schemeClr val="tx1"/>
                </a:solidFill>
              </a:rPr>
              <a:t>Four ways to mark attendance</a:t>
            </a:r>
            <a:endParaRPr lang="en-US" sz="1800" dirty="0"/>
          </a:p>
        </p:txBody>
      </p:sp>
      <p:sp>
        <p:nvSpPr>
          <p:cNvPr id="10" name="Text 6"/>
          <p:cNvSpPr txBox="1"/>
          <p:nvPr/>
        </p:nvSpPr>
        <p:spPr>
          <a:xfrm>
            <a:off x="1371600" y="3291840"/>
            <a:ext cx="4023360" cy="868680"/>
          </a:xfrm>
          <a:prstGeom prst="rect">
            <a:avLst/>
          </a:prstGeom>
          <a:noFill/>
          <a:ln/>
        </p:spPr>
        <p:txBody>
          <a:bodyPr wrap="square" lIns="0" tIns="0" rIns="0" bIns="0" rtlCol="0" anchor="t"/>
          <a:lstStyle/>
          <a:p>
            <a:pPr indent="0" marL="0">
              <a:buNone/>
            </a:pPr>
            <a:r>
              <a:rPr lang="en-US" sz="1400" dirty="0">
                <a:solidFill>
                  <a:schemeClr val="tx2"/>
                </a:solidFill>
              </a:rPr>
              <a:t>Vision AI face recognition, RFID tap, site-specific QR and geo-fencing, with Excel upload as a fallback, in one daily record.</a:t>
            </a:r>
            <a:endParaRPr lang="en-US" sz="1400" dirty="0"/>
          </a:p>
        </p:txBody>
      </p:sp>
      <p:sp>
        <p:nvSpPr>
          <p:cNvPr id="11" name="icon-circle-84"/>
          <p:cNvSpPr/>
          <p:nvPr/>
        </p:nvSpPr>
        <p:spPr>
          <a:xfrm>
            <a:off x="548640" y="4343400"/>
            <a:ext cx="585216" cy="585216"/>
          </a:xfrm>
          <a:prstGeom prst="ellipse">
            <a:avLst/>
          </a:prstGeom>
          <a:solidFill>
            <a:schemeClr val="accent3"/>
          </a:solidFill>
          <a:ln w="12700">
            <a:solidFill>
              <a:schemeClr val="accent3"/>
            </a:solidFill>
            <a:prstDash val="solid"/>
          </a:ln>
        </p:spPr>
      </p:sp>
      <p:pic>
        <p:nvPicPr>
          <p:cNvPr id="12" name="icon-85" descr="preencoded.png">    </p:cNvPr>
          <p:cNvPicPr>
            <a:picLocks noChangeAspect="1"/>
          </p:cNvPicPr>
          <p:nvPr/>
        </p:nvPicPr>
        <p:blipFill>
          <a:blip r:embed="rId3"/>
          <a:stretch>
            <a:fillRect/>
          </a:stretch>
        </p:blipFill>
        <p:spPr>
          <a:xfrm>
            <a:off x="689092" y="4483852"/>
            <a:ext cx="304312" cy="304312"/>
          </a:xfrm>
          <a:prstGeom prst="rect">
            <a:avLst/>
          </a:prstGeom>
        </p:spPr>
      </p:pic>
      <p:sp>
        <p:nvSpPr>
          <p:cNvPr id="13" name="Text 8"/>
          <p:cNvSpPr txBox="1"/>
          <p:nvPr/>
        </p:nvSpPr>
        <p:spPr>
          <a:xfrm>
            <a:off x="1371600" y="4325112"/>
            <a:ext cx="4023360" cy="365760"/>
          </a:xfrm>
          <a:prstGeom prst="rect">
            <a:avLst/>
          </a:prstGeom>
          <a:noFill/>
          <a:ln/>
        </p:spPr>
        <p:txBody>
          <a:bodyPr wrap="square" lIns="0" tIns="0" rIns="0" bIns="0" rtlCol="0" anchor="t"/>
          <a:lstStyle/>
          <a:p>
            <a:pPr indent="0" marL="0">
              <a:buNone/>
            </a:pPr>
            <a:r>
              <a:rPr lang="en-US" sz="1800" b="1" dirty="0">
                <a:solidFill>
                  <a:schemeClr val="tx1"/>
                </a:solidFill>
              </a:rPr>
              <a:t>BharatShramSetu ID card</a:t>
            </a:r>
            <a:endParaRPr lang="en-US" sz="1800" dirty="0"/>
          </a:p>
        </p:txBody>
      </p:sp>
      <p:sp>
        <p:nvSpPr>
          <p:cNvPr id="14" name="Text 9"/>
          <p:cNvSpPr txBox="1"/>
          <p:nvPr/>
        </p:nvSpPr>
        <p:spPr>
          <a:xfrm>
            <a:off x="1371600" y="4709160"/>
            <a:ext cx="4023360" cy="868680"/>
          </a:xfrm>
          <a:prstGeom prst="rect">
            <a:avLst/>
          </a:prstGeom>
          <a:noFill/>
          <a:ln/>
        </p:spPr>
        <p:txBody>
          <a:bodyPr wrap="square" lIns="0" tIns="0" rIns="0" bIns="0" rtlCol="0" anchor="t"/>
          <a:lstStyle/>
          <a:p>
            <a:pPr indent="0" marL="0">
              <a:buNone/>
            </a:pPr>
            <a:r>
              <a:rPr lang="en-US" sz="1400" dirty="0">
                <a:solidFill>
                  <a:schemeClr val="tx2"/>
                </a:solidFill>
              </a:rPr>
              <a:t>CR-80 card with photo, QR verification and RFID. Identity and history move with the worker.</a:t>
            </a:r>
            <a:endParaRPr lang="en-US" sz="1400" dirty="0"/>
          </a:p>
        </p:txBody>
      </p:sp>
      <p:sp>
        <p:nvSpPr>
          <p:cNvPr id="15" name="attendance-console-frame-86"/>
          <p:cNvSpPr/>
          <p:nvPr/>
        </p:nvSpPr>
        <p:spPr>
          <a:xfrm>
            <a:off x="5669280" y="1371600"/>
            <a:ext cx="3246120" cy="3429000"/>
          </a:xfrm>
          <a:prstGeom prst="roundRect">
            <a:avLst>
              <a:gd name="adj" fmla="val 3380"/>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16" name="attendance-console-87" descr="preencoded.png">    </p:cNvPr>
          <p:cNvPicPr>
            <a:picLocks noChangeAspect="1"/>
          </p:cNvPicPr>
          <p:nvPr/>
        </p:nvPicPr>
        <p:blipFill>
          <a:blip r:embed="rId4"/>
          <a:srcRect l="0" r="0" t="0" b="0"/>
          <a:stretch/>
        </p:blipFill>
        <p:spPr>
          <a:xfrm>
            <a:off x="5742432" y="1444752"/>
            <a:ext cx="3099816" cy="3282696"/>
          </a:xfrm>
          <a:prstGeom prst="rect">
            <a:avLst/>
          </a:prstGeom>
        </p:spPr>
      </p:pic>
      <p:sp>
        <p:nvSpPr>
          <p:cNvPr id="17" name="id-card-frame-88"/>
          <p:cNvSpPr/>
          <p:nvPr/>
        </p:nvSpPr>
        <p:spPr>
          <a:xfrm>
            <a:off x="9098280" y="1371600"/>
            <a:ext cx="2514600" cy="1325880"/>
          </a:xfrm>
          <a:prstGeom prst="roundRect">
            <a:avLst>
              <a:gd name="adj" fmla="val 8276"/>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18" name="id-card-89" descr="preencoded.png">    </p:cNvPr>
          <p:cNvPicPr>
            <a:picLocks noChangeAspect="1"/>
          </p:cNvPicPr>
          <p:nvPr/>
        </p:nvPicPr>
        <p:blipFill>
          <a:blip r:embed="rId5"/>
          <a:srcRect l="0" r="0" t="0" b="0"/>
          <a:stretch/>
        </p:blipFill>
        <p:spPr>
          <a:xfrm>
            <a:off x="9171432" y="1444752"/>
            <a:ext cx="2368296" cy="1179576"/>
          </a:xfrm>
          <a:prstGeom prst="rect">
            <a:avLst/>
          </a:prstGeom>
        </p:spPr>
      </p:pic>
      <p:sp>
        <p:nvSpPr>
          <p:cNvPr id="19" name="binding-console-frame-90"/>
          <p:cNvSpPr/>
          <p:nvPr/>
        </p:nvSpPr>
        <p:spPr>
          <a:xfrm>
            <a:off x="9098280" y="2880360"/>
            <a:ext cx="2514600" cy="1920240"/>
          </a:xfrm>
          <a:prstGeom prst="roundRect">
            <a:avLst>
              <a:gd name="adj" fmla="val 5714"/>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20" name="binding-console-91" descr="preencoded.png">    </p:cNvPr>
          <p:cNvPicPr>
            <a:picLocks noChangeAspect="1"/>
          </p:cNvPicPr>
          <p:nvPr/>
        </p:nvPicPr>
        <p:blipFill>
          <a:blip r:embed="rId6"/>
          <a:srcRect l="0" r="0" t="0" b="0"/>
          <a:stretch/>
        </p:blipFill>
        <p:spPr>
          <a:xfrm>
            <a:off x="9171432" y="2953512"/>
            <a:ext cx="2368296" cy="1773936"/>
          </a:xfrm>
          <a:prstGeom prst="rect">
            <a:avLst/>
          </a:prstGeom>
        </p:spPr>
      </p:pic>
      <p:sp>
        <p:nvSpPr>
          <p:cNvPr id="21" name="Text 13"/>
          <p:cNvSpPr txBox="1"/>
          <p:nvPr/>
        </p:nvSpPr>
        <p:spPr>
          <a:xfrm>
            <a:off x="5669280" y="4983480"/>
            <a:ext cx="5943600" cy="274320"/>
          </a:xfrm>
          <a:prstGeom prst="rect">
            <a:avLst/>
          </a:prstGeom>
          <a:noFill/>
          <a:ln/>
        </p:spPr>
        <p:txBody>
          <a:bodyPr wrap="square" lIns="0" tIns="0" rIns="0" bIns="0" rtlCol="0" anchor="t"/>
          <a:lstStyle/>
          <a:p>
            <a:pPr indent="0" marL="0">
              <a:buNone/>
            </a:pPr>
            <a:r>
              <a:rPr lang="en-US" sz="1000" dirty="0">
                <a:solidFill>
                  <a:schemeClr val="tx2"/>
                </a:solidFill>
              </a:rPr>
              <a:t>Product views from the BharatShramSetu website, sample data</a:t>
            </a:r>
            <a:endParaRPr lang="en-US" sz="10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Compliance built from the same record</a:t>
            </a:r>
            <a:endParaRPr lang="en-US" sz="3200" dirty="0"/>
          </a:p>
        </p:txBody>
      </p:sp>
      <p:sp>
        <p:nvSpPr>
          <p:cNvPr id="3" name="state-map-frame-92"/>
          <p:cNvSpPr/>
          <p:nvPr/>
        </p:nvSpPr>
        <p:spPr>
          <a:xfrm>
            <a:off x="548640" y="1417320"/>
            <a:ext cx="6309360" cy="3703320"/>
          </a:xfrm>
          <a:prstGeom prst="roundRect">
            <a:avLst>
              <a:gd name="adj" fmla="val 2963"/>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4" name="state-map-93" descr="preencoded.png">    </p:cNvPr>
          <p:cNvPicPr>
            <a:picLocks noChangeAspect="1"/>
          </p:cNvPicPr>
          <p:nvPr/>
        </p:nvPicPr>
        <p:blipFill>
          <a:blip r:embed="rId1"/>
          <a:srcRect l="0" r="0" t="0" b="0"/>
          <a:stretch/>
        </p:blipFill>
        <p:spPr>
          <a:xfrm>
            <a:off x="621792" y="1490472"/>
            <a:ext cx="6163056" cy="3557016"/>
          </a:xfrm>
          <a:prstGeom prst="rect">
            <a:avLst/>
          </a:prstGeom>
        </p:spPr>
      </p:pic>
      <p:sp>
        <p:nvSpPr>
          <p:cNvPr id="5" name="registers-console-frame-94"/>
          <p:cNvSpPr/>
          <p:nvPr/>
        </p:nvSpPr>
        <p:spPr>
          <a:xfrm>
            <a:off x="7086600" y="1417320"/>
            <a:ext cx="4526280" cy="3474720"/>
          </a:xfrm>
          <a:prstGeom prst="roundRect">
            <a:avLst>
              <a:gd name="adj" fmla="val 3158"/>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6" name="registers-console-95" descr="preencoded.png">    </p:cNvPr>
          <p:cNvPicPr>
            <a:picLocks noChangeAspect="1"/>
          </p:cNvPicPr>
          <p:nvPr/>
        </p:nvPicPr>
        <p:blipFill>
          <a:blip r:embed="rId2"/>
          <a:srcRect l="0" r="0" t="0" b="0"/>
          <a:stretch/>
        </p:blipFill>
        <p:spPr>
          <a:xfrm>
            <a:off x="7159752" y="1490472"/>
            <a:ext cx="4379976" cy="3328416"/>
          </a:xfrm>
          <a:prstGeom prst="rect">
            <a:avLst/>
          </a:prstGeom>
        </p:spPr>
      </p:pic>
      <p:sp>
        <p:nvSpPr>
          <p:cNvPr id="7" name="Text 3"/>
          <p:cNvSpPr txBox="1"/>
          <p:nvPr/>
        </p:nvSpPr>
        <p:spPr>
          <a:xfrm>
            <a:off x="548640" y="534924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28 States + 8 UTs</a:t>
            </a:r>
            <a:endParaRPr lang="en-US" sz="1800" dirty="0"/>
          </a:p>
        </p:txBody>
      </p:sp>
      <p:sp>
        <p:nvSpPr>
          <p:cNvPr id="8" name="Text 4"/>
          <p:cNvSpPr txBox="1"/>
          <p:nvPr/>
        </p:nvSpPr>
        <p:spPr>
          <a:xfrm>
            <a:off x="548640" y="5715000"/>
            <a:ext cx="3566160" cy="502920"/>
          </a:xfrm>
          <a:prstGeom prst="rect">
            <a:avLst/>
          </a:prstGeom>
          <a:noFill/>
          <a:ln/>
        </p:spPr>
        <p:txBody>
          <a:bodyPr wrap="square" lIns="0" tIns="0" rIns="0" bIns="0" rtlCol="0" anchor="t"/>
          <a:lstStyle/>
          <a:p>
            <a:pPr indent="0" marL="0">
              <a:buNone/>
            </a:pPr>
            <a:r>
              <a:rPr lang="en-US" sz="1300" dirty="0">
                <a:solidFill>
                  <a:schemeClr val="bg2"/>
                </a:solidFill>
              </a:rPr>
              <a:t>Central acts plus each state’s wage, PT, LWF and licence rules</a:t>
            </a:r>
            <a:endParaRPr lang="en-US" sz="1300" dirty="0"/>
          </a:p>
        </p:txBody>
      </p:sp>
      <p:sp>
        <p:nvSpPr>
          <p:cNvPr id="9" name="Text 5"/>
          <p:cNvSpPr txBox="1"/>
          <p:nvPr/>
        </p:nvSpPr>
        <p:spPr>
          <a:xfrm>
            <a:off x="4297680" y="5349240"/>
            <a:ext cx="3566160" cy="365760"/>
          </a:xfrm>
          <a:prstGeom prst="rect">
            <a:avLst/>
          </a:prstGeom>
          <a:noFill/>
          <a:ln/>
        </p:spPr>
        <p:txBody>
          <a:bodyPr wrap="square" lIns="0" tIns="0" rIns="0" bIns="0" rtlCol="0" anchor="t"/>
          <a:lstStyle/>
          <a:p>
            <a:pPr indent="0" marL="0">
              <a:buNone/>
            </a:pPr>
            <a:r>
              <a:rPr lang="en-US" sz="1800" b="1" dirty="0">
                <a:solidFill>
                  <a:schemeClr val="accent5"/>
                </a:solidFill>
              </a:rPr>
              <a:t>CLRA FORM XII–XXIV</a:t>
            </a:r>
            <a:endParaRPr lang="en-US" sz="1800" dirty="0"/>
          </a:p>
        </p:txBody>
      </p:sp>
      <p:sp>
        <p:nvSpPr>
          <p:cNvPr id="10" name="Text 6"/>
          <p:cNvSpPr txBox="1"/>
          <p:nvPr/>
        </p:nvSpPr>
        <p:spPr>
          <a:xfrm>
            <a:off x="4297680" y="5715000"/>
            <a:ext cx="3566160" cy="502920"/>
          </a:xfrm>
          <a:prstGeom prst="rect">
            <a:avLst/>
          </a:prstGeom>
          <a:noFill/>
          <a:ln/>
        </p:spPr>
        <p:txBody>
          <a:bodyPr wrap="square" lIns="0" tIns="0" rIns="0" bIns="0" rtlCol="0" anchor="t"/>
          <a:lstStyle/>
          <a:p>
            <a:pPr indent="0" marL="0">
              <a:buNone/>
            </a:pPr>
            <a:r>
              <a:rPr lang="en-US" sz="1300" dirty="0">
                <a:solidFill>
                  <a:schemeClr val="bg2"/>
                </a:solidFill>
              </a:rPr>
              <a:t>Registers generated in bulk by state, site and location</a:t>
            </a:r>
            <a:endParaRPr lang="en-US" sz="1300" dirty="0"/>
          </a:p>
        </p:txBody>
      </p:sp>
      <p:sp>
        <p:nvSpPr>
          <p:cNvPr id="11" name="Text 7"/>
          <p:cNvSpPr txBox="1"/>
          <p:nvPr/>
        </p:nvSpPr>
        <p:spPr>
          <a:xfrm>
            <a:off x="8046720" y="5349240"/>
            <a:ext cx="3566160" cy="365760"/>
          </a:xfrm>
          <a:prstGeom prst="rect">
            <a:avLst/>
          </a:prstGeom>
          <a:noFill/>
          <a:ln/>
        </p:spPr>
        <p:txBody>
          <a:bodyPr wrap="square" lIns="0" tIns="0" rIns="0" bIns="0" rtlCol="0" anchor="t"/>
          <a:lstStyle/>
          <a:p>
            <a:pPr indent="0" marL="0">
              <a:buNone/>
            </a:pPr>
            <a:r>
              <a:rPr lang="en-US" sz="1800" b="1" dirty="0">
                <a:solidFill>
                  <a:schemeClr val="accent6"/>
                </a:solidFill>
              </a:rPr>
              <a:t>New Labour Codes</a:t>
            </a:r>
            <a:endParaRPr lang="en-US" sz="1800" dirty="0"/>
          </a:p>
        </p:txBody>
      </p:sp>
      <p:sp>
        <p:nvSpPr>
          <p:cNvPr id="12" name="Text 8"/>
          <p:cNvSpPr txBox="1"/>
          <p:nvPr/>
        </p:nvSpPr>
        <p:spPr>
          <a:xfrm>
            <a:off x="8046720" y="5715000"/>
            <a:ext cx="3566160" cy="502920"/>
          </a:xfrm>
          <a:prstGeom prst="rect">
            <a:avLst/>
          </a:prstGeom>
          <a:noFill/>
          <a:ln/>
        </p:spPr>
        <p:txBody>
          <a:bodyPr wrap="square" lIns="0" tIns="0" rIns="0" bIns="0" rtlCol="0" anchor="t"/>
          <a:lstStyle/>
          <a:p>
            <a:pPr indent="0" marL="0">
              <a:buNone/>
            </a:pPr>
            <a:r>
              <a:rPr lang="en-US" sz="1300" dirty="0">
                <a:solidFill>
                  <a:schemeClr val="bg2"/>
                </a:solidFill>
              </a:rPr>
              <a:t>Central codes layered with state rules, applied as notified</a:t>
            </a:r>
            <a:endParaRPr lang="en-US" sz="13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Verified at the source, checked by AI</a:t>
            </a:r>
            <a:endParaRPr lang="en-US" sz="3200" dirty="0"/>
          </a:p>
        </p:txBody>
      </p:sp>
      <p:sp>
        <p:nvSpPr>
          <p:cNvPr id="3" name="verification-console-frame-96"/>
          <p:cNvSpPr/>
          <p:nvPr/>
        </p:nvSpPr>
        <p:spPr>
          <a:xfrm>
            <a:off x="548640" y="1417320"/>
            <a:ext cx="3566160" cy="4206240"/>
          </a:xfrm>
          <a:prstGeom prst="roundRect">
            <a:avLst>
              <a:gd name="adj" fmla="val 3077"/>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4" name="verification-console-97" descr="preencoded.png">    </p:cNvPr>
          <p:cNvPicPr>
            <a:picLocks noChangeAspect="1"/>
          </p:cNvPicPr>
          <p:nvPr/>
        </p:nvPicPr>
        <p:blipFill>
          <a:blip r:embed="rId1"/>
          <a:srcRect l="0" r="0" t="0" b="0"/>
          <a:stretch/>
        </p:blipFill>
        <p:spPr>
          <a:xfrm>
            <a:off x="621792" y="1490472"/>
            <a:ext cx="3419856" cy="4059936"/>
          </a:xfrm>
          <a:prstGeom prst="rect">
            <a:avLst/>
          </a:prstGeom>
        </p:spPr>
      </p:pic>
      <p:sp>
        <p:nvSpPr>
          <p:cNvPr id="5" name="ocr-console-frame-98"/>
          <p:cNvSpPr/>
          <p:nvPr/>
        </p:nvSpPr>
        <p:spPr>
          <a:xfrm>
            <a:off x="4343400" y="1417320"/>
            <a:ext cx="4343400" cy="2743200"/>
          </a:xfrm>
          <a:prstGeom prst="roundRect">
            <a:avLst>
              <a:gd name="adj" fmla="val 4000"/>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6" name="ocr-console-99" descr="preencoded.png">    </p:cNvPr>
          <p:cNvPicPr>
            <a:picLocks noChangeAspect="1"/>
          </p:cNvPicPr>
          <p:nvPr/>
        </p:nvPicPr>
        <p:blipFill>
          <a:blip r:embed="rId2"/>
          <a:srcRect l="0" r="0" t="0" b="0"/>
          <a:stretch/>
        </p:blipFill>
        <p:spPr>
          <a:xfrm>
            <a:off x="4416552" y="1490472"/>
            <a:ext cx="4197096" cy="2596896"/>
          </a:xfrm>
          <a:prstGeom prst="rect">
            <a:avLst/>
          </a:prstGeom>
        </p:spPr>
      </p:pic>
      <p:sp>
        <p:nvSpPr>
          <p:cNvPr id="7" name="Text 3"/>
          <p:cNvSpPr txBox="1"/>
          <p:nvPr/>
        </p:nvSpPr>
        <p:spPr>
          <a:xfrm>
            <a:off x="8961120" y="1463040"/>
            <a:ext cx="2651760" cy="2103120"/>
          </a:xfrm>
          <a:prstGeom prst="rect">
            <a:avLst/>
          </a:prstGeom>
          <a:noFill/>
          <a:ln/>
        </p:spPr>
        <p:txBody>
          <a:bodyPr wrap="square" lIns="0" tIns="0" rIns="0" bIns="0" rtlCol="0" anchor="t"/>
          <a:lstStyle/>
          <a:p>
            <a:pPr indent="0" marL="0">
              <a:buNone/>
            </a:pPr>
            <a:r>
              <a:rPr lang="en-US" sz="1800" b="1" dirty="0">
                <a:solidFill>
                  <a:schemeClr val="tx1"/>
                </a:solidFill>
              </a:rPr>
              <a:t>Government data, with consent</a:t>
            </a:r>
            <a:endParaRPr lang="en-US" sz="1400" dirty="0"/>
          </a:p>
          <a:p>
            <a:pPr indent="0" marL="0">
              <a:buNone/>
            </a:pPr>
            <a:r>
              <a:rPr lang="en-US" sz="1400" dirty="0">
                <a:solidFill>
                  <a:schemeClr val="tx2"/>
                </a:solidFill>
              </a:rPr>
              <a:t>Aadhaar, PAN, EPFO UAN, ESIC, bank penny drop, e-Shram and DigiLocker. Each fetch approved by the worker.</a:t>
            </a:r>
            <a:endParaRPr lang="en-US" sz="1400" dirty="0"/>
          </a:p>
        </p:txBody>
      </p:sp>
      <p:sp>
        <p:nvSpPr>
          <p:cNvPr id="8" name="Text 4"/>
          <p:cNvSpPr txBox="1"/>
          <p:nvPr/>
        </p:nvSpPr>
        <p:spPr>
          <a:xfrm>
            <a:off x="8961120" y="3703320"/>
            <a:ext cx="2651760" cy="2103120"/>
          </a:xfrm>
          <a:prstGeom prst="rect">
            <a:avLst/>
          </a:prstGeom>
          <a:noFill/>
          <a:ln/>
        </p:spPr>
        <p:txBody>
          <a:bodyPr wrap="square" lIns="0" tIns="0" rIns="0" bIns="0" rtlCol="0" anchor="t"/>
          <a:lstStyle/>
          <a:p>
            <a:pPr indent="0" marL="0">
              <a:buNone/>
            </a:pPr>
            <a:r>
              <a:rPr lang="en-US" sz="1800" b="1" dirty="0">
                <a:solidFill>
                  <a:schemeClr val="tx1"/>
                </a:solidFill>
              </a:rPr>
              <a:t>AI document verification</a:t>
            </a:r>
            <a:endParaRPr lang="en-US" sz="1400" dirty="0"/>
          </a:p>
          <a:p>
            <a:pPr indent="0" marL="0">
              <a:buNone/>
            </a:pPr>
            <a:r>
              <a:rPr lang="en-US" sz="1400" dirty="0">
                <a:solidFill>
                  <a:schemeClr val="tx2"/>
                </a:solidFill>
              </a:rPr>
              <a:t>AI-enabled audit: challans, returns and certificates are read, matched against identity and attendance, and only mismatches reach an auditor.</a:t>
            </a:r>
            <a:endParaRPr lang="en-US" sz="1400" dirty="0"/>
          </a:p>
        </p:txBody>
      </p:sp>
      <p:sp>
        <p:nvSpPr>
          <p:cNvPr id="9" name="icon-circle-100"/>
          <p:cNvSpPr/>
          <p:nvPr/>
        </p:nvSpPr>
        <p:spPr>
          <a:xfrm>
            <a:off x="4343400" y="4434840"/>
            <a:ext cx="548640" cy="548640"/>
          </a:xfrm>
          <a:prstGeom prst="ellipse">
            <a:avLst/>
          </a:prstGeom>
          <a:solidFill>
            <a:schemeClr val="accent2"/>
          </a:solidFill>
          <a:ln w="12700">
            <a:solidFill>
              <a:schemeClr val="accent2"/>
            </a:solidFill>
            <a:prstDash val="solid"/>
          </a:ln>
        </p:spPr>
      </p:sp>
      <p:pic>
        <p:nvPicPr>
          <p:cNvPr id="10" name="icon-101" descr="preencoded.png">    </p:cNvPr>
          <p:cNvPicPr>
            <a:picLocks noChangeAspect="1"/>
          </p:cNvPicPr>
          <p:nvPr/>
        </p:nvPicPr>
        <p:blipFill>
          <a:blip r:embed="rId3"/>
          <a:stretch>
            <a:fillRect/>
          </a:stretch>
        </p:blipFill>
        <p:spPr>
          <a:xfrm>
            <a:off x="4475074" y="4566514"/>
            <a:ext cx="285293" cy="285293"/>
          </a:xfrm>
          <a:prstGeom prst="rect">
            <a:avLst/>
          </a:prstGeom>
        </p:spPr>
      </p:pic>
      <p:sp>
        <p:nvSpPr>
          <p:cNvPr id="11" name="Text 6"/>
          <p:cNvSpPr txBox="1"/>
          <p:nvPr/>
        </p:nvSpPr>
        <p:spPr>
          <a:xfrm>
            <a:off x="5074920" y="4434840"/>
            <a:ext cx="3611880" cy="822960"/>
          </a:xfrm>
          <a:prstGeom prst="rect">
            <a:avLst/>
          </a:prstGeom>
          <a:noFill/>
          <a:ln/>
        </p:spPr>
        <p:txBody>
          <a:bodyPr wrap="square" lIns="0" tIns="0" rIns="0" bIns="0" rtlCol="0" anchor="t"/>
          <a:lstStyle/>
          <a:p>
            <a:pPr indent="0" marL="0">
              <a:buNone/>
            </a:pPr>
            <a:r>
              <a:rPr lang="en-US" sz="1400" dirty="0">
                <a:solidFill>
                  <a:schemeClr val="tx2"/>
                </a:solidFill>
              </a:rPr>
              <a:t>Masked values everywhere. Consents can be revoked from settings, in line with the DPDP Act, 2023.</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Every stakeholder, on the same page</a:t>
            </a:r>
            <a:endParaRPr lang="en-US" sz="3200" dirty="0"/>
          </a:p>
        </p:txBody>
      </p:sp>
      <p:sp>
        <p:nvSpPr>
          <p:cNvPr id="3" name="icon-circle-102"/>
          <p:cNvSpPr/>
          <p:nvPr/>
        </p:nvSpPr>
        <p:spPr>
          <a:xfrm>
            <a:off x="548640" y="1463040"/>
            <a:ext cx="512064" cy="512064"/>
          </a:xfrm>
          <a:prstGeom prst="ellipse">
            <a:avLst/>
          </a:prstGeom>
          <a:solidFill>
            <a:schemeClr val="accent1"/>
          </a:solidFill>
          <a:ln w="12700">
            <a:solidFill>
              <a:schemeClr val="accent1"/>
            </a:solidFill>
            <a:prstDash val="solid"/>
          </a:ln>
        </p:spPr>
      </p:sp>
      <p:pic>
        <p:nvPicPr>
          <p:cNvPr id="4" name="icon-103" descr="preencoded.png">    </p:cNvPr>
          <p:cNvPicPr>
            <a:picLocks noChangeAspect="1"/>
          </p:cNvPicPr>
          <p:nvPr/>
        </p:nvPicPr>
        <p:blipFill>
          <a:blip r:embed="rId1"/>
          <a:stretch>
            <a:fillRect/>
          </a:stretch>
        </p:blipFill>
        <p:spPr>
          <a:xfrm>
            <a:off x="671535" y="1585935"/>
            <a:ext cx="266273" cy="266273"/>
          </a:xfrm>
          <a:prstGeom prst="rect">
            <a:avLst/>
          </a:prstGeom>
        </p:spPr>
      </p:pic>
      <p:sp>
        <p:nvSpPr>
          <p:cNvPr id="5" name="Text 2"/>
          <p:cNvSpPr txBox="1"/>
          <p:nvPr/>
        </p:nvSpPr>
        <p:spPr>
          <a:xfrm>
            <a:off x="1207008" y="1444752"/>
            <a:ext cx="2468880" cy="594360"/>
          </a:xfrm>
          <a:prstGeom prst="rect">
            <a:avLst/>
          </a:prstGeom>
          <a:noFill/>
          <a:ln/>
        </p:spPr>
        <p:txBody>
          <a:bodyPr wrap="square" lIns="0" tIns="0" rIns="0" bIns="0" rtlCol="0" anchor="t"/>
          <a:lstStyle/>
          <a:p>
            <a:pPr indent="0" marL="0">
              <a:buNone/>
            </a:pPr>
            <a:r>
              <a:rPr lang="en-US" sz="1500" b="1" dirty="0">
                <a:solidFill>
                  <a:schemeClr val="tx1"/>
                </a:solidFill>
              </a:rPr>
              <a:t>Workers</a:t>
            </a:r>
            <a:endParaRPr lang="en-US" sz="1500" dirty="0"/>
          </a:p>
        </p:txBody>
      </p:sp>
      <p:sp>
        <p:nvSpPr>
          <p:cNvPr id="6" name="Text 3"/>
          <p:cNvSpPr txBox="1"/>
          <p:nvPr/>
        </p:nvSpPr>
        <p:spPr>
          <a:xfrm>
            <a:off x="1207008" y="2029968"/>
            <a:ext cx="2468880" cy="640080"/>
          </a:xfrm>
          <a:prstGeom prst="rect">
            <a:avLst/>
          </a:prstGeom>
          <a:noFill/>
          <a:ln/>
        </p:spPr>
        <p:txBody>
          <a:bodyPr wrap="square" lIns="0" tIns="0" rIns="0" bIns="0" rtlCol="0" anchor="t"/>
          <a:lstStyle/>
          <a:p>
            <a:pPr indent="0" marL="0">
              <a:buNone/>
            </a:pPr>
            <a:r>
              <a:rPr lang="en-US" sz="1200" dirty="0">
                <a:solidFill>
                  <a:schemeClr val="tx2"/>
                </a:solidFill>
              </a:rPr>
              <a:t>At the centre: identity, consent, voice</a:t>
            </a:r>
            <a:endParaRPr lang="en-US" sz="1200" dirty="0"/>
          </a:p>
        </p:txBody>
      </p:sp>
      <p:sp>
        <p:nvSpPr>
          <p:cNvPr id="7" name="icon-circle-104"/>
          <p:cNvSpPr/>
          <p:nvPr/>
        </p:nvSpPr>
        <p:spPr>
          <a:xfrm>
            <a:off x="3794760" y="1463040"/>
            <a:ext cx="512064" cy="512064"/>
          </a:xfrm>
          <a:prstGeom prst="ellipse">
            <a:avLst/>
          </a:prstGeom>
          <a:solidFill>
            <a:schemeClr val="accent2"/>
          </a:solidFill>
          <a:ln w="12700">
            <a:solidFill>
              <a:schemeClr val="accent2"/>
            </a:solidFill>
            <a:prstDash val="solid"/>
          </a:ln>
        </p:spPr>
      </p:sp>
      <p:pic>
        <p:nvPicPr>
          <p:cNvPr id="8" name="icon-105" descr="preencoded.png">    </p:cNvPr>
          <p:cNvPicPr>
            <a:picLocks noChangeAspect="1"/>
          </p:cNvPicPr>
          <p:nvPr/>
        </p:nvPicPr>
        <p:blipFill>
          <a:blip r:embed="rId2"/>
          <a:stretch>
            <a:fillRect/>
          </a:stretch>
        </p:blipFill>
        <p:spPr>
          <a:xfrm>
            <a:off x="3917655" y="1585935"/>
            <a:ext cx="266273" cy="266273"/>
          </a:xfrm>
          <a:prstGeom prst="rect">
            <a:avLst/>
          </a:prstGeom>
        </p:spPr>
      </p:pic>
      <p:sp>
        <p:nvSpPr>
          <p:cNvPr id="9" name="Text 5"/>
          <p:cNvSpPr txBox="1"/>
          <p:nvPr/>
        </p:nvSpPr>
        <p:spPr>
          <a:xfrm>
            <a:off x="4453128" y="1444752"/>
            <a:ext cx="2468880" cy="594360"/>
          </a:xfrm>
          <a:prstGeom prst="rect">
            <a:avLst/>
          </a:prstGeom>
          <a:noFill/>
          <a:ln/>
        </p:spPr>
        <p:txBody>
          <a:bodyPr wrap="square" lIns="0" tIns="0" rIns="0" bIns="0" rtlCol="0" anchor="t"/>
          <a:lstStyle/>
          <a:p>
            <a:pPr indent="0" marL="0">
              <a:buNone/>
            </a:pPr>
            <a:r>
              <a:rPr lang="en-US" sz="1500" b="1" dirty="0">
                <a:solidFill>
                  <a:schemeClr val="tx1"/>
                </a:solidFill>
              </a:rPr>
              <a:t>Primary &amp; secondary contractors</a:t>
            </a:r>
            <a:endParaRPr lang="en-US" sz="1500" dirty="0"/>
          </a:p>
        </p:txBody>
      </p:sp>
      <p:sp>
        <p:nvSpPr>
          <p:cNvPr id="10" name="Text 6"/>
          <p:cNvSpPr txBox="1"/>
          <p:nvPr/>
        </p:nvSpPr>
        <p:spPr>
          <a:xfrm>
            <a:off x="4453128" y="2029968"/>
            <a:ext cx="2468880" cy="640080"/>
          </a:xfrm>
          <a:prstGeom prst="rect">
            <a:avLst/>
          </a:prstGeom>
          <a:noFill/>
          <a:ln/>
        </p:spPr>
        <p:txBody>
          <a:bodyPr wrap="square" lIns="0" tIns="0" rIns="0" bIns="0" rtlCol="0" anchor="t"/>
          <a:lstStyle/>
          <a:p>
            <a:pPr indent="0" marL="0">
              <a:buNone/>
            </a:pPr>
            <a:r>
              <a:rPr lang="en-US" sz="1200" dirty="0">
                <a:solidFill>
                  <a:schemeClr val="tx2"/>
                </a:solidFill>
              </a:rPr>
              <a:t>The full chain, one accountability</a:t>
            </a:r>
            <a:endParaRPr lang="en-US" sz="1200" dirty="0"/>
          </a:p>
        </p:txBody>
      </p:sp>
      <p:sp>
        <p:nvSpPr>
          <p:cNvPr id="11" name="icon-circle-106"/>
          <p:cNvSpPr/>
          <p:nvPr/>
        </p:nvSpPr>
        <p:spPr>
          <a:xfrm>
            <a:off x="548640" y="2926080"/>
            <a:ext cx="512064" cy="512064"/>
          </a:xfrm>
          <a:prstGeom prst="ellipse">
            <a:avLst/>
          </a:prstGeom>
          <a:solidFill>
            <a:schemeClr val="accent3"/>
          </a:solidFill>
          <a:ln w="12700">
            <a:solidFill>
              <a:schemeClr val="accent3"/>
            </a:solidFill>
            <a:prstDash val="solid"/>
          </a:ln>
        </p:spPr>
      </p:sp>
      <p:pic>
        <p:nvPicPr>
          <p:cNvPr id="12" name="icon-107" descr="preencoded.png">    </p:cNvPr>
          <p:cNvPicPr>
            <a:picLocks noChangeAspect="1"/>
          </p:cNvPicPr>
          <p:nvPr/>
        </p:nvPicPr>
        <p:blipFill>
          <a:blip r:embed="rId3"/>
          <a:stretch>
            <a:fillRect/>
          </a:stretch>
        </p:blipFill>
        <p:spPr>
          <a:xfrm>
            <a:off x="671535" y="3048975"/>
            <a:ext cx="266273" cy="266273"/>
          </a:xfrm>
          <a:prstGeom prst="rect">
            <a:avLst/>
          </a:prstGeom>
        </p:spPr>
      </p:pic>
      <p:sp>
        <p:nvSpPr>
          <p:cNvPr id="13" name="Text 8"/>
          <p:cNvSpPr txBox="1"/>
          <p:nvPr/>
        </p:nvSpPr>
        <p:spPr>
          <a:xfrm>
            <a:off x="1207008" y="2907792"/>
            <a:ext cx="2468880" cy="594360"/>
          </a:xfrm>
          <a:prstGeom prst="rect">
            <a:avLst/>
          </a:prstGeom>
          <a:noFill/>
          <a:ln/>
        </p:spPr>
        <p:txBody>
          <a:bodyPr wrap="square" lIns="0" tIns="0" rIns="0" bIns="0" rtlCol="0" anchor="t"/>
          <a:lstStyle/>
          <a:p>
            <a:pPr indent="0" marL="0">
              <a:buNone/>
            </a:pPr>
            <a:r>
              <a:rPr lang="en-US" sz="1500" b="1" dirty="0">
                <a:solidFill>
                  <a:schemeClr val="tx1"/>
                </a:solidFill>
              </a:rPr>
              <a:t>Principal employers</a:t>
            </a:r>
            <a:endParaRPr lang="en-US" sz="1500" dirty="0"/>
          </a:p>
        </p:txBody>
      </p:sp>
      <p:sp>
        <p:nvSpPr>
          <p:cNvPr id="14" name="Text 9"/>
          <p:cNvSpPr txBox="1"/>
          <p:nvPr/>
        </p:nvSpPr>
        <p:spPr>
          <a:xfrm>
            <a:off x="1207008" y="3493008"/>
            <a:ext cx="2468880" cy="640080"/>
          </a:xfrm>
          <a:prstGeom prst="rect">
            <a:avLst/>
          </a:prstGeom>
          <a:noFill/>
          <a:ln/>
        </p:spPr>
        <p:txBody>
          <a:bodyPr wrap="square" lIns="0" tIns="0" rIns="0" bIns="0" rtlCol="0" anchor="t"/>
          <a:lstStyle/>
          <a:p>
            <a:pPr indent="0" marL="0">
              <a:buNone/>
            </a:pPr>
            <a:r>
              <a:rPr lang="en-US" sz="1200" dirty="0">
                <a:solidFill>
                  <a:schemeClr val="tx2"/>
                </a:solidFill>
              </a:rPr>
              <a:t>Who is on site and where the risk is</a:t>
            </a:r>
            <a:endParaRPr lang="en-US" sz="1200" dirty="0"/>
          </a:p>
        </p:txBody>
      </p:sp>
      <p:sp>
        <p:nvSpPr>
          <p:cNvPr id="15" name="icon-circle-108"/>
          <p:cNvSpPr/>
          <p:nvPr/>
        </p:nvSpPr>
        <p:spPr>
          <a:xfrm>
            <a:off x="3794760" y="2926080"/>
            <a:ext cx="512064" cy="512064"/>
          </a:xfrm>
          <a:prstGeom prst="ellipse">
            <a:avLst/>
          </a:prstGeom>
          <a:solidFill>
            <a:schemeClr val="tx2"/>
          </a:solidFill>
          <a:ln w="12700">
            <a:solidFill>
              <a:schemeClr val="tx2"/>
            </a:solidFill>
            <a:prstDash val="solid"/>
          </a:ln>
        </p:spPr>
      </p:sp>
      <p:pic>
        <p:nvPicPr>
          <p:cNvPr id="16" name="icon-109" descr="preencoded.png">    </p:cNvPr>
          <p:cNvPicPr>
            <a:picLocks noChangeAspect="1"/>
          </p:cNvPicPr>
          <p:nvPr/>
        </p:nvPicPr>
        <p:blipFill>
          <a:blip r:embed="rId4"/>
          <a:stretch>
            <a:fillRect/>
          </a:stretch>
        </p:blipFill>
        <p:spPr>
          <a:xfrm>
            <a:off x="3917655" y="3048975"/>
            <a:ext cx="266273" cy="266273"/>
          </a:xfrm>
          <a:prstGeom prst="rect">
            <a:avLst/>
          </a:prstGeom>
        </p:spPr>
      </p:pic>
      <p:sp>
        <p:nvSpPr>
          <p:cNvPr id="17" name="Text 11"/>
          <p:cNvSpPr txBox="1"/>
          <p:nvPr/>
        </p:nvSpPr>
        <p:spPr>
          <a:xfrm>
            <a:off x="4453128" y="2907792"/>
            <a:ext cx="2468880" cy="594360"/>
          </a:xfrm>
          <a:prstGeom prst="rect">
            <a:avLst/>
          </a:prstGeom>
          <a:noFill/>
          <a:ln/>
        </p:spPr>
        <p:txBody>
          <a:bodyPr wrap="square" lIns="0" tIns="0" rIns="0" bIns="0" rtlCol="0" anchor="t"/>
          <a:lstStyle/>
          <a:p>
            <a:pPr indent="0" marL="0">
              <a:buNone/>
            </a:pPr>
            <a:r>
              <a:rPr lang="en-US" sz="1500" b="1" dirty="0">
                <a:solidFill>
                  <a:schemeClr val="tx1"/>
                </a:solidFill>
              </a:rPr>
              <a:t>Chief compliance officers</a:t>
            </a:r>
            <a:endParaRPr lang="en-US" sz="1500" dirty="0"/>
          </a:p>
        </p:txBody>
      </p:sp>
      <p:sp>
        <p:nvSpPr>
          <p:cNvPr id="18" name="Text 12"/>
          <p:cNvSpPr txBox="1"/>
          <p:nvPr/>
        </p:nvSpPr>
        <p:spPr>
          <a:xfrm>
            <a:off x="4453128" y="3493008"/>
            <a:ext cx="2468880" cy="640080"/>
          </a:xfrm>
          <a:prstGeom prst="rect">
            <a:avLst/>
          </a:prstGeom>
          <a:noFill/>
          <a:ln/>
        </p:spPr>
        <p:txBody>
          <a:bodyPr wrap="square" lIns="0" tIns="0" rIns="0" bIns="0" rtlCol="0" anchor="t"/>
          <a:lstStyle/>
          <a:p>
            <a:pPr indent="0" marL="0">
              <a:buNone/>
            </a:pPr>
            <a:r>
              <a:rPr lang="en-US" sz="1200" dirty="0">
                <a:solidFill>
                  <a:schemeClr val="tx2"/>
                </a:solidFill>
              </a:rPr>
              <a:t>Registers and scores, ready before asked</a:t>
            </a:r>
            <a:endParaRPr lang="en-US" sz="1200" dirty="0"/>
          </a:p>
        </p:txBody>
      </p:sp>
      <p:sp>
        <p:nvSpPr>
          <p:cNvPr id="19" name="icon-circle-110"/>
          <p:cNvSpPr/>
          <p:nvPr/>
        </p:nvSpPr>
        <p:spPr>
          <a:xfrm>
            <a:off x="548640" y="4389120"/>
            <a:ext cx="512064" cy="512064"/>
          </a:xfrm>
          <a:prstGeom prst="ellipse">
            <a:avLst/>
          </a:prstGeom>
          <a:solidFill>
            <a:schemeClr val="accent1"/>
          </a:solidFill>
          <a:ln w="12700">
            <a:solidFill>
              <a:schemeClr val="accent1"/>
            </a:solidFill>
            <a:prstDash val="solid"/>
          </a:ln>
        </p:spPr>
      </p:sp>
      <p:pic>
        <p:nvPicPr>
          <p:cNvPr id="20" name="icon-111" descr="preencoded.png">    </p:cNvPr>
          <p:cNvPicPr>
            <a:picLocks noChangeAspect="1"/>
          </p:cNvPicPr>
          <p:nvPr/>
        </p:nvPicPr>
        <p:blipFill>
          <a:blip r:embed="rId5"/>
          <a:stretch>
            <a:fillRect/>
          </a:stretch>
        </p:blipFill>
        <p:spPr>
          <a:xfrm>
            <a:off x="671535" y="4512015"/>
            <a:ext cx="266273" cy="266273"/>
          </a:xfrm>
          <a:prstGeom prst="rect">
            <a:avLst/>
          </a:prstGeom>
        </p:spPr>
      </p:pic>
      <p:sp>
        <p:nvSpPr>
          <p:cNvPr id="21" name="Text 14"/>
          <p:cNvSpPr txBox="1"/>
          <p:nvPr/>
        </p:nvSpPr>
        <p:spPr>
          <a:xfrm>
            <a:off x="1207008" y="4370832"/>
            <a:ext cx="2468880" cy="594360"/>
          </a:xfrm>
          <a:prstGeom prst="rect">
            <a:avLst/>
          </a:prstGeom>
          <a:noFill/>
          <a:ln/>
        </p:spPr>
        <p:txBody>
          <a:bodyPr wrap="square" lIns="0" tIns="0" rIns="0" bIns="0" rtlCol="0" anchor="t"/>
          <a:lstStyle/>
          <a:p>
            <a:pPr indent="0" marL="0">
              <a:buNone/>
            </a:pPr>
            <a:r>
              <a:rPr lang="en-US" sz="1500" b="1" dirty="0">
                <a:solidFill>
                  <a:schemeClr val="tx1"/>
                </a:solidFill>
              </a:rPr>
              <a:t>Health &amp; safety officers</a:t>
            </a:r>
            <a:endParaRPr lang="en-US" sz="1500" dirty="0"/>
          </a:p>
        </p:txBody>
      </p:sp>
      <p:sp>
        <p:nvSpPr>
          <p:cNvPr id="22" name="Text 15"/>
          <p:cNvSpPr txBox="1"/>
          <p:nvPr/>
        </p:nvSpPr>
        <p:spPr>
          <a:xfrm>
            <a:off x="1207008" y="4956048"/>
            <a:ext cx="2468880" cy="640080"/>
          </a:xfrm>
          <a:prstGeom prst="rect">
            <a:avLst/>
          </a:prstGeom>
          <a:noFill/>
          <a:ln/>
        </p:spPr>
        <p:txBody>
          <a:bodyPr wrap="square" lIns="0" tIns="0" rIns="0" bIns="0" rtlCol="0" anchor="t"/>
          <a:lstStyle/>
          <a:p>
            <a:pPr indent="0" marL="0">
              <a:buNone/>
            </a:pPr>
            <a:r>
              <a:rPr lang="en-US" sz="1200" dirty="0">
                <a:solidFill>
                  <a:schemeClr val="tx2"/>
                </a:solidFill>
              </a:rPr>
              <a:t>PPE, fitness and induction at the gate</a:t>
            </a:r>
            <a:endParaRPr lang="en-US" sz="1200" dirty="0"/>
          </a:p>
        </p:txBody>
      </p:sp>
      <p:sp>
        <p:nvSpPr>
          <p:cNvPr id="23" name="icon-circle-112"/>
          <p:cNvSpPr/>
          <p:nvPr/>
        </p:nvSpPr>
        <p:spPr>
          <a:xfrm>
            <a:off x="3794760" y="4389120"/>
            <a:ext cx="512064" cy="512064"/>
          </a:xfrm>
          <a:prstGeom prst="ellipse">
            <a:avLst/>
          </a:prstGeom>
          <a:solidFill>
            <a:schemeClr val="accent2"/>
          </a:solidFill>
          <a:ln w="12700">
            <a:solidFill>
              <a:schemeClr val="accent2"/>
            </a:solidFill>
            <a:prstDash val="solid"/>
          </a:ln>
        </p:spPr>
      </p:sp>
      <p:pic>
        <p:nvPicPr>
          <p:cNvPr id="24" name="icon-113" descr="preencoded.png">    </p:cNvPr>
          <p:cNvPicPr>
            <a:picLocks noChangeAspect="1"/>
          </p:cNvPicPr>
          <p:nvPr/>
        </p:nvPicPr>
        <p:blipFill>
          <a:blip r:embed="rId6"/>
          <a:stretch>
            <a:fillRect/>
          </a:stretch>
        </p:blipFill>
        <p:spPr>
          <a:xfrm>
            <a:off x="3917655" y="4512015"/>
            <a:ext cx="266273" cy="266273"/>
          </a:xfrm>
          <a:prstGeom prst="rect">
            <a:avLst/>
          </a:prstGeom>
        </p:spPr>
      </p:pic>
      <p:sp>
        <p:nvSpPr>
          <p:cNvPr id="25" name="Text 17"/>
          <p:cNvSpPr txBox="1"/>
          <p:nvPr/>
        </p:nvSpPr>
        <p:spPr>
          <a:xfrm>
            <a:off x="4453128" y="4370832"/>
            <a:ext cx="2468880" cy="594360"/>
          </a:xfrm>
          <a:prstGeom prst="rect">
            <a:avLst/>
          </a:prstGeom>
          <a:noFill/>
          <a:ln/>
        </p:spPr>
        <p:txBody>
          <a:bodyPr wrap="square" lIns="0" tIns="0" rIns="0" bIns="0" rtlCol="0" anchor="t"/>
          <a:lstStyle/>
          <a:p>
            <a:pPr indent="0" marL="0">
              <a:buNone/>
            </a:pPr>
            <a:r>
              <a:rPr lang="en-US" sz="1500" b="1" dirty="0">
                <a:solidFill>
                  <a:schemeClr val="tx1"/>
                </a:solidFill>
              </a:rPr>
              <a:t>Trainers</a:t>
            </a:r>
            <a:endParaRPr lang="en-US" sz="1500" dirty="0"/>
          </a:p>
        </p:txBody>
      </p:sp>
      <p:sp>
        <p:nvSpPr>
          <p:cNvPr id="26" name="Text 18"/>
          <p:cNvSpPr txBox="1"/>
          <p:nvPr/>
        </p:nvSpPr>
        <p:spPr>
          <a:xfrm>
            <a:off x="4453128" y="4956048"/>
            <a:ext cx="2468880" cy="640080"/>
          </a:xfrm>
          <a:prstGeom prst="rect">
            <a:avLst/>
          </a:prstGeom>
          <a:noFill/>
          <a:ln/>
        </p:spPr>
        <p:txBody>
          <a:bodyPr wrap="square" lIns="0" tIns="0" rIns="0" bIns="0" rtlCol="0" anchor="t"/>
          <a:lstStyle/>
          <a:p>
            <a:pPr indent="0" marL="0">
              <a:buNone/>
            </a:pPr>
            <a:r>
              <a:rPr lang="en-US" sz="1200" dirty="0">
                <a:solidFill>
                  <a:schemeClr val="tx2"/>
                </a:solidFill>
              </a:rPr>
              <a:t>Inductions and skills recorded per worker</a:t>
            </a:r>
            <a:endParaRPr lang="en-US" sz="1200" dirty="0"/>
          </a:p>
        </p:txBody>
      </p:sp>
      <p:sp>
        <p:nvSpPr>
          <p:cNvPr id="27" name="grievance-sla-frame-114"/>
          <p:cNvSpPr/>
          <p:nvPr/>
        </p:nvSpPr>
        <p:spPr>
          <a:xfrm>
            <a:off x="7315200" y="1371600"/>
            <a:ext cx="4297680" cy="3749040"/>
          </a:xfrm>
          <a:prstGeom prst="roundRect">
            <a:avLst>
              <a:gd name="adj" fmla="val 2927"/>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28" name="grievance-sla-115" descr="preencoded.png">    </p:cNvPr>
          <p:cNvPicPr>
            <a:picLocks noChangeAspect="1"/>
          </p:cNvPicPr>
          <p:nvPr/>
        </p:nvPicPr>
        <p:blipFill>
          <a:blip r:embed="rId7"/>
          <a:srcRect l="0" r="0" t="0" b="0"/>
          <a:stretch/>
        </p:blipFill>
        <p:spPr>
          <a:xfrm>
            <a:off x="7388352" y="1444752"/>
            <a:ext cx="4151376" cy="3602736"/>
          </a:xfrm>
          <a:prstGeom prst="rect">
            <a:avLst/>
          </a:prstGeom>
        </p:spPr>
      </p:pic>
      <p:sp>
        <p:nvSpPr>
          <p:cNvPr id="29" name="Text 20"/>
          <p:cNvSpPr txBox="1"/>
          <p:nvPr/>
        </p:nvSpPr>
        <p:spPr>
          <a:xfrm>
            <a:off x="7315200" y="5303520"/>
            <a:ext cx="4297680" cy="640080"/>
          </a:xfrm>
          <a:prstGeom prst="rect">
            <a:avLst/>
          </a:prstGeom>
          <a:noFill/>
          <a:ln/>
        </p:spPr>
        <p:txBody>
          <a:bodyPr wrap="square" lIns="0" tIns="0" rIns="0" bIns="0" rtlCol="0" anchor="t"/>
          <a:lstStyle/>
          <a:p>
            <a:pPr indent="0" marL="0">
              <a:buNone/>
            </a:pPr>
            <a:r>
              <a:rPr lang="en-US" sz="1300" b="1" dirty="0">
                <a:solidFill>
                  <a:schemeClr val="accent4"/>
                </a:solidFill>
              </a:rPr>
              <a:t>Grievance management with SLA tracking: spoken in any language, owned, timed and escalated.</a:t>
            </a:r>
            <a:endParaRPr lang="en-US" sz="13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Audit-ready every day. Reported at every level</a:t>
            </a:r>
            <a:endParaRPr lang="en-US" sz="3200" dirty="0"/>
          </a:p>
        </p:txBody>
      </p:sp>
      <p:sp>
        <p:nvSpPr>
          <p:cNvPr id="3" name="icon-circle-116"/>
          <p:cNvSpPr/>
          <p:nvPr/>
        </p:nvSpPr>
        <p:spPr>
          <a:xfrm>
            <a:off x="548640" y="1508760"/>
            <a:ext cx="548640" cy="548640"/>
          </a:xfrm>
          <a:prstGeom prst="ellipse">
            <a:avLst/>
          </a:prstGeom>
          <a:solidFill>
            <a:schemeClr val="accent1"/>
          </a:solidFill>
          <a:ln w="12700">
            <a:solidFill>
              <a:schemeClr val="accent1"/>
            </a:solidFill>
            <a:prstDash val="solid"/>
          </a:ln>
        </p:spPr>
      </p:sp>
      <p:pic>
        <p:nvPicPr>
          <p:cNvPr id="4" name="icon-117" descr="preencoded.png">    </p:cNvPr>
          <p:cNvPicPr>
            <a:picLocks noChangeAspect="1"/>
          </p:cNvPicPr>
          <p:nvPr/>
        </p:nvPicPr>
        <p:blipFill>
          <a:blip r:embed="rId1"/>
          <a:stretch>
            <a:fillRect/>
          </a:stretch>
        </p:blipFill>
        <p:spPr>
          <a:xfrm>
            <a:off x="680314" y="1640434"/>
            <a:ext cx="285293" cy="285293"/>
          </a:xfrm>
          <a:prstGeom prst="rect">
            <a:avLst/>
          </a:prstGeom>
        </p:spPr>
      </p:pic>
      <p:sp>
        <p:nvSpPr>
          <p:cNvPr id="5" name="Text 2"/>
          <p:cNvSpPr txBox="1"/>
          <p:nvPr/>
        </p:nvSpPr>
        <p:spPr>
          <a:xfrm>
            <a:off x="1280160" y="1490472"/>
            <a:ext cx="3566160" cy="365760"/>
          </a:xfrm>
          <a:prstGeom prst="rect">
            <a:avLst/>
          </a:prstGeom>
          <a:noFill/>
          <a:ln/>
        </p:spPr>
        <p:txBody>
          <a:bodyPr wrap="square" lIns="0" tIns="0" rIns="0" bIns="0" rtlCol="0" anchor="t"/>
          <a:lstStyle/>
          <a:p>
            <a:pPr indent="0" marL="0">
              <a:buNone/>
            </a:pPr>
            <a:r>
              <a:rPr lang="en-US" sz="1800" b="1" dirty="0">
                <a:solidFill>
                  <a:schemeClr val="bg1"/>
                </a:solidFill>
              </a:rPr>
              <a:t>AI-enabled audit</a:t>
            </a:r>
            <a:endParaRPr lang="en-US" sz="1800" dirty="0"/>
          </a:p>
        </p:txBody>
      </p:sp>
      <p:sp>
        <p:nvSpPr>
          <p:cNvPr id="6" name="Text 3"/>
          <p:cNvSpPr txBox="1"/>
          <p:nvPr/>
        </p:nvSpPr>
        <p:spPr>
          <a:xfrm>
            <a:off x="1280160" y="1874520"/>
            <a:ext cx="3566160" cy="777240"/>
          </a:xfrm>
          <a:prstGeom prst="rect">
            <a:avLst/>
          </a:prstGeom>
          <a:noFill/>
          <a:ln/>
        </p:spPr>
        <p:txBody>
          <a:bodyPr wrap="square" lIns="0" tIns="0" rIns="0" bIns="0" rtlCol="0" anchor="t"/>
          <a:lstStyle/>
          <a:p>
            <a:pPr indent="0" marL="0">
              <a:buNone/>
            </a:pPr>
            <a:r>
              <a:rPr lang="en-US" sz="1400" dirty="0">
                <a:solidFill>
                  <a:schemeClr val="bg2"/>
                </a:solidFill>
              </a:rPr>
              <a:t>Every document read and matched; only exceptions reach a person.</a:t>
            </a:r>
            <a:endParaRPr lang="en-US" sz="1400" dirty="0"/>
          </a:p>
        </p:txBody>
      </p:sp>
      <p:sp>
        <p:nvSpPr>
          <p:cNvPr id="7" name="icon-circle-118"/>
          <p:cNvSpPr/>
          <p:nvPr/>
        </p:nvSpPr>
        <p:spPr>
          <a:xfrm>
            <a:off x="548640" y="2880360"/>
            <a:ext cx="548640" cy="548640"/>
          </a:xfrm>
          <a:prstGeom prst="ellipse">
            <a:avLst/>
          </a:prstGeom>
          <a:solidFill>
            <a:schemeClr val="accent5"/>
          </a:solidFill>
          <a:ln w="12700">
            <a:solidFill>
              <a:schemeClr val="accent5"/>
            </a:solidFill>
            <a:prstDash val="solid"/>
          </a:ln>
        </p:spPr>
      </p:sp>
      <p:pic>
        <p:nvPicPr>
          <p:cNvPr id="8" name="icon-119" descr="preencoded.png">    </p:cNvPr>
          <p:cNvPicPr>
            <a:picLocks noChangeAspect="1"/>
          </p:cNvPicPr>
          <p:nvPr/>
        </p:nvPicPr>
        <p:blipFill>
          <a:blip r:embed="rId2"/>
          <a:stretch>
            <a:fillRect/>
          </a:stretch>
        </p:blipFill>
        <p:spPr>
          <a:xfrm>
            <a:off x="680314" y="3012034"/>
            <a:ext cx="285293" cy="285293"/>
          </a:xfrm>
          <a:prstGeom prst="rect">
            <a:avLst/>
          </a:prstGeom>
        </p:spPr>
      </p:pic>
      <p:sp>
        <p:nvSpPr>
          <p:cNvPr id="9" name="Text 5"/>
          <p:cNvSpPr txBox="1"/>
          <p:nvPr/>
        </p:nvSpPr>
        <p:spPr>
          <a:xfrm>
            <a:off x="1280160" y="2862072"/>
            <a:ext cx="3566160" cy="365760"/>
          </a:xfrm>
          <a:prstGeom prst="rect">
            <a:avLst/>
          </a:prstGeom>
          <a:noFill/>
          <a:ln/>
        </p:spPr>
        <p:txBody>
          <a:bodyPr wrap="square" lIns="0" tIns="0" rIns="0" bIns="0" rtlCol="0" anchor="t"/>
          <a:lstStyle/>
          <a:p>
            <a:pPr indent="0" marL="0">
              <a:buNone/>
            </a:pPr>
            <a:r>
              <a:rPr lang="en-US" sz="1800" b="1" dirty="0">
                <a:solidFill>
                  <a:schemeClr val="bg1"/>
                </a:solidFill>
              </a:rPr>
              <a:t>Audit readiness</a:t>
            </a:r>
            <a:endParaRPr lang="en-US" sz="1800" dirty="0"/>
          </a:p>
        </p:txBody>
      </p:sp>
      <p:sp>
        <p:nvSpPr>
          <p:cNvPr id="10" name="Text 6"/>
          <p:cNvSpPr txBox="1"/>
          <p:nvPr/>
        </p:nvSpPr>
        <p:spPr>
          <a:xfrm>
            <a:off x="1280160" y="3246120"/>
            <a:ext cx="3566160" cy="777240"/>
          </a:xfrm>
          <a:prstGeom prst="rect">
            <a:avLst/>
          </a:prstGeom>
          <a:noFill/>
          <a:ln/>
        </p:spPr>
        <p:txBody>
          <a:bodyPr wrap="square" lIns="0" tIns="0" rIns="0" bIns="0" rtlCol="0" anchor="t"/>
          <a:lstStyle/>
          <a:p>
            <a:pPr indent="0" marL="0">
              <a:buNone/>
            </a:pPr>
            <a:r>
              <a:rPr lang="en-US" sz="1400" dirty="0">
                <a:solidFill>
                  <a:schemeClr val="bg2"/>
                </a:solidFill>
              </a:rPr>
              <a:t>Registers, returns and evidence always current and exportable.</a:t>
            </a:r>
            <a:endParaRPr lang="en-US" sz="1400" dirty="0"/>
          </a:p>
        </p:txBody>
      </p:sp>
      <p:sp>
        <p:nvSpPr>
          <p:cNvPr id="11" name="icon-circle-120"/>
          <p:cNvSpPr/>
          <p:nvPr/>
        </p:nvSpPr>
        <p:spPr>
          <a:xfrm>
            <a:off x="548640" y="4251960"/>
            <a:ext cx="548640" cy="548640"/>
          </a:xfrm>
          <a:prstGeom prst="ellipse">
            <a:avLst/>
          </a:prstGeom>
          <a:solidFill>
            <a:schemeClr val="accent6"/>
          </a:solidFill>
          <a:ln w="12700">
            <a:solidFill>
              <a:schemeClr val="accent6"/>
            </a:solidFill>
            <a:prstDash val="solid"/>
          </a:ln>
        </p:spPr>
      </p:sp>
      <p:pic>
        <p:nvPicPr>
          <p:cNvPr id="12" name="icon-121" descr="preencoded.png">    </p:cNvPr>
          <p:cNvPicPr>
            <a:picLocks noChangeAspect="1"/>
          </p:cNvPicPr>
          <p:nvPr/>
        </p:nvPicPr>
        <p:blipFill>
          <a:blip r:embed="rId3"/>
          <a:stretch>
            <a:fillRect/>
          </a:stretch>
        </p:blipFill>
        <p:spPr>
          <a:xfrm>
            <a:off x="680314" y="4383634"/>
            <a:ext cx="285293" cy="285293"/>
          </a:xfrm>
          <a:prstGeom prst="rect">
            <a:avLst/>
          </a:prstGeom>
        </p:spPr>
      </p:pic>
      <p:sp>
        <p:nvSpPr>
          <p:cNvPr id="13" name="Text 8"/>
          <p:cNvSpPr txBox="1"/>
          <p:nvPr/>
        </p:nvSpPr>
        <p:spPr>
          <a:xfrm>
            <a:off x="1280160" y="4233672"/>
            <a:ext cx="3566160" cy="365760"/>
          </a:xfrm>
          <a:prstGeom prst="rect">
            <a:avLst/>
          </a:prstGeom>
          <a:noFill/>
          <a:ln/>
        </p:spPr>
        <p:txBody>
          <a:bodyPr wrap="square" lIns="0" tIns="0" rIns="0" bIns="0" rtlCol="0" anchor="t"/>
          <a:lstStyle/>
          <a:p>
            <a:pPr indent="0" marL="0">
              <a:buNone/>
            </a:pPr>
            <a:r>
              <a:rPr lang="en-US" sz="1800" b="1" dirty="0">
                <a:solidFill>
                  <a:schemeClr val="bg1"/>
                </a:solidFill>
              </a:rPr>
              <a:t>Government integration</a:t>
            </a:r>
            <a:endParaRPr lang="en-US" sz="1800" dirty="0"/>
          </a:p>
        </p:txBody>
      </p:sp>
      <p:sp>
        <p:nvSpPr>
          <p:cNvPr id="14" name="Text 9"/>
          <p:cNvSpPr txBox="1"/>
          <p:nvPr/>
        </p:nvSpPr>
        <p:spPr>
          <a:xfrm>
            <a:off x="1280160" y="4617720"/>
            <a:ext cx="3566160" cy="777240"/>
          </a:xfrm>
          <a:prstGeom prst="rect">
            <a:avLst/>
          </a:prstGeom>
          <a:noFill/>
          <a:ln/>
        </p:spPr>
        <p:txBody>
          <a:bodyPr wrap="square" lIns="0" tIns="0" rIns="0" bIns="0" rtlCol="0" anchor="t"/>
          <a:lstStyle/>
          <a:p>
            <a:pPr indent="0" marL="0">
              <a:buNone/>
            </a:pPr>
            <a:r>
              <a:rPr lang="en-US" sz="1400" dirty="0">
                <a:solidFill>
                  <a:schemeClr val="bg2"/>
                </a:solidFill>
              </a:rPr>
              <a:t>Documents validated against the systems that issued them.</a:t>
            </a:r>
            <a:endParaRPr lang="en-US" sz="1400" dirty="0"/>
          </a:p>
        </p:txBody>
      </p:sp>
      <p:sp>
        <p:nvSpPr>
          <p:cNvPr id="15" name="reporting-layers-frame-122"/>
          <p:cNvSpPr/>
          <p:nvPr/>
        </p:nvSpPr>
        <p:spPr>
          <a:xfrm>
            <a:off x="5120640" y="1463040"/>
            <a:ext cx="6492240" cy="3291840"/>
          </a:xfrm>
          <a:prstGeom prst="roundRect">
            <a:avLst>
              <a:gd name="adj" fmla="val 3333"/>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16" name="reporting-layers-123" descr="preencoded.png">    </p:cNvPr>
          <p:cNvPicPr>
            <a:picLocks noChangeAspect="1"/>
          </p:cNvPicPr>
          <p:nvPr/>
        </p:nvPicPr>
        <p:blipFill>
          <a:blip r:embed="rId4"/>
          <a:srcRect l="0" r="0" t="0" b="0"/>
          <a:stretch/>
        </p:blipFill>
        <p:spPr>
          <a:xfrm>
            <a:off x="5193792" y="1536192"/>
            <a:ext cx="6345936" cy="3145536"/>
          </a:xfrm>
          <a:prstGeom prst="rect">
            <a:avLst/>
          </a:prstGeom>
        </p:spPr>
      </p:pic>
      <p:sp>
        <p:nvSpPr>
          <p:cNvPr id="17" name="Text 11"/>
          <p:cNvSpPr txBox="1"/>
          <p:nvPr/>
        </p:nvSpPr>
        <p:spPr>
          <a:xfrm>
            <a:off x="5120640" y="4983480"/>
            <a:ext cx="6492240" cy="822960"/>
          </a:xfrm>
          <a:prstGeom prst="rect">
            <a:avLst/>
          </a:prstGeom>
          <a:noFill/>
          <a:ln/>
        </p:spPr>
        <p:txBody>
          <a:bodyPr wrap="square" lIns="0" tIns="0" rIns="0" bIns="0" rtlCol="0" anchor="t"/>
          <a:lstStyle/>
          <a:p>
            <a:pPr indent="0" marL="0">
              <a:buNone/>
            </a:pPr>
            <a:r>
              <a:rPr lang="en-US" sz="1400" dirty="0">
                <a:solidFill>
                  <a:schemeClr val="bg2"/>
                </a:solidFill>
              </a:rPr>
              <a:t>Three layers of reporting from one live record: Executive (today’s site), CXO (contractors, states, audit points) and Board (governance, risk, ESG).</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Three transformations. One Bharat</a:t>
            </a:r>
            <a:endParaRPr lang="en-US" sz="3200" dirty="0"/>
          </a:p>
        </p:txBody>
      </p:sp>
      <p:sp>
        <p:nvSpPr>
          <p:cNvPr id="3" name="tf-card-124"/>
          <p:cNvSpPr/>
          <p:nvPr/>
        </p:nvSpPr>
        <p:spPr>
          <a:xfrm>
            <a:off x="548640" y="1417320"/>
            <a:ext cx="3566160" cy="3017520"/>
          </a:xfrm>
          <a:prstGeom prst="roundRect">
            <a:avLst>
              <a:gd name="adj" fmla="val 3636"/>
            </a:avLst>
          </a:prstGeom>
          <a:solidFill>
            <a:schemeClr val="bg2"/>
          </a:solidFill>
          <a:ln w="12700">
            <a:solidFill>
              <a:schemeClr val="bg2"/>
            </a:solidFill>
            <a:prstDash val="solid"/>
          </a:ln>
        </p:spPr>
      </p:sp>
      <p:sp>
        <p:nvSpPr>
          <p:cNvPr id="4" name="icon-circle-125"/>
          <p:cNvSpPr/>
          <p:nvPr/>
        </p:nvSpPr>
        <p:spPr>
          <a:xfrm>
            <a:off x="822960" y="1691640"/>
            <a:ext cx="585216" cy="585216"/>
          </a:xfrm>
          <a:prstGeom prst="ellipse">
            <a:avLst/>
          </a:prstGeom>
          <a:solidFill>
            <a:schemeClr val="accent1"/>
          </a:solidFill>
          <a:ln w="12700">
            <a:solidFill>
              <a:schemeClr val="accent1"/>
            </a:solidFill>
            <a:prstDash val="solid"/>
          </a:ln>
        </p:spPr>
      </p:sp>
      <p:pic>
        <p:nvPicPr>
          <p:cNvPr id="5" name="icon-126" descr="preencoded.png">    </p:cNvPr>
          <p:cNvPicPr>
            <a:picLocks noChangeAspect="1"/>
          </p:cNvPicPr>
          <p:nvPr/>
        </p:nvPicPr>
        <p:blipFill>
          <a:blip r:embed="rId1"/>
          <a:stretch>
            <a:fillRect/>
          </a:stretch>
        </p:blipFill>
        <p:spPr>
          <a:xfrm>
            <a:off x="963412" y="1832092"/>
            <a:ext cx="304312" cy="304312"/>
          </a:xfrm>
          <a:prstGeom prst="rect">
            <a:avLst/>
          </a:prstGeom>
        </p:spPr>
      </p:pic>
      <p:sp>
        <p:nvSpPr>
          <p:cNvPr id="6" name="Text 3"/>
          <p:cNvSpPr txBox="1"/>
          <p:nvPr/>
        </p:nvSpPr>
        <p:spPr>
          <a:xfrm>
            <a:off x="822960" y="2468880"/>
            <a:ext cx="3017520" cy="457200"/>
          </a:xfrm>
          <a:prstGeom prst="rect">
            <a:avLst/>
          </a:prstGeom>
          <a:noFill/>
          <a:ln/>
        </p:spPr>
        <p:txBody>
          <a:bodyPr wrap="square" lIns="0" tIns="0" rIns="0" bIns="0" rtlCol="0" anchor="t"/>
          <a:lstStyle/>
          <a:p>
            <a:pPr indent="0" marL="0">
              <a:buNone/>
            </a:pPr>
            <a:r>
              <a:rPr lang="en-US" sz="2400" b="1" dirty="0">
                <a:solidFill>
                  <a:schemeClr val="accent1"/>
                </a:solidFill>
              </a:rPr>
              <a:t>Social</a:t>
            </a:r>
            <a:endParaRPr lang="en-US" sz="2400" dirty="0"/>
          </a:p>
        </p:txBody>
      </p:sp>
      <p:sp>
        <p:nvSpPr>
          <p:cNvPr id="7" name="Text 4"/>
          <p:cNvSpPr txBox="1"/>
          <p:nvPr/>
        </p:nvSpPr>
        <p:spPr>
          <a:xfrm>
            <a:off x="822960" y="2880360"/>
            <a:ext cx="3017520" cy="274320"/>
          </a:xfrm>
          <a:prstGeom prst="rect">
            <a:avLst/>
          </a:prstGeom>
          <a:noFill/>
          <a:ln/>
        </p:spPr>
        <p:txBody>
          <a:bodyPr wrap="square" lIns="0" tIns="0" rIns="0" bIns="0" rtlCol="0" anchor="t"/>
          <a:lstStyle/>
          <a:p>
            <a:pPr indent="0" marL="0">
              <a:buNone/>
            </a:pPr>
            <a:r>
              <a:rPr lang="en-US" sz="1200" b="1" dirty="0">
                <a:solidFill>
                  <a:schemeClr val="tx2"/>
                </a:solidFill>
              </a:rPr>
              <a:t>transformation</a:t>
            </a:r>
            <a:endParaRPr lang="en-US" sz="1200" dirty="0"/>
          </a:p>
        </p:txBody>
      </p:sp>
      <p:sp>
        <p:nvSpPr>
          <p:cNvPr id="8" name="Text 5"/>
          <p:cNvSpPr txBox="1"/>
          <p:nvPr/>
        </p:nvSpPr>
        <p:spPr>
          <a:xfrm>
            <a:off x="822960" y="3200400"/>
            <a:ext cx="3017520" cy="1143000"/>
          </a:xfrm>
          <a:prstGeom prst="rect">
            <a:avLst/>
          </a:prstGeom>
          <a:noFill/>
          <a:ln/>
        </p:spPr>
        <p:txBody>
          <a:bodyPr wrap="square" lIns="0" tIns="0" rIns="0" bIns="0" rtlCol="0" anchor="t"/>
          <a:lstStyle/>
          <a:p>
            <a:pPr indent="0" marL="0">
              <a:buNone/>
            </a:pPr>
            <a:r>
              <a:rPr lang="en-US" sz="1300" dirty="0">
                <a:solidFill>
                  <a:schemeClr val="tx2"/>
                </a:solidFill>
              </a:rPr>
              <a:t>Dignity, consent and a voice for workers who have never had a record of their own. Rights that are visible are rights that are kept.</a:t>
            </a:r>
            <a:endParaRPr lang="en-US" sz="1300" dirty="0"/>
          </a:p>
        </p:txBody>
      </p:sp>
      <p:sp>
        <p:nvSpPr>
          <p:cNvPr id="9" name="tf-card-127"/>
          <p:cNvSpPr/>
          <p:nvPr/>
        </p:nvSpPr>
        <p:spPr>
          <a:xfrm>
            <a:off x="4297680" y="1417320"/>
            <a:ext cx="3566160" cy="3017520"/>
          </a:xfrm>
          <a:prstGeom prst="roundRect">
            <a:avLst>
              <a:gd name="adj" fmla="val 3636"/>
            </a:avLst>
          </a:prstGeom>
          <a:solidFill>
            <a:schemeClr val="bg2"/>
          </a:solidFill>
          <a:ln w="12700">
            <a:solidFill>
              <a:schemeClr val="bg2"/>
            </a:solidFill>
            <a:prstDash val="solid"/>
          </a:ln>
        </p:spPr>
      </p:sp>
      <p:sp>
        <p:nvSpPr>
          <p:cNvPr id="10" name="icon-circle-128"/>
          <p:cNvSpPr/>
          <p:nvPr/>
        </p:nvSpPr>
        <p:spPr>
          <a:xfrm>
            <a:off x="4572000" y="1691640"/>
            <a:ext cx="585216" cy="585216"/>
          </a:xfrm>
          <a:prstGeom prst="ellipse">
            <a:avLst/>
          </a:prstGeom>
          <a:solidFill>
            <a:schemeClr val="accent3"/>
          </a:solidFill>
          <a:ln w="12700">
            <a:solidFill>
              <a:schemeClr val="accent3"/>
            </a:solidFill>
            <a:prstDash val="solid"/>
          </a:ln>
        </p:spPr>
      </p:sp>
      <p:pic>
        <p:nvPicPr>
          <p:cNvPr id="11" name="icon-129" descr="preencoded.png">    </p:cNvPr>
          <p:cNvPicPr>
            <a:picLocks noChangeAspect="1"/>
          </p:cNvPicPr>
          <p:nvPr/>
        </p:nvPicPr>
        <p:blipFill>
          <a:blip r:embed="rId2"/>
          <a:stretch>
            <a:fillRect/>
          </a:stretch>
        </p:blipFill>
        <p:spPr>
          <a:xfrm>
            <a:off x="4712452" y="1832092"/>
            <a:ext cx="304312" cy="304312"/>
          </a:xfrm>
          <a:prstGeom prst="rect">
            <a:avLst/>
          </a:prstGeom>
        </p:spPr>
      </p:pic>
      <p:sp>
        <p:nvSpPr>
          <p:cNvPr id="12" name="Text 8"/>
          <p:cNvSpPr txBox="1"/>
          <p:nvPr/>
        </p:nvSpPr>
        <p:spPr>
          <a:xfrm>
            <a:off x="4572000" y="2468880"/>
            <a:ext cx="3017520" cy="457200"/>
          </a:xfrm>
          <a:prstGeom prst="rect">
            <a:avLst/>
          </a:prstGeom>
          <a:noFill/>
          <a:ln/>
        </p:spPr>
        <p:txBody>
          <a:bodyPr wrap="square" lIns="0" tIns="0" rIns="0" bIns="0" rtlCol="0" anchor="t"/>
          <a:lstStyle/>
          <a:p>
            <a:pPr indent="0" marL="0">
              <a:buNone/>
            </a:pPr>
            <a:r>
              <a:rPr lang="en-US" sz="2400" b="1" dirty="0">
                <a:solidFill>
                  <a:schemeClr val="accent3"/>
                </a:solidFill>
              </a:rPr>
              <a:t>Digital</a:t>
            </a:r>
            <a:endParaRPr lang="en-US" sz="2400" dirty="0"/>
          </a:p>
        </p:txBody>
      </p:sp>
      <p:sp>
        <p:nvSpPr>
          <p:cNvPr id="13" name="Text 9"/>
          <p:cNvSpPr txBox="1"/>
          <p:nvPr/>
        </p:nvSpPr>
        <p:spPr>
          <a:xfrm>
            <a:off x="4572000" y="2880360"/>
            <a:ext cx="3017520" cy="274320"/>
          </a:xfrm>
          <a:prstGeom prst="rect">
            <a:avLst/>
          </a:prstGeom>
          <a:noFill/>
          <a:ln/>
        </p:spPr>
        <p:txBody>
          <a:bodyPr wrap="square" lIns="0" tIns="0" rIns="0" bIns="0" rtlCol="0" anchor="t"/>
          <a:lstStyle/>
          <a:p>
            <a:pPr indent="0" marL="0">
              <a:buNone/>
            </a:pPr>
            <a:r>
              <a:rPr lang="en-US" sz="1200" b="1" dirty="0">
                <a:solidFill>
                  <a:schemeClr val="tx2"/>
                </a:solidFill>
              </a:rPr>
              <a:t>transformation</a:t>
            </a:r>
            <a:endParaRPr lang="en-US" sz="1200" dirty="0"/>
          </a:p>
        </p:txBody>
      </p:sp>
      <p:sp>
        <p:nvSpPr>
          <p:cNvPr id="14" name="Text 10"/>
          <p:cNvSpPr txBox="1"/>
          <p:nvPr/>
        </p:nvSpPr>
        <p:spPr>
          <a:xfrm>
            <a:off x="4572000" y="3200400"/>
            <a:ext cx="3017520" cy="1143000"/>
          </a:xfrm>
          <a:prstGeom prst="rect">
            <a:avLst/>
          </a:prstGeom>
          <a:noFill/>
          <a:ln/>
        </p:spPr>
        <p:txBody>
          <a:bodyPr wrap="square" lIns="0" tIns="0" rIns="0" bIns="0" rtlCol="0" anchor="t"/>
          <a:lstStyle/>
          <a:p>
            <a:pPr indent="0" marL="0">
              <a:buNone/>
            </a:pPr>
            <a:r>
              <a:rPr lang="en-US" sz="1300" dirty="0">
                <a:solidFill>
                  <a:schemeClr val="tx2"/>
                </a:solidFill>
              </a:rPr>
              <a:t>Fifty crore working lives move from paper registers and photocopies to one verified, portable, multilingual record.</a:t>
            </a:r>
            <a:endParaRPr lang="en-US" sz="1300" dirty="0"/>
          </a:p>
        </p:txBody>
      </p:sp>
      <p:sp>
        <p:nvSpPr>
          <p:cNvPr id="15" name="tf-card-130"/>
          <p:cNvSpPr/>
          <p:nvPr/>
        </p:nvSpPr>
        <p:spPr>
          <a:xfrm>
            <a:off x="8046720" y="1417320"/>
            <a:ext cx="3566160" cy="3017520"/>
          </a:xfrm>
          <a:prstGeom prst="roundRect">
            <a:avLst>
              <a:gd name="adj" fmla="val 3636"/>
            </a:avLst>
          </a:prstGeom>
          <a:solidFill>
            <a:schemeClr val="bg2"/>
          </a:solidFill>
          <a:ln w="12700">
            <a:solidFill>
              <a:schemeClr val="bg2"/>
            </a:solidFill>
            <a:prstDash val="solid"/>
          </a:ln>
        </p:spPr>
      </p:sp>
      <p:sp>
        <p:nvSpPr>
          <p:cNvPr id="16" name="icon-circle-131"/>
          <p:cNvSpPr/>
          <p:nvPr/>
        </p:nvSpPr>
        <p:spPr>
          <a:xfrm>
            <a:off x="8321040" y="1691640"/>
            <a:ext cx="585216" cy="585216"/>
          </a:xfrm>
          <a:prstGeom prst="ellipse">
            <a:avLst/>
          </a:prstGeom>
          <a:solidFill>
            <a:schemeClr val="accent2"/>
          </a:solidFill>
          <a:ln w="12700">
            <a:solidFill>
              <a:schemeClr val="accent2"/>
            </a:solidFill>
            <a:prstDash val="solid"/>
          </a:ln>
        </p:spPr>
      </p:sp>
      <p:pic>
        <p:nvPicPr>
          <p:cNvPr id="17" name="icon-132" descr="preencoded.png">    </p:cNvPr>
          <p:cNvPicPr>
            <a:picLocks noChangeAspect="1"/>
          </p:cNvPicPr>
          <p:nvPr/>
        </p:nvPicPr>
        <p:blipFill>
          <a:blip r:embed="rId3"/>
          <a:stretch>
            <a:fillRect/>
          </a:stretch>
        </p:blipFill>
        <p:spPr>
          <a:xfrm>
            <a:off x="8461492" y="1832092"/>
            <a:ext cx="304312" cy="304312"/>
          </a:xfrm>
          <a:prstGeom prst="rect">
            <a:avLst/>
          </a:prstGeom>
        </p:spPr>
      </p:pic>
      <p:sp>
        <p:nvSpPr>
          <p:cNvPr id="18" name="Text 13"/>
          <p:cNvSpPr txBox="1"/>
          <p:nvPr/>
        </p:nvSpPr>
        <p:spPr>
          <a:xfrm>
            <a:off x="8321040" y="2468880"/>
            <a:ext cx="3017520" cy="457200"/>
          </a:xfrm>
          <a:prstGeom prst="rect">
            <a:avLst/>
          </a:prstGeom>
          <a:noFill/>
          <a:ln/>
        </p:spPr>
        <p:txBody>
          <a:bodyPr wrap="square" lIns="0" tIns="0" rIns="0" bIns="0" rtlCol="0" anchor="t"/>
          <a:lstStyle/>
          <a:p>
            <a:pPr indent="0" marL="0">
              <a:buNone/>
            </a:pPr>
            <a:r>
              <a:rPr lang="en-US" sz="2400" b="1" dirty="0">
                <a:solidFill>
                  <a:schemeClr val="accent2"/>
                </a:solidFill>
              </a:rPr>
              <a:t>Governance</a:t>
            </a:r>
            <a:endParaRPr lang="en-US" sz="2400" dirty="0"/>
          </a:p>
        </p:txBody>
      </p:sp>
      <p:sp>
        <p:nvSpPr>
          <p:cNvPr id="19" name="Text 14"/>
          <p:cNvSpPr txBox="1"/>
          <p:nvPr/>
        </p:nvSpPr>
        <p:spPr>
          <a:xfrm>
            <a:off x="8321040" y="2880360"/>
            <a:ext cx="3017520" cy="274320"/>
          </a:xfrm>
          <a:prstGeom prst="rect">
            <a:avLst/>
          </a:prstGeom>
          <a:noFill/>
          <a:ln/>
        </p:spPr>
        <p:txBody>
          <a:bodyPr wrap="square" lIns="0" tIns="0" rIns="0" bIns="0" rtlCol="0" anchor="t"/>
          <a:lstStyle/>
          <a:p>
            <a:pPr indent="0" marL="0">
              <a:buNone/>
            </a:pPr>
            <a:r>
              <a:rPr lang="en-US" sz="1200" b="1" dirty="0">
                <a:solidFill>
                  <a:schemeClr val="tx2"/>
                </a:solidFill>
              </a:rPr>
              <a:t>transformation</a:t>
            </a:r>
            <a:endParaRPr lang="en-US" sz="1200" dirty="0"/>
          </a:p>
        </p:txBody>
      </p:sp>
      <p:sp>
        <p:nvSpPr>
          <p:cNvPr id="20" name="Text 15"/>
          <p:cNvSpPr txBox="1"/>
          <p:nvPr/>
        </p:nvSpPr>
        <p:spPr>
          <a:xfrm>
            <a:off x="8321040" y="3200400"/>
            <a:ext cx="3017520" cy="1143000"/>
          </a:xfrm>
          <a:prstGeom prst="rect">
            <a:avLst/>
          </a:prstGeom>
          <a:noFill/>
          <a:ln/>
        </p:spPr>
        <p:txBody>
          <a:bodyPr wrap="square" lIns="0" tIns="0" rIns="0" bIns="0" rtlCol="0" anchor="t"/>
          <a:lstStyle/>
          <a:p>
            <a:pPr indent="0" marL="0">
              <a:buNone/>
            </a:pPr>
            <a:r>
              <a:rPr lang="en-US" sz="1300" dirty="0">
                <a:solidFill>
                  <a:schemeClr val="tx2"/>
                </a:solidFill>
              </a:rPr>
              <a:t>Employers, contractors and authorities read the same trusted record, so compliance becomes continuous.</a:t>
            </a:r>
            <a:endParaRPr lang="en-US" sz="1300" dirty="0"/>
          </a:p>
        </p:txBody>
      </p:sp>
      <p:sp>
        <p:nvSpPr>
          <p:cNvPr id="21" name="Text 16"/>
          <p:cNvSpPr txBox="1"/>
          <p:nvPr/>
        </p:nvSpPr>
        <p:spPr>
          <a:xfrm>
            <a:off x="548640" y="4709160"/>
            <a:ext cx="11064240" cy="365760"/>
          </a:xfrm>
          <a:prstGeom prst="rect">
            <a:avLst/>
          </a:prstGeom>
          <a:noFill/>
          <a:ln/>
        </p:spPr>
        <p:txBody>
          <a:bodyPr wrap="square" lIns="0" tIns="0" rIns="0" bIns="0" rtlCol="0" anchor="t"/>
          <a:lstStyle/>
          <a:p>
            <a:pPr indent="0" marL="0">
              <a:buNone/>
            </a:pPr>
            <a:r>
              <a:rPr lang="en-US" sz="1700" b="1" dirty="0">
                <a:solidFill>
                  <a:schemeClr val="tx1"/>
                </a:solidFill>
              </a:rPr>
              <a:t>Nation building, aligned with India’s digital public infrastructure</a:t>
            </a:r>
            <a:endParaRPr lang="en-US" sz="1700" dirty="0"/>
          </a:p>
        </p:txBody>
      </p:sp>
      <p:sp>
        <p:nvSpPr>
          <p:cNvPr id="22" name="dpi-chip-133"/>
          <p:cNvSpPr/>
          <p:nvPr/>
        </p:nvSpPr>
        <p:spPr>
          <a:xfrm>
            <a:off x="548640" y="5212080"/>
            <a:ext cx="1481328" cy="502920"/>
          </a:xfrm>
          <a:prstGeom prst="roundRect">
            <a:avLst>
              <a:gd name="adj" fmla="val 14545"/>
            </a:avLst>
          </a:prstGeom>
          <a:solidFill>
            <a:schemeClr val="bg1"/>
          </a:solidFill>
          <a:ln w="12700">
            <a:solidFill>
              <a:srgbClr val="DBE3EF"/>
            </a:solidFill>
            <a:prstDash val="solid"/>
          </a:ln>
        </p:spPr>
      </p:sp>
      <p:sp>
        <p:nvSpPr>
          <p:cNvPr id="23" name="Text 18"/>
          <p:cNvSpPr txBox="1"/>
          <p:nvPr/>
        </p:nvSpPr>
        <p:spPr>
          <a:xfrm>
            <a:off x="548640" y="5212080"/>
            <a:ext cx="1481328" cy="502920"/>
          </a:xfrm>
          <a:prstGeom prst="rect">
            <a:avLst/>
          </a:prstGeom>
          <a:noFill/>
          <a:ln/>
        </p:spPr>
        <p:txBody>
          <a:bodyPr wrap="square" lIns="0" tIns="0" rIns="0" bIns="0" rtlCol="0" anchor="ctr"/>
          <a:lstStyle/>
          <a:p>
            <a:pPr algn="ctr" indent="0" marL="0">
              <a:buNone/>
            </a:pPr>
            <a:r>
              <a:rPr lang="en-US" sz="1100" b="1" dirty="0">
                <a:solidFill>
                  <a:schemeClr val="tx2"/>
                </a:solidFill>
              </a:rPr>
              <a:t>Aadhaar</a:t>
            </a:r>
            <a:endParaRPr lang="en-US" sz="1100" dirty="0"/>
          </a:p>
        </p:txBody>
      </p:sp>
      <p:sp>
        <p:nvSpPr>
          <p:cNvPr id="24" name="dpi-chip-134"/>
          <p:cNvSpPr/>
          <p:nvPr/>
        </p:nvSpPr>
        <p:spPr>
          <a:xfrm>
            <a:off x="2148840" y="5212080"/>
            <a:ext cx="1481328" cy="502920"/>
          </a:xfrm>
          <a:prstGeom prst="roundRect">
            <a:avLst>
              <a:gd name="adj" fmla="val 14545"/>
            </a:avLst>
          </a:prstGeom>
          <a:solidFill>
            <a:schemeClr val="bg1"/>
          </a:solidFill>
          <a:ln w="12700">
            <a:solidFill>
              <a:srgbClr val="DBE3EF"/>
            </a:solidFill>
            <a:prstDash val="solid"/>
          </a:ln>
        </p:spPr>
      </p:sp>
      <p:sp>
        <p:nvSpPr>
          <p:cNvPr id="25" name="Text 20"/>
          <p:cNvSpPr txBox="1"/>
          <p:nvPr/>
        </p:nvSpPr>
        <p:spPr>
          <a:xfrm>
            <a:off x="2148840" y="5212080"/>
            <a:ext cx="1481328" cy="502920"/>
          </a:xfrm>
          <a:prstGeom prst="rect">
            <a:avLst/>
          </a:prstGeom>
          <a:noFill/>
          <a:ln/>
        </p:spPr>
        <p:txBody>
          <a:bodyPr wrap="square" lIns="0" tIns="0" rIns="0" bIns="0" rtlCol="0" anchor="ctr"/>
          <a:lstStyle/>
          <a:p>
            <a:pPr algn="ctr" indent="0" marL="0">
              <a:buNone/>
            </a:pPr>
            <a:r>
              <a:rPr lang="en-US" sz="1100" b="1" dirty="0">
                <a:solidFill>
                  <a:schemeClr val="tx2"/>
                </a:solidFill>
              </a:rPr>
              <a:t>DigiLocker</a:t>
            </a:r>
            <a:endParaRPr lang="en-US" sz="1100" dirty="0"/>
          </a:p>
        </p:txBody>
      </p:sp>
      <p:sp>
        <p:nvSpPr>
          <p:cNvPr id="26" name="dpi-chip-135"/>
          <p:cNvSpPr/>
          <p:nvPr/>
        </p:nvSpPr>
        <p:spPr>
          <a:xfrm>
            <a:off x="3749040" y="5212080"/>
            <a:ext cx="1481328" cy="502920"/>
          </a:xfrm>
          <a:prstGeom prst="roundRect">
            <a:avLst>
              <a:gd name="adj" fmla="val 14545"/>
            </a:avLst>
          </a:prstGeom>
          <a:solidFill>
            <a:schemeClr val="bg1"/>
          </a:solidFill>
          <a:ln w="12700">
            <a:solidFill>
              <a:srgbClr val="DBE3EF"/>
            </a:solidFill>
            <a:prstDash val="solid"/>
          </a:ln>
        </p:spPr>
      </p:sp>
      <p:sp>
        <p:nvSpPr>
          <p:cNvPr id="27" name="Text 22"/>
          <p:cNvSpPr txBox="1"/>
          <p:nvPr/>
        </p:nvSpPr>
        <p:spPr>
          <a:xfrm>
            <a:off x="3749040" y="5212080"/>
            <a:ext cx="1481328" cy="502920"/>
          </a:xfrm>
          <a:prstGeom prst="rect">
            <a:avLst/>
          </a:prstGeom>
          <a:noFill/>
          <a:ln/>
        </p:spPr>
        <p:txBody>
          <a:bodyPr wrap="square" lIns="0" tIns="0" rIns="0" bIns="0" rtlCol="0" anchor="ctr"/>
          <a:lstStyle/>
          <a:p>
            <a:pPr algn="ctr" indent="0" marL="0">
              <a:buNone/>
            </a:pPr>
            <a:r>
              <a:rPr lang="en-US" sz="1100" b="1" dirty="0">
                <a:solidFill>
                  <a:schemeClr val="tx2"/>
                </a:solidFill>
              </a:rPr>
              <a:t>e-Shram</a:t>
            </a:r>
            <a:endParaRPr lang="en-US" sz="1100" dirty="0"/>
          </a:p>
        </p:txBody>
      </p:sp>
      <p:sp>
        <p:nvSpPr>
          <p:cNvPr id="28" name="dpi-chip-136"/>
          <p:cNvSpPr/>
          <p:nvPr/>
        </p:nvSpPr>
        <p:spPr>
          <a:xfrm>
            <a:off x="5349240" y="5212080"/>
            <a:ext cx="1481328" cy="502920"/>
          </a:xfrm>
          <a:prstGeom prst="roundRect">
            <a:avLst>
              <a:gd name="adj" fmla="val 14545"/>
            </a:avLst>
          </a:prstGeom>
          <a:solidFill>
            <a:schemeClr val="bg1"/>
          </a:solidFill>
          <a:ln w="12700">
            <a:solidFill>
              <a:srgbClr val="DBE3EF"/>
            </a:solidFill>
            <a:prstDash val="solid"/>
          </a:ln>
        </p:spPr>
      </p:sp>
      <p:sp>
        <p:nvSpPr>
          <p:cNvPr id="29" name="Text 24"/>
          <p:cNvSpPr txBox="1"/>
          <p:nvPr/>
        </p:nvSpPr>
        <p:spPr>
          <a:xfrm>
            <a:off x="5349240" y="5212080"/>
            <a:ext cx="1481328" cy="502920"/>
          </a:xfrm>
          <a:prstGeom prst="rect">
            <a:avLst/>
          </a:prstGeom>
          <a:noFill/>
          <a:ln/>
        </p:spPr>
        <p:txBody>
          <a:bodyPr wrap="square" lIns="0" tIns="0" rIns="0" bIns="0" rtlCol="0" anchor="ctr"/>
          <a:lstStyle/>
          <a:p>
            <a:pPr algn="ctr" indent="0" marL="0">
              <a:buNone/>
            </a:pPr>
            <a:r>
              <a:rPr lang="en-US" sz="1100" b="1" dirty="0">
                <a:solidFill>
                  <a:schemeClr val="tx2"/>
                </a:solidFill>
              </a:rPr>
              <a:t>EPFO UAN</a:t>
            </a:r>
            <a:endParaRPr lang="en-US" sz="1100" dirty="0"/>
          </a:p>
        </p:txBody>
      </p:sp>
      <p:sp>
        <p:nvSpPr>
          <p:cNvPr id="30" name="dpi-chip-137"/>
          <p:cNvSpPr/>
          <p:nvPr/>
        </p:nvSpPr>
        <p:spPr>
          <a:xfrm>
            <a:off x="6949440" y="5212080"/>
            <a:ext cx="1481328" cy="502920"/>
          </a:xfrm>
          <a:prstGeom prst="roundRect">
            <a:avLst>
              <a:gd name="adj" fmla="val 14545"/>
            </a:avLst>
          </a:prstGeom>
          <a:solidFill>
            <a:schemeClr val="bg1"/>
          </a:solidFill>
          <a:ln w="12700">
            <a:solidFill>
              <a:srgbClr val="DBE3EF"/>
            </a:solidFill>
            <a:prstDash val="solid"/>
          </a:ln>
        </p:spPr>
      </p:sp>
      <p:sp>
        <p:nvSpPr>
          <p:cNvPr id="31" name="Text 26"/>
          <p:cNvSpPr txBox="1"/>
          <p:nvPr/>
        </p:nvSpPr>
        <p:spPr>
          <a:xfrm>
            <a:off x="6949440" y="5212080"/>
            <a:ext cx="1481328" cy="502920"/>
          </a:xfrm>
          <a:prstGeom prst="rect">
            <a:avLst/>
          </a:prstGeom>
          <a:noFill/>
          <a:ln/>
        </p:spPr>
        <p:txBody>
          <a:bodyPr wrap="square" lIns="0" tIns="0" rIns="0" bIns="0" rtlCol="0" anchor="ctr"/>
          <a:lstStyle/>
          <a:p>
            <a:pPr algn="ctr" indent="0" marL="0">
              <a:buNone/>
            </a:pPr>
            <a:r>
              <a:rPr lang="en-US" sz="1100" b="1" dirty="0">
                <a:solidFill>
                  <a:schemeClr val="tx2"/>
                </a:solidFill>
              </a:rPr>
              <a:t>ESIC</a:t>
            </a:r>
            <a:endParaRPr lang="en-US" sz="1100" dirty="0"/>
          </a:p>
        </p:txBody>
      </p:sp>
      <p:sp>
        <p:nvSpPr>
          <p:cNvPr id="32" name="dpi-chip-138"/>
          <p:cNvSpPr/>
          <p:nvPr/>
        </p:nvSpPr>
        <p:spPr>
          <a:xfrm>
            <a:off x="8549640" y="5212080"/>
            <a:ext cx="1481328" cy="502920"/>
          </a:xfrm>
          <a:prstGeom prst="roundRect">
            <a:avLst>
              <a:gd name="adj" fmla="val 14545"/>
            </a:avLst>
          </a:prstGeom>
          <a:solidFill>
            <a:schemeClr val="bg1"/>
          </a:solidFill>
          <a:ln w="12700">
            <a:solidFill>
              <a:srgbClr val="DBE3EF"/>
            </a:solidFill>
            <a:prstDash val="solid"/>
          </a:ln>
        </p:spPr>
      </p:sp>
      <p:sp>
        <p:nvSpPr>
          <p:cNvPr id="33" name="Text 28"/>
          <p:cNvSpPr txBox="1"/>
          <p:nvPr/>
        </p:nvSpPr>
        <p:spPr>
          <a:xfrm>
            <a:off x="8549640" y="5212080"/>
            <a:ext cx="1481328" cy="502920"/>
          </a:xfrm>
          <a:prstGeom prst="rect">
            <a:avLst/>
          </a:prstGeom>
          <a:noFill/>
          <a:ln/>
        </p:spPr>
        <p:txBody>
          <a:bodyPr wrap="square" lIns="0" tIns="0" rIns="0" bIns="0" rtlCol="0" anchor="ctr"/>
          <a:lstStyle/>
          <a:p>
            <a:pPr algn="ctr" indent="0" marL="0">
              <a:buNone/>
            </a:pPr>
            <a:r>
              <a:rPr lang="en-US" sz="1100" b="1" dirty="0">
                <a:solidFill>
                  <a:schemeClr val="tx2"/>
                </a:solidFill>
              </a:rPr>
              <a:t>NPCI bank validation</a:t>
            </a:r>
            <a:endParaRPr lang="en-US" sz="1100" dirty="0"/>
          </a:p>
        </p:txBody>
      </p:sp>
      <p:sp>
        <p:nvSpPr>
          <p:cNvPr id="34" name="dpi-chip-139"/>
          <p:cNvSpPr/>
          <p:nvPr/>
        </p:nvSpPr>
        <p:spPr>
          <a:xfrm>
            <a:off x="10149840" y="5212080"/>
            <a:ext cx="1481328" cy="502920"/>
          </a:xfrm>
          <a:prstGeom prst="roundRect">
            <a:avLst>
              <a:gd name="adj" fmla="val 14545"/>
            </a:avLst>
          </a:prstGeom>
          <a:solidFill>
            <a:schemeClr val="bg1"/>
          </a:solidFill>
          <a:ln w="12700">
            <a:solidFill>
              <a:srgbClr val="DBE3EF"/>
            </a:solidFill>
            <a:prstDash val="solid"/>
          </a:ln>
        </p:spPr>
      </p:sp>
      <p:sp>
        <p:nvSpPr>
          <p:cNvPr id="35" name="Text 30"/>
          <p:cNvSpPr txBox="1"/>
          <p:nvPr/>
        </p:nvSpPr>
        <p:spPr>
          <a:xfrm>
            <a:off x="10149840" y="5212080"/>
            <a:ext cx="1481328" cy="502920"/>
          </a:xfrm>
          <a:prstGeom prst="rect">
            <a:avLst/>
          </a:prstGeom>
          <a:noFill/>
          <a:ln/>
        </p:spPr>
        <p:txBody>
          <a:bodyPr wrap="square" lIns="0" tIns="0" rIns="0" bIns="0" rtlCol="0" anchor="ctr"/>
          <a:lstStyle/>
          <a:p>
            <a:pPr algn="ctr" indent="0" marL="0">
              <a:buNone/>
            </a:pPr>
            <a:r>
              <a:rPr lang="en-US" sz="1100" b="1" dirty="0">
                <a:solidFill>
                  <a:schemeClr val="tx2"/>
                </a:solidFill>
              </a:rPr>
              <a:t>New Labour Codes</a:t>
            </a:r>
            <a:endParaRPr lang="en-US" sz="11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Paperless, at the scale of a nation</a:t>
            </a:r>
            <a:endParaRPr lang="en-US" sz="3200" dirty="0"/>
          </a:p>
        </p:txBody>
      </p:sp>
      <p:sp>
        <p:nvSpPr>
          <p:cNvPr id="3" name="Text 1"/>
          <p:cNvSpPr txBox="1"/>
          <p:nvPr/>
        </p:nvSpPr>
        <p:spPr>
          <a:xfrm>
            <a:off x="548640" y="1463040"/>
            <a:ext cx="4206240" cy="731520"/>
          </a:xfrm>
          <a:prstGeom prst="rect">
            <a:avLst/>
          </a:prstGeom>
          <a:noFill/>
          <a:ln/>
        </p:spPr>
        <p:txBody>
          <a:bodyPr wrap="square" lIns="0" tIns="0" rIns="0" bIns="0" rtlCol="0" anchor="t"/>
          <a:lstStyle/>
          <a:p>
            <a:pPr indent="0" marL="0">
              <a:buNone/>
            </a:pPr>
            <a:r>
              <a:rPr lang="en-US" sz="4400" b="1" dirty="0">
                <a:solidFill>
                  <a:schemeClr val="bg1"/>
                </a:solidFill>
              </a:rPr>
              <a:t>50 billion</a:t>
            </a:r>
            <a:endParaRPr lang="en-US" sz="4400" dirty="0"/>
          </a:p>
        </p:txBody>
      </p:sp>
      <p:sp>
        <p:nvSpPr>
          <p:cNvPr id="4" name="Text 2"/>
          <p:cNvSpPr txBox="1"/>
          <p:nvPr/>
        </p:nvSpPr>
        <p:spPr>
          <a:xfrm>
            <a:off x="548640" y="2194560"/>
            <a:ext cx="4206240" cy="320040"/>
          </a:xfrm>
          <a:prstGeom prst="rect">
            <a:avLst/>
          </a:prstGeom>
          <a:noFill/>
          <a:ln/>
        </p:spPr>
        <p:txBody>
          <a:bodyPr wrap="square" lIns="0" tIns="0" rIns="0" bIns="0" rtlCol="0" anchor="t"/>
          <a:lstStyle/>
          <a:p>
            <a:pPr indent="0" marL="0">
              <a:buNone/>
            </a:pPr>
            <a:r>
              <a:rPr lang="en-US" sz="1400" dirty="0">
                <a:solidFill>
                  <a:schemeClr val="bg2"/>
                </a:solidFill>
              </a:rPr>
              <a:t>sheets of paper saved a year</a:t>
            </a:r>
            <a:endParaRPr lang="en-US" sz="1400" dirty="0"/>
          </a:p>
        </p:txBody>
      </p:sp>
      <p:sp>
        <p:nvSpPr>
          <p:cNvPr id="5" name="Text 3"/>
          <p:cNvSpPr txBox="1"/>
          <p:nvPr/>
        </p:nvSpPr>
        <p:spPr>
          <a:xfrm>
            <a:off x="548640" y="2697480"/>
            <a:ext cx="4206240" cy="731520"/>
          </a:xfrm>
          <a:prstGeom prst="rect">
            <a:avLst/>
          </a:prstGeom>
          <a:noFill/>
          <a:ln/>
        </p:spPr>
        <p:txBody>
          <a:bodyPr wrap="square" lIns="0" tIns="0" rIns="0" bIns="0" rtlCol="0" anchor="t"/>
          <a:lstStyle/>
          <a:p>
            <a:pPr indent="0" marL="0">
              <a:buNone/>
            </a:pPr>
            <a:r>
              <a:rPr lang="en-US" sz="4400" b="1" dirty="0">
                <a:solidFill>
                  <a:schemeClr val="accent5"/>
                </a:solidFill>
              </a:rPr>
              <a:t>6 million</a:t>
            </a:r>
            <a:endParaRPr lang="en-US" sz="4400" dirty="0"/>
          </a:p>
        </p:txBody>
      </p:sp>
      <p:sp>
        <p:nvSpPr>
          <p:cNvPr id="6" name="Text 4"/>
          <p:cNvSpPr txBox="1"/>
          <p:nvPr/>
        </p:nvSpPr>
        <p:spPr>
          <a:xfrm>
            <a:off x="548640" y="3429000"/>
            <a:ext cx="4206240" cy="320040"/>
          </a:xfrm>
          <a:prstGeom prst="rect">
            <a:avLst/>
          </a:prstGeom>
          <a:noFill/>
          <a:ln/>
        </p:spPr>
        <p:txBody>
          <a:bodyPr wrap="square" lIns="0" tIns="0" rIns="0" bIns="0" rtlCol="0" anchor="t"/>
          <a:lstStyle/>
          <a:p>
            <a:pPr indent="0" marL="0">
              <a:buNone/>
            </a:pPr>
            <a:r>
              <a:rPr lang="en-US" sz="1400" dirty="0">
                <a:solidFill>
                  <a:schemeClr val="bg2"/>
                </a:solidFill>
              </a:rPr>
              <a:t>trees left standing a year</a:t>
            </a:r>
            <a:endParaRPr lang="en-US" sz="1400" dirty="0"/>
          </a:p>
        </p:txBody>
      </p:sp>
      <p:sp>
        <p:nvSpPr>
          <p:cNvPr id="7" name="Text 5"/>
          <p:cNvSpPr txBox="1"/>
          <p:nvPr/>
        </p:nvSpPr>
        <p:spPr>
          <a:xfrm>
            <a:off x="548640" y="3931920"/>
            <a:ext cx="4206240" cy="731520"/>
          </a:xfrm>
          <a:prstGeom prst="rect">
            <a:avLst/>
          </a:prstGeom>
          <a:noFill/>
          <a:ln/>
        </p:spPr>
        <p:txBody>
          <a:bodyPr wrap="square" lIns="0" tIns="0" rIns="0" bIns="0" rtlCol="0" anchor="t"/>
          <a:lstStyle/>
          <a:p>
            <a:pPr indent="0" marL="0">
              <a:buNone/>
            </a:pPr>
            <a:r>
              <a:rPr lang="en-US" sz="4400" b="1" dirty="0">
                <a:solidFill>
                  <a:schemeClr val="accent6"/>
                </a:solidFill>
              </a:rPr>
              <a:t>2.5 lakh t</a:t>
            </a:r>
            <a:endParaRPr lang="en-US" sz="4400" dirty="0"/>
          </a:p>
        </p:txBody>
      </p:sp>
      <p:sp>
        <p:nvSpPr>
          <p:cNvPr id="8" name="Text 6"/>
          <p:cNvSpPr txBox="1"/>
          <p:nvPr/>
        </p:nvSpPr>
        <p:spPr>
          <a:xfrm>
            <a:off x="548640" y="4663440"/>
            <a:ext cx="4206240" cy="320040"/>
          </a:xfrm>
          <a:prstGeom prst="rect">
            <a:avLst/>
          </a:prstGeom>
          <a:noFill/>
          <a:ln/>
        </p:spPr>
        <p:txBody>
          <a:bodyPr wrap="square" lIns="0" tIns="0" rIns="0" bIns="0" rtlCol="0" anchor="t"/>
          <a:lstStyle/>
          <a:p>
            <a:pPr indent="0" marL="0">
              <a:buNone/>
            </a:pPr>
            <a:r>
              <a:rPr lang="en-US" sz="1400" dirty="0">
                <a:solidFill>
                  <a:schemeClr val="bg2"/>
                </a:solidFill>
              </a:rPr>
              <a:t>CO₂e avoided a year</a:t>
            </a:r>
            <a:endParaRPr lang="en-US" sz="1400" dirty="0"/>
          </a:p>
        </p:txBody>
      </p:sp>
      <p:sp>
        <p:nvSpPr>
          <p:cNvPr id="9" name="Text 7"/>
          <p:cNvSpPr txBox="1"/>
          <p:nvPr/>
        </p:nvSpPr>
        <p:spPr>
          <a:xfrm>
            <a:off x="548640" y="5257800"/>
            <a:ext cx="4389120" cy="640080"/>
          </a:xfrm>
          <a:prstGeom prst="rect">
            <a:avLst/>
          </a:prstGeom>
          <a:noFill/>
          <a:ln/>
        </p:spPr>
        <p:txBody>
          <a:bodyPr wrap="square" lIns="0" tIns="0" rIns="0" bIns="0" rtlCol="0" anchor="t"/>
          <a:lstStyle/>
          <a:p>
            <a:pPr indent="0" marL="0">
              <a:buNone/>
            </a:pPr>
            <a:r>
              <a:rPr lang="en-US" sz="1100" dirty="0">
                <a:solidFill>
                  <a:schemeClr val="accent6"/>
                </a:solidFill>
              </a:rPr>
              <a:t>At 50 crore workers. Assumes 100 sheets per worker a year, 8,333 sheets per tree and 5 g CO₂e per sheet. Illustrative estimate.</a:t>
            </a:r>
            <a:endParaRPr lang="en-US" sz="1100" dirty="0"/>
          </a:p>
        </p:txBody>
      </p:sp>
      <p:sp>
        <p:nvSpPr>
          <p:cNvPr id="10" name="paper-calculator-frame-140"/>
          <p:cNvSpPr/>
          <p:nvPr/>
        </p:nvSpPr>
        <p:spPr>
          <a:xfrm>
            <a:off x="5303520" y="1417320"/>
            <a:ext cx="6309360" cy="4480560"/>
          </a:xfrm>
          <a:prstGeom prst="roundRect">
            <a:avLst>
              <a:gd name="adj" fmla="val 2449"/>
            </a:avLst>
          </a:prstGeom>
          <a:solidFill>
            <a:schemeClr val="tx1"/>
          </a:solidFill>
          <a:ln w="9525">
            <a:solidFill>
              <a:schemeClr val="accent6">
                <a:alpha val="45000"/>
              </a:schemeClr>
            </a:solidFill>
            <a:prstDash val="solid"/>
          </a:ln>
          <a:effectLst>
            <a:outerShdw sx="100000" sy="100000" kx="0" ky="0" algn="bl" rotWithShape="0" blurRad="177800" dist="50800" dir="5400000">
              <a:srgbClr val="01183A">
                <a:alpha val="35000"/>
              </a:srgbClr>
            </a:outerShdw>
          </a:effectLst>
        </p:spPr>
      </p:sp>
      <p:pic>
        <p:nvPicPr>
          <p:cNvPr id="11" name="paper-calculator-141" descr="preencoded.png">    </p:cNvPr>
          <p:cNvPicPr>
            <a:picLocks noChangeAspect="1"/>
          </p:cNvPicPr>
          <p:nvPr/>
        </p:nvPicPr>
        <p:blipFill>
          <a:blip r:embed="rId1"/>
          <a:srcRect l="0" r="0" t="0" b="0"/>
          <a:stretch/>
        </p:blipFill>
        <p:spPr>
          <a:xfrm>
            <a:off x="5376672" y="1490472"/>
            <a:ext cx="6163056" cy="4334256"/>
          </a:xfrm>
          <a:prstGeom prst="rect">
            <a:avLst/>
          </a:prstGeom>
        </p:spPr>
      </p:pic>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Value for every party on the record</a:t>
            </a:r>
            <a:endParaRPr lang="en-US" sz="3200" dirty="0"/>
          </a:p>
        </p:txBody>
      </p:sp>
      <p:sp>
        <p:nvSpPr>
          <p:cNvPr id="3" name="value-col-142"/>
          <p:cNvSpPr/>
          <p:nvPr/>
        </p:nvSpPr>
        <p:spPr>
          <a:xfrm>
            <a:off x="548640" y="1417320"/>
            <a:ext cx="3566160" cy="4617720"/>
          </a:xfrm>
          <a:prstGeom prst="roundRect">
            <a:avLst>
              <a:gd name="adj" fmla="val 3077"/>
            </a:avLst>
          </a:prstGeom>
          <a:solidFill>
            <a:schemeClr val="tx2"/>
          </a:solidFill>
          <a:ln w="12700">
            <a:solidFill>
              <a:schemeClr val="tx2"/>
            </a:solidFill>
            <a:prstDash val="solid"/>
          </a:ln>
        </p:spPr>
      </p:sp>
      <p:sp>
        <p:nvSpPr>
          <p:cNvPr id="4" name="icon-circle-143"/>
          <p:cNvSpPr/>
          <p:nvPr/>
        </p:nvSpPr>
        <p:spPr>
          <a:xfrm>
            <a:off x="822960" y="1691640"/>
            <a:ext cx="585216" cy="585216"/>
          </a:xfrm>
          <a:prstGeom prst="ellipse">
            <a:avLst/>
          </a:prstGeom>
          <a:solidFill>
            <a:schemeClr val="accent1"/>
          </a:solidFill>
          <a:ln w="12700">
            <a:solidFill>
              <a:schemeClr val="accent1"/>
            </a:solidFill>
            <a:prstDash val="solid"/>
          </a:ln>
        </p:spPr>
      </p:sp>
      <p:pic>
        <p:nvPicPr>
          <p:cNvPr id="5" name="icon-144" descr="preencoded.png">    </p:cNvPr>
          <p:cNvPicPr>
            <a:picLocks noChangeAspect="1"/>
          </p:cNvPicPr>
          <p:nvPr/>
        </p:nvPicPr>
        <p:blipFill>
          <a:blip r:embed="rId1"/>
          <a:stretch>
            <a:fillRect/>
          </a:stretch>
        </p:blipFill>
        <p:spPr>
          <a:xfrm>
            <a:off x="963412" y="1832092"/>
            <a:ext cx="304312" cy="304312"/>
          </a:xfrm>
          <a:prstGeom prst="rect">
            <a:avLst/>
          </a:prstGeom>
        </p:spPr>
      </p:pic>
      <p:sp>
        <p:nvSpPr>
          <p:cNvPr id="6" name="Text 3"/>
          <p:cNvSpPr txBox="1"/>
          <p:nvPr/>
        </p:nvSpPr>
        <p:spPr>
          <a:xfrm>
            <a:off x="1554480" y="1783080"/>
            <a:ext cx="2377440" cy="411480"/>
          </a:xfrm>
          <a:prstGeom prst="rect">
            <a:avLst/>
          </a:prstGeom>
          <a:noFill/>
          <a:ln/>
        </p:spPr>
        <p:txBody>
          <a:bodyPr wrap="square" lIns="0" tIns="0" rIns="0" bIns="0" rtlCol="0" anchor="t"/>
          <a:lstStyle/>
          <a:p>
            <a:pPr indent="0" marL="0">
              <a:buNone/>
            </a:pPr>
            <a:r>
              <a:rPr lang="en-US" sz="1900" b="1" dirty="0">
                <a:solidFill>
                  <a:schemeClr val="bg1"/>
                </a:solidFill>
              </a:rPr>
              <a:t>Workers</a:t>
            </a:r>
            <a:endParaRPr lang="en-US" sz="1900" dirty="0"/>
          </a:p>
        </p:txBody>
      </p:sp>
      <p:sp>
        <p:nvSpPr>
          <p:cNvPr id="7" name="Text 4"/>
          <p:cNvSpPr txBox="1"/>
          <p:nvPr/>
        </p:nvSpPr>
        <p:spPr>
          <a:xfrm>
            <a:off x="822960" y="2514600"/>
            <a:ext cx="30632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2"/>
                </a:solidFill>
              </a:rPr>
              <a:t>A verified ID that moves between jobs and states</a:t>
            </a:r>
            <a:endParaRPr lang="en-US" sz="1400" dirty="0"/>
          </a:p>
          <a:p>
            <a:pPr marL="342900" indent="-342900">
              <a:spcAft>
                <a:spcPts val="1000"/>
              </a:spcAft>
              <a:buSzPct val="100000"/>
              <a:buChar char="•"/>
            </a:pPr>
            <a:r>
              <a:rPr lang="en-US" sz="1400" dirty="0">
                <a:solidFill>
                  <a:schemeClr val="bg2"/>
                </a:solidFill>
              </a:rPr>
              <a:t>Every day worked and every rupee paid, visible</a:t>
            </a:r>
            <a:endParaRPr lang="en-US" sz="1400" dirty="0"/>
          </a:p>
          <a:p>
            <a:pPr marL="342900" indent="-342900">
              <a:spcAft>
                <a:spcPts val="1000"/>
              </a:spcAft>
              <a:buSzPct val="100000"/>
              <a:buChar char="•"/>
            </a:pPr>
            <a:r>
              <a:rPr lang="en-US" sz="1400" dirty="0">
                <a:solidFill>
                  <a:schemeClr val="bg2"/>
                </a:solidFill>
              </a:rPr>
              <a:t>Grievances by voice, in their own language</a:t>
            </a:r>
            <a:endParaRPr lang="en-US" sz="1400" dirty="0"/>
          </a:p>
        </p:txBody>
      </p:sp>
      <p:sp>
        <p:nvSpPr>
          <p:cNvPr id="8" name="placeholder-145"/>
          <p:cNvSpPr/>
          <p:nvPr/>
        </p:nvSpPr>
        <p:spPr>
          <a:xfrm>
            <a:off x="822960" y="4800600"/>
            <a:ext cx="3017520" cy="960120"/>
          </a:xfrm>
          <a:prstGeom prst="roundRect">
            <a:avLst>
              <a:gd name="adj" fmla="val 9524"/>
            </a:avLst>
          </a:prstGeom>
          <a:solidFill>
            <a:schemeClr val="tx2"/>
          </a:solidFill>
          <a:ln w="12700">
            <a:solidFill>
              <a:schemeClr val="accent6"/>
            </a:solidFill>
            <a:prstDash val="dash"/>
          </a:ln>
        </p:spPr>
      </p:sp>
      <p:sp>
        <p:nvSpPr>
          <p:cNvPr id="9" name="Text 6"/>
          <p:cNvSpPr txBox="1"/>
          <p:nvPr/>
        </p:nvSpPr>
        <p:spPr>
          <a:xfrm>
            <a:off x="960120" y="4800600"/>
            <a:ext cx="2743200" cy="960120"/>
          </a:xfrm>
          <a:prstGeom prst="rect">
            <a:avLst/>
          </a:prstGeom>
          <a:noFill/>
          <a:ln/>
        </p:spPr>
        <p:txBody>
          <a:bodyPr wrap="square" lIns="0" tIns="0" rIns="0" bIns="0" rtlCol="0" anchor="ctr"/>
          <a:lstStyle/>
          <a:p>
            <a:pPr algn="ctr" indent="0" marL="0">
              <a:buNone/>
            </a:pPr>
            <a:r>
              <a:rPr lang="en-US" sz="1200" i="1" dirty="0">
                <a:solidFill>
                  <a:schemeClr val="accent6"/>
                </a:solidFill>
              </a:rPr>
              <a:t>[Outcome metric, e.g. wage queries resolved within x days]</a:t>
            </a:r>
            <a:endParaRPr lang="en-US" sz="1200" dirty="0"/>
          </a:p>
        </p:txBody>
      </p:sp>
      <p:sp>
        <p:nvSpPr>
          <p:cNvPr id="10" name="value-col-146"/>
          <p:cNvSpPr/>
          <p:nvPr/>
        </p:nvSpPr>
        <p:spPr>
          <a:xfrm>
            <a:off x="4297680" y="1417320"/>
            <a:ext cx="3566160" cy="4617720"/>
          </a:xfrm>
          <a:prstGeom prst="roundRect">
            <a:avLst>
              <a:gd name="adj" fmla="val 3077"/>
            </a:avLst>
          </a:prstGeom>
          <a:solidFill>
            <a:schemeClr val="tx2"/>
          </a:solidFill>
          <a:ln w="12700">
            <a:solidFill>
              <a:schemeClr val="tx2"/>
            </a:solidFill>
            <a:prstDash val="solid"/>
          </a:ln>
        </p:spPr>
      </p:sp>
      <p:sp>
        <p:nvSpPr>
          <p:cNvPr id="11" name="icon-circle-147"/>
          <p:cNvSpPr/>
          <p:nvPr/>
        </p:nvSpPr>
        <p:spPr>
          <a:xfrm>
            <a:off x="4572000" y="1691640"/>
            <a:ext cx="585216" cy="585216"/>
          </a:xfrm>
          <a:prstGeom prst="ellipse">
            <a:avLst/>
          </a:prstGeom>
          <a:solidFill>
            <a:schemeClr val="accent2"/>
          </a:solidFill>
          <a:ln w="12700">
            <a:solidFill>
              <a:schemeClr val="accent2"/>
            </a:solidFill>
            <a:prstDash val="solid"/>
          </a:ln>
        </p:spPr>
      </p:sp>
      <p:pic>
        <p:nvPicPr>
          <p:cNvPr id="12" name="icon-148" descr="preencoded.png">    </p:cNvPr>
          <p:cNvPicPr>
            <a:picLocks noChangeAspect="1"/>
          </p:cNvPicPr>
          <p:nvPr/>
        </p:nvPicPr>
        <p:blipFill>
          <a:blip r:embed="rId2"/>
          <a:stretch>
            <a:fillRect/>
          </a:stretch>
        </p:blipFill>
        <p:spPr>
          <a:xfrm>
            <a:off x="4712452" y="1832092"/>
            <a:ext cx="304312" cy="304312"/>
          </a:xfrm>
          <a:prstGeom prst="rect">
            <a:avLst/>
          </a:prstGeom>
        </p:spPr>
      </p:pic>
      <p:sp>
        <p:nvSpPr>
          <p:cNvPr id="13" name="Text 9"/>
          <p:cNvSpPr txBox="1"/>
          <p:nvPr/>
        </p:nvSpPr>
        <p:spPr>
          <a:xfrm>
            <a:off x="5303520" y="1783080"/>
            <a:ext cx="2377440" cy="411480"/>
          </a:xfrm>
          <a:prstGeom prst="rect">
            <a:avLst/>
          </a:prstGeom>
          <a:noFill/>
          <a:ln/>
        </p:spPr>
        <p:txBody>
          <a:bodyPr wrap="square" lIns="0" tIns="0" rIns="0" bIns="0" rtlCol="0" anchor="t"/>
          <a:lstStyle/>
          <a:p>
            <a:pPr indent="0" marL="0">
              <a:buNone/>
            </a:pPr>
            <a:r>
              <a:rPr lang="en-US" sz="1900" b="1" dirty="0">
                <a:solidFill>
                  <a:schemeClr val="bg1"/>
                </a:solidFill>
              </a:rPr>
              <a:t>Contractors</a:t>
            </a:r>
            <a:endParaRPr lang="en-US" sz="1900" dirty="0"/>
          </a:p>
        </p:txBody>
      </p:sp>
      <p:sp>
        <p:nvSpPr>
          <p:cNvPr id="14" name="Text 10"/>
          <p:cNvSpPr txBox="1"/>
          <p:nvPr/>
        </p:nvSpPr>
        <p:spPr>
          <a:xfrm>
            <a:off x="4572000" y="2514600"/>
            <a:ext cx="30632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2"/>
                </a:solidFill>
              </a:rPr>
              <a:t>Onboard a crew at the gate in minutes</a:t>
            </a:r>
            <a:endParaRPr lang="en-US" sz="1400" dirty="0"/>
          </a:p>
          <a:p>
            <a:pPr marL="342900" indent="-342900">
              <a:spcAft>
                <a:spcPts val="1000"/>
              </a:spcAft>
              <a:buSzPct val="100000"/>
              <a:buChar char="•"/>
            </a:pPr>
            <a:r>
              <a:rPr lang="en-US" sz="1400" dirty="0">
                <a:solidFill>
                  <a:schemeClr val="bg2"/>
                </a:solidFill>
              </a:rPr>
              <a:t>CLRA registers and returns generated, not typed</a:t>
            </a:r>
            <a:endParaRPr lang="en-US" sz="1400" dirty="0"/>
          </a:p>
          <a:p>
            <a:pPr marL="342900" indent="-342900">
              <a:spcAft>
                <a:spcPts val="1000"/>
              </a:spcAft>
              <a:buSzPct val="100000"/>
              <a:buChar char="•"/>
            </a:pPr>
            <a:r>
              <a:rPr lang="en-US" sz="1400" dirty="0">
                <a:solidFill>
                  <a:schemeClr val="bg2"/>
                </a:solidFill>
              </a:rPr>
              <a:t>One submission centre for every client</a:t>
            </a:r>
            <a:endParaRPr lang="en-US" sz="1400" dirty="0"/>
          </a:p>
        </p:txBody>
      </p:sp>
      <p:sp>
        <p:nvSpPr>
          <p:cNvPr id="15" name="placeholder-149"/>
          <p:cNvSpPr/>
          <p:nvPr/>
        </p:nvSpPr>
        <p:spPr>
          <a:xfrm>
            <a:off x="4572000" y="4800600"/>
            <a:ext cx="3017520" cy="960120"/>
          </a:xfrm>
          <a:prstGeom prst="roundRect">
            <a:avLst>
              <a:gd name="adj" fmla="val 9524"/>
            </a:avLst>
          </a:prstGeom>
          <a:solidFill>
            <a:schemeClr val="tx2"/>
          </a:solidFill>
          <a:ln w="12700">
            <a:solidFill>
              <a:schemeClr val="accent6"/>
            </a:solidFill>
            <a:prstDash val="dash"/>
          </a:ln>
        </p:spPr>
      </p:sp>
      <p:sp>
        <p:nvSpPr>
          <p:cNvPr id="16" name="Text 12"/>
          <p:cNvSpPr txBox="1"/>
          <p:nvPr/>
        </p:nvSpPr>
        <p:spPr>
          <a:xfrm>
            <a:off x="4709160" y="4800600"/>
            <a:ext cx="2743200" cy="960120"/>
          </a:xfrm>
          <a:prstGeom prst="rect">
            <a:avLst/>
          </a:prstGeom>
          <a:noFill/>
          <a:ln/>
        </p:spPr>
        <p:txBody>
          <a:bodyPr wrap="square" lIns="0" tIns="0" rIns="0" bIns="0" rtlCol="0" anchor="ctr"/>
          <a:lstStyle/>
          <a:p>
            <a:pPr algn="ctr" indent="0" marL="0">
              <a:buNone/>
            </a:pPr>
            <a:r>
              <a:rPr lang="en-US" sz="1200" i="1" dirty="0">
                <a:solidFill>
                  <a:schemeClr val="accent6"/>
                </a:solidFill>
              </a:rPr>
              <a:t>[Outcome metric, e.g. x hours saved per 100 workers per month]</a:t>
            </a:r>
            <a:endParaRPr lang="en-US" sz="1200" dirty="0"/>
          </a:p>
        </p:txBody>
      </p:sp>
      <p:sp>
        <p:nvSpPr>
          <p:cNvPr id="17" name="value-col-150"/>
          <p:cNvSpPr/>
          <p:nvPr/>
        </p:nvSpPr>
        <p:spPr>
          <a:xfrm>
            <a:off x="8046720" y="1417320"/>
            <a:ext cx="3566160" cy="4617720"/>
          </a:xfrm>
          <a:prstGeom prst="roundRect">
            <a:avLst>
              <a:gd name="adj" fmla="val 3077"/>
            </a:avLst>
          </a:prstGeom>
          <a:solidFill>
            <a:schemeClr val="tx2"/>
          </a:solidFill>
          <a:ln w="12700">
            <a:solidFill>
              <a:schemeClr val="tx2"/>
            </a:solidFill>
            <a:prstDash val="solid"/>
          </a:ln>
        </p:spPr>
      </p:sp>
      <p:sp>
        <p:nvSpPr>
          <p:cNvPr id="18" name="icon-circle-151"/>
          <p:cNvSpPr/>
          <p:nvPr/>
        </p:nvSpPr>
        <p:spPr>
          <a:xfrm>
            <a:off x="8321040" y="1691640"/>
            <a:ext cx="585216" cy="585216"/>
          </a:xfrm>
          <a:prstGeom prst="ellipse">
            <a:avLst/>
          </a:prstGeom>
          <a:solidFill>
            <a:schemeClr val="accent3"/>
          </a:solidFill>
          <a:ln w="12700">
            <a:solidFill>
              <a:schemeClr val="accent3"/>
            </a:solidFill>
            <a:prstDash val="solid"/>
          </a:ln>
        </p:spPr>
      </p:sp>
      <p:pic>
        <p:nvPicPr>
          <p:cNvPr id="19" name="icon-152" descr="preencoded.png">    </p:cNvPr>
          <p:cNvPicPr>
            <a:picLocks noChangeAspect="1"/>
          </p:cNvPicPr>
          <p:nvPr/>
        </p:nvPicPr>
        <p:blipFill>
          <a:blip r:embed="rId3"/>
          <a:stretch>
            <a:fillRect/>
          </a:stretch>
        </p:blipFill>
        <p:spPr>
          <a:xfrm>
            <a:off x="8461492" y="1832092"/>
            <a:ext cx="304312" cy="304312"/>
          </a:xfrm>
          <a:prstGeom prst="rect">
            <a:avLst/>
          </a:prstGeom>
        </p:spPr>
      </p:pic>
      <p:sp>
        <p:nvSpPr>
          <p:cNvPr id="20" name="Text 15"/>
          <p:cNvSpPr txBox="1"/>
          <p:nvPr/>
        </p:nvSpPr>
        <p:spPr>
          <a:xfrm>
            <a:off x="9052560" y="1783080"/>
            <a:ext cx="2377440" cy="411480"/>
          </a:xfrm>
          <a:prstGeom prst="rect">
            <a:avLst/>
          </a:prstGeom>
          <a:noFill/>
          <a:ln/>
        </p:spPr>
        <p:txBody>
          <a:bodyPr wrap="square" lIns="0" tIns="0" rIns="0" bIns="0" rtlCol="0" anchor="t"/>
          <a:lstStyle/>
          <a:p>
            <a:pPr indent="0" marL="0">
              <a:buNone/>
            </a:pPr>
            <a:r>
              <a:rPr lang="en-US" sz="1900" b="1" dirty="0">
                <a:solidFill>
                  <a:schemeClr val="bg1"/>
                </a:solidFill>
              </a:rPr>
              <a:t>Principal employers</a:t>
            </a:r>
            <a:endParaRPr lang="en-US" sz="1900" dirty="0"/>
          </a:p>
        </p:txBody>
      </p:sp>
      <p:sp>
        <p:nvSpPr>
          <p:cNvPr id="21" name="Text 16"/>
          <p:cNvSpPr txBox="1"/>
          <p:nvPr/>
        </p:nvSpPr>
        <p:spPr>
          <a:xfrm>
            <a:off x="8321040" y="2514600"/>
            <a:ext cx="30632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2"/>
                </a:solidFill>
              </a:rPr>
              <a:t>Know who is on each site, under which contractor</a:t>
            </a:r>
            <a:endParaRPr lang="en-US" sz="1400" dirty="0"/>
          </a:p>
          <a:p>
            <a:pPr marL="342900" indent="-342900">
              <a:spcAft>
                <a:spcPts val="1000"/>
              </a:spcAft>
              <a:buSzPct val="100000"/>
              <a:buChar char="•"/>
            </a:pPr>
            <a:r>
              <a:rPr lang="en-US" sz="1400" dirty="0">
                <a:solidFill>
                  <a:schemeClr val="bg2"/>
                </a:solidFill>
              </a:rPr>
              <a:t>Audit-ready reporting for executives, CXOs and the board</a:t>
            </a:r>
            <a:endParaRPr lang="en-US" sz="1400" dirty="0"/>
          </a:p>
          <a:p>
            <a:pPr marL="342900" indent="-342900">
              <a:spcAft>
                <a:spcPts val="1000"/>
              </a:spcAft>
              <a:buSzPct val="100000"/>
              <a:buChar char="•"/>
            </a:pPr>
            <a:r>
              <a:rPr lang="en-US" sz="1400" dirty="0">
                <a:solidFill>
                  <a:schemeClr val="bg2"/>
                </a:solidFill>
              </a:rPr>
              <a:t>Act-wise compliance scores across all sites</a:t>
            </a:r>
            <a:endParaRPr lang="en-US" sz="1400" dirty="0"/>
          </a:p>
        </p:txBody>
      </p:sp>
      <p:sp>
        <p:nvSpPr>
          <p:cNvPr id="22" name="placeholder-153"/>
          <p:cNvSpPr/>
          <p:nvPr/>
        </p:nvSpPr>
        <p:spPr>
          <a:xfrm>
            <a:off x="8321040" y="4800600"/>
            <a:ext cx="3017520" cy="960120"/>
          </a:xfrm>
          <a:prstGeom prst="roundRect">
            <a:avLst>
              <a:gd name="adj" fmla="val 9524"/>
            </a:avLst>
          </a:prstGeom>
          <a:solidFill>
            <a:schemeClr val="tx2"/>
          </a:solidFill>
          <a:ln w="12700">
            <a:solidFill>
              <a:schemeClr val="accent6"/>
            </a:solidFill>
            <a:prstDash val="dash"/>
          </a:ln>
        </p:spPr>
      </p:sp>
      <p:sp>
        <p:nvSpPr>
          <p:cNvPr id="23" name="Text 18"/>
          <p:cNvSpPr txBox="1"/>
          <p:nvPr/>
        </p:nvSpPr>
        <p:spPr>
          <a:xfrm>
            <a:off x="8458200" y="4800600"/>
            <a:ext cx="2743200" cy="960120"/>
          </a:xfrm>
          <a:prstGeom prst="rect">
            <a:avLst/>
          </a:prstGeom>
          <a:noFill/>
          <a:ln/>
        </p:spPr>
        <p:txBody>
          <a:bodyPr wrap="square" lIns="0" tIns="0" rIns="0" bIns="0" rtlCol="0" anchor="ctr"/>
          <a:lstStyle/>
          <a:p>
            <a:pPr algn="ctr" indent="0" marL="0">
              <a:buNone/>
            </a:pPr>
            <a:r>
              <a:rPr lang="en-US" sz="1200" i="1" dirty="0">
                <a:solidFill>
                  <a:schemeClr val="accent6"/>
                </a:solidFill>
              </a:rPr>
              <a:t>[Outcome metric, e.g. x% fewer compliance gaps]</a:t>
            </a:r>
            <a:endParaRPr lang="en-US" sz="12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Security and data privacy by design</a:t>
            </a:r>
            <a:endParaRPr lang="en-US" sz="3200" dirty="0"/>
          </a:p>
        </p:txBody>
      </p:sp>
      <p:sp>
        <p:nvSpPr>
          <p:cNvPr id="3" name="icon-circle-154"/>
          <p:cNvSpPr/>
          <p:nvPr/>
        </p:nvSpPr>
        <p:spPr>
          <a:xfrm>
            <a:off x="548640" y="1463040"/>
            <a:ext cx="548640" cy="548640"/>
          </a:xfrm>
          <a:prstGeom prst="ellipse">
            <a:avLst/>
          </a:prstGeom>
          <a:solidFill>
            <a:schemeClr val="accent2"/>
          </a:solidFill>
          <a:ln w="12700">
            <a:solidFill>
              <a:schemeClr val="accent2"/>
            </a:solidFill>
            <a:prstDash val="solid"/>
          </a:ln>
        </p:spPr>
      </p:sp>
      <p:pic>
        <p:nvPicPr>
          <p:cNvPr id="4" name="icon-155" descr="preencoded.png">    </p:cNvPr>
          <p:cNvPicPr>
            <a:picLocks noChangeAspect="1"/>
          </p:cNvPicPr>
          <p:nvPr/>
        </p:nvPicPr>
        <p:blipFill>
          <a:blip r:embed="rId1"/>
          <a:stretch>
            <a:fillRect/>
          </a:stretch>
        </p:blipFill>
        <p:spPr>
          <a:xfrm>
            <a:off x="680314" y="1594714"/>
            <a:ext cx="285293" cy="285293"/>
          </a:xfrm>
          <a:prstGeom prst="rect">
            <a:avLst/>
          </a:prstGeom>
        </p:spPr>
      </p:pic>
      <p:sp>
        <p:nvSpPr>
          <p:cNvPr id="5" name="Text 2"/>
          <p:cNvSpPr txBox="1"/>
          <p:nvPr/>
        </p:nvSpPr>
        <p:spPr>
          <a:xfrm>
            <a:off x="1280160" y="1481328"/>
            <a:ext cx="2834640" cy="365760"/>
          </a:xfrm>
          <a:prstGeom prst="rect">
            <a:avLst/>
          </a:prstGeom>
          <a:noFill/>
          <a:ln/>
        </p:spPr>
        <p:txBody>
          <a:bodyPr wrap="square" lIns="0" tIns="0" rIns="0" bIns="0" rtlCol="0" anchor="t"/>
          <a:lstStyle/>
          <a:p>
            <a:pPr indent="0" marL="0">
              <a:buNone/>
            </a:pPr>
            <a:r>
              <a:rPr lang="en-US" sz="1600" b="1" dirty="0">
                <a:solidFill>
                  <a:schemeClr val="tx1"/>
                </a:solidFill>
              </a:rPr>
              <a:t>Consent for every fetch</a:t>
            </a:r>
            <a:endParaRPr lang="en-US" sz="1600" dirty="0"/>
          </a:p>
        </p:txBody>
      </p:sp>
      <p:sp>
        <p:nvSpPr>
          <p:cNvPr id="6" name="Text 3"/>
          <p:cNvSpPr txBox="1"/>
          <p:nvPr/>
        </p:nvSpPr>
        <p:spPr>
          <a:xfrm>
            <a:off x="1280160" y="1874520"/>
            <a:ext cx="2834640" cy="914400"/>
          </a:xfrm>
          <a:prstGeom prst="rect">
            <a:avLst/>
          </a:prstGeom>
          <a:noFill/>
          <a:ln/>
        </p:spPr>
        <p:txBody>
          <a:bodyPr wrap="square" lIns="0" tIns="0" rIns="0" bIns="0" rtlCol="0" anchor="t"/>
          <a:lstStyle/>
          <a:p>
            <a:pPr indent="0" marL="0">
              <a:buNone/>
            </a:pPr>
            <a:r>
              <a:rPr lang="en-US" sz="1300" dirty="0">
                <a:solidFill>
                  <a:schemeClr val="tx2"/>
                </a:solidFill>
              </a:rPr>
              <a:t>Workers approve each government data fetch and can revoke consent from settings</a:t>
            </a:r>
            <a:endParaRPr lang="en-US" sz="1300" dirty="0"/>
          </a:p>
        </p:txBody>
      </p:sp>
      <p:sp>
        <p:nvSpPr>
          <p:cNvPr id="7" name="icon-circle-156"/>
          <p:cNvSpPr/>
          <p:nvPr/>
        </p:nvSpPr>
        <p:spPr>
          <a:xfrm>
            <a:off x="4297680" y="1463040"/>
            <a:ext cx="548640" cy="548640"/>
          </a:xfrm>
          <a:prstGeom prst="ellipse">
            <a:avLst/>
          </a:prstGeom>
          <a:solidFill>
            <a:schemeClr val="accent1"/>
          </a:solidFill>
          <a:ln w="12700">
            <a:solidFill>
              <a:schemeClr val="accent1"/>
            </a:solidFill>
            <a:prstDash val="solid"/>
          </a:ln>
        </p:spPr>
      </p:sp>
      <p:pic>
        <p:nvPicPr>
          <p:cNvPr id="8" name="icon-157" descr="preencoded.png">    </p:cNvPr>
          <p:cNvPicPr>
            <a:picLocks noChangeAspect="1"/>
          </p:cNvPicPr>
          <p:nvPr/>
        </p:nvPicPr>
        <p:blipFill>
          <a:blip r:embed="rId2"/>
          <a:stretch>
            <a:fillRect/>
          </a:stretch>
        </p:blipFill>
        <p:spPr>
          <a:xfrm>
            <a:off x="4429354" y="1594714"/>
            <a:ext cx="285293" cy="285293"/>
          </a:xfrm>
          <a:prstGeom prst="rect">
            <a:avLst/>
          </a:prstGeom>
        </p:spPr>
      </p:pic>
      <p:sp>
        <p:nvSpPr>
          <p:cNvPr id="9" name="Text 5"/>
          <p:cNvSpPr txBox="1"/>
          <p:nvPr/>
        </p:nvSpPr>
        <p:spPr>
          <a:xfrm>
            <a:off x="5029200" y="1481328"/>
            <a:ext cx="2834640" cy="365760"/>
          </a:xfrm>
          <a:prstGeom prst="rect">
            <a:avLst/>
          </a:prstGeom>
          <a:noFill/>
          <a:ln/>
        </p:spPr>
        <p:txBody>
          <a:bodyPr wrap="square" lIns="0" tIns="0" rIns="0" bIns="0" rtlCol="0" anchor="t"/>
          <a:lstStyle/>
          <a:p>
            <a:pPr indent="0" marL="0">
              <a:buNone/>
            </a:pPr>
            <a:r>
              <a:rPr lang="en-US" sz="1600" b="1" dirty="0">
                <a:solidFill>
                  <a:schemeClr val="tx1"/>
                </a:solidFill>
              </a:rPr>
              <a:t>Masked identifiers</a:t>
            </a:r>
            <a:endParaRPr lang="en-US" sz="1600" dirty="0"/>
          </a:p>
        </p:txBody>
      </p:sp>
      <p:sp>
        <p:nvSpPr>
          <p:cNvPr id="10" name="Text 6"/>
          <p:cNvSpPr txBox="1"/>
          <p:nvPr/>
        </p:nvSpPr>
        <p:spPr>
          <a:xfrm>
            <a:off x="5029200" y="1874520"/>
            <a:ext cx="2834640" cy="914400"/>
          </a:xfrm>
          <a:prstGeom prst="rect">
            <a:avLst/>
          </a:prstGeom>
          <a:noFill/>
          <a:ln/>
        </p:spPr>
        <p:txBody>
          <a:bodyPr wrap="square" lIns="0" tIns="0" rIns="0" bIns="0" rtlCol="0" anchor="t"/>
          <a:lstStyle/>
          <a:p>
            <a:pPr indent="0" marL="0">
              <a:buNone/>
            </a:pPr>
            <a:r>
              <a:rPr lang="en-US" sz="1300" dirty="0">
                <a:solidFill>
                  <a:schemeClr val="tx2"/>
                </a:solidFill>
              </a:rPr>
              <a:t>Aadhaar and bank numbers are masked in every view</a:t>
            </a:r>
            <a:endParaRPr lang="en-US" sz="1300" dirty="0"/>
          </a:p>
        </p:txBody>
      </p:sp>
      <p:sp>
        <p:nvSpPr>
          <p:cNvPr id="11" name="icon-circle-158"/>
          <p:cNvSpPr/>
          <p:nvPr/>
        </p:nvSpPr>
        <p:spPr>
          <a:xfrm>
            <a:off x="8046720" y="1463040"/>
            <a:ext cx="548640" cy="548640"/>
          </a:xfrm>
          <a:prstGeom prst="ellipse">
            <a:avLst/>
          </a:prstGeom>
          <a:solidFill>
            <a:schemeClr val="accent3"/>
          </a:solidFill>
          <a:ln w="12700">
            <a:solidFill>
              <a:schemeClr val="accent3"/>
            </a:solidFill>
            <a:prstDash val="solid"/>
          </a:ln>
        </p:spPr>
      </p:sp>
      <p:pic>
        <p:nvPicPr>
          <p:cNvPr id="12" name="icon-159" descr="preencoded.png">    </p:cNvPr>
          <p:cNvPicPr>
            <a:picLocks noChangeAspect="1"/>
          </p:cNvPicPr>
          <p:nvPr/>
        </p:nvPicPr>
        <p:blipFill>
          <a:blip r:embed="rId3"/>
          <a:stretch>
            <a:fillRect/>
          </a:stretch>
        </p:blipFill>
        <p:spPr>
          <a:xfrm>
            <a:off x="8178394" y="1594714"/>
            <a:ext cx="285293" cy="285293"/>
          </a:xfrm>
          <a:prstGeom prst="rect">
            <a:avLst/>
          </a:prstGeom>
        </p:spPr>
      </p:pic>
      <p:sp>
        <p:nvSpPr>
          <p:cNvPr id="13" name="Text 8"/>
          <p:cNvSpPr txBox="1"/>
          <p:nvPr/>
        </p:nvSpPr>
        <p:spPr>
          <a:xfrm>
            <a:off x="8778240" y="1481328"/>
            <a:ext cx="2834640" cy="365760"/>
          </a:xfrm>
          <a:prstGeom prst="rect">
            <a:avLst/>
          </a:prstGeom>
          <a:noFill/>
          <a:ln/>
        </p:spPr>
        <p:txBody>
          <a:bodyPr wrap="square" lIns="0" tIns="0" rIns="0" bIns="0" rtlCol="0" anchor="t"/>
          <a:lstStyle/>
          <a:p>
            <a:pPr indent="0" marL="0">
              <a:buNone/>
            </a:pPr>
            <a:r>
              <a:rPr lang="en-US" sz="1600" b="1" dirty="0">
                <a:solidFill>
                  <a:schemeClr val="tx1"/>
                </a:solidFill>
              </a:rPr>
              <a:t>Role-based access</a:t>
            </a:r>
            <a:endParaRPr lang="en-US" sz="1600" dirty="0"/>
          </a:p>
        </p:txBody>
      </p:sp>
      <p:sp>
        <p:nvSpPr>
          <p:cNvPr id="14" name="Text 9"/>
          <p:cNvSpPr txBox="1"/>
          <p:nvPr/>
        </p:nvSpPr>
        <p:spPr>
          <a:xfrm>
            <a:off x="8778240" y="1874520"/>
            <a:ext cx="2834640" cy="914400"/>
          </a:xfrm>
          <a:prstGeom prst="rect">
            <a:avLst/>
          </a:prstGeom>
          <a:noFill/>
          <a:ln/>
        </p:spPr>
        <p:txBody>
          <a:bodyPr wrap="square" lIns="0" tIns="0" rIns="0" bIns="0" rtlCol="0" anchor="t"/>
          <a:lstStyle/>
          <a:p>
            <a:pPr indent="0" marL="0">
              <a:buNone/>
            </a:pPr>
            <a:r>
              <a:rPr lang="en-US" sz="1300" dirty="0">
                <a:solidFill>
                  <a:schemeClr val="tx2"/>
                </a:solidFill>
              </a:rPr>
              <a:t>Admin, site manager, compliance officer and viewer roles per organisation</a:t>
            </a:r>
            <a:endParaRPr lang="en-US" sz="1300" dirty="0"/>
          </a:p>
        </p:txBody>
      </p:sp>
      <p:sp>
        <p:nvSpPr>
          <p:cNvPr id="15" name="icon-circle-160"/>
          <p:cNvSpPr/>
          <p:nvPr/>
        </p:nvSpPr>
        <p:spPr>
          <a:xfrm>
            <a:off x="548640" y="3154680"/>
            <a:ext cx="548640" cy="548640"/>
          </a:xfrm>
          <a:prstGeom prst="ellipse">
            <a:avLst/>
          </a:prstGeom>
          <a:solidFill>
            <a:schemeClr val="tx2"/>
          </a:solidFill>
          <a:ln w="12700">
            <a:solidFill>
              <a:schemeClr val="tx2"/>
            </a:solidFill>
            <a:prstDash val="solid"/>
          </a:ln>
        </p:spPr>
      </p:sp>
      <p:pic>
        <p:nvPicPr>
          <p:cNvPr id="16" name="icon-161" descr="preencoded.png">    </p:cNvPr>
          <p:cNvPicPr>
            <a:picLocks noChangeAspect="1"/>
          </p:cNvPicPr>
          <p:nvPr/>
        </p:nvPicPr>
        <p:blipFill>
          <a:blip r:embed="rId4"/>
          <a:stretch>
            <a:fillRect/>
          </a:stretch>
        </p:blipFill>
        <p:spPr>
          <a:xfrm>
            <a:off x="680314" y="3286354"/>
            <a:ext cx="285293" cy="285293"/>
          </a:xfrm>
          <a:prstGeom prst="rect">
            <a:avLst/>
          </a:prstGeom>
        </p:spPr>
      </p:pic>
      <p:sp>
        <p:nvSpPr>
          <p:cNvPr id="17" name="Text 11"/>
          <p:cNvSpPr txBox="1"/>
          <p:nvPr/>
        </p:nvSpPr>
        <p:spPr>
          <a:xfrm>
            <a:off x="1280160" y="3172968"/>
            <a:ext cx="2834640" cy="365760"/>
          </a:xfrm>
          <a:prstGeom prst="rect">
            <a:avLst/>
          </a:prstGeom>
          <a:noFill/>
          <a:ln/>
        </p:spPr>
        <p:txBody>
          <a:bodyPr wrap="square" lIns="0" tIns="0" rIns="0" bIns="0" rtlCol="0" anchor="t"/>
          <a:lstStyle/>
          <a:p>
            <a:pPr indent="0" marL="0">
              <a:buNone/>
            </a:pPr>
            <a:r>
              <a:rPr lang="en-US" sz="1600" b="1" dirty="0">
                <a:solidFill>
                  <a:schemeClr val="tx1"/>
                </a:solidFill>
              </a:rPr>
              <a:t>Full audit trail</a:t>
            </a:r>
            <a:endParaRPr lang="en-US" sz="1600" dirty="0"/>
          </a:p>
        </p:txBody>
      </p:sp>
      <p:sp>
        <p:nvSpPr>
          <p:cNvPr id="18" name="Text 12"/>
          <p:cNvSpPr txBox="1"/>
          <p:nvPr/>
        </p:nvSpPr>
        <p:spPr>
          <a:xfrm>
            <a:off x="1280160" y="3566160"/>
            <a:ext cx="2834640" cy="914400"/>
          </a:xfrm>
          <a:prstGeom prst="rect">
            <a:avLst/>
          </a:prstGeom>
          <a:noFill/>
          <a:ln/>
        </p:spPr>
        <p:txBody>
          <a:bodyPr wrap="square" lIns="0" tIns="0" rIns="0" bIns="0" rtlCol="0" anchor="t"/>
          <a:lstStyle/>
          <a:p>
            <a:pPr indent="0" marL="0">
              <a:buNone/>
            </a:pPr>
            <a:r>
              <a:rPr lang="en-US" sz="1300" dirty="0">
                <a:solidFill>
                  <a:schemeClr val="tx2"/>
                </a:solidFill>
              </a:rPr>
              <a:t>Every approval, edit and payment logged with who did what and when</a:t>
            </a:r>
            <a:endParaRPr lang="en-US" sz="1300" dirty="0"/>
          </a:p>
        </p:txBody>
      </p:sp>
      <p:sp>
        <p:nvSpPr>
          <p:cNvPr id="19" name="icon-circle-162"/>
          <p:cNvSpPr/>
          <p:nvPr/>
        </p:nvSpPr>
        <p:spPr>
          <a:xfrm>
            <a:off x="4297680" y="3154680"/>
            <a:ext cx="548640" cy="548640"/>
          </a:xfrm>
          <a:prstGeom prst="ellipse">
            <a:avLst/>
          </a:prstGeom>
          <a:solidFill>
            <a:schemeClr val="accent2"/>
          </a:solidFill>
          <a:ln w="12700">
            <a:solidFill>
              <a:schemeClr val="accent2"/>
            </a:solidFill>
            <a:prstDash val="solid"/>
          </a:ln>
        </p:spPr>
      </p:sp>
      <p:pic>
        <p:nvPicPr>
          <p:cNvPr id="20" name="icon-163" descr="preencoded.png">    </p:cNvPr>
          <p:cNvPicPr>
            <a:picLocks noChangeAspect="1"/>
          </p:cNvPicPr>
          <p:nvPr/>
        </p:nvPicPr>
        <p:blipFill>
          <a:blip r:embed="rId5"/>
          <a:stretch>
            <a:fillRect/>
          </a:stretch>
        </p:blipFill>
        <p:spPr>
          <a:xfrm>
            <a:off x="4429354" y="3286354"/>
            <a:ext cx="285293" cy="285293"/>
          </a:xfrm>
          <a:prstGeom prst="rect">
            <a:avLst/>
          </a:prstGeom>
        </p:spPr>
      </p:pic>
      <p:sp>
        <p:nvSpPr>
          <p:cNvPr id="21" name="Text 14"/>
          <p:cNvSpPr txBox="1"/>
          <p:nvPr/>
        </p:nvSpPr>
        <p:spPr>
          <a:xfrm>
            <a:off x="5029200" y="3172968"/>
            <a:ext cx="2834640" cy="365760"/>
          </a:xfrm>
          <a:prstGeom prst="rect">
            <a:avLst/>
          </a:prstGeom>
          <a:noFill/>
          <a:ln/>
        </p:spPr>
        <p:txBody>
          <a:bodyPr wrap="square" lIns="0" tIns="0" rIns="0" bIns="0" rtlCol="0" anchor="t"/>
          <a:lstStyle/>
          <a:p>
            <a:pPr indent="0" marL="0">
              <a:buNone/>
            </a:pPr>
            <a:r>
              <a:rPr lang="en-US" sz="1600" b="1" dirty="0">
                <a:solidFill>
                  <a:schemeClr val="tx1"/>
                </a:solidFill>
              </a:rPr>
              <a:t>Attestation, not documents</a:t>
            </a:r>
            <a:endParaRPr lang="en-US" sz="1600" dirty="0"/>
          </a:p>
        </p:txBody>
      </p:sp>
      <p:sp>
        <p:nvSpPr>
          <p:cNvPr id="22" name="Text 15"/>
          <p:cNvSpPr txBox="1"/>
          <p:nvPr/>
        </p:nvSpPr>
        <p:spPr>
          <a:xfrm>
            <a:off x="5029200" y="3566160"/>
            <a:ext cx="2834640" cy="914400"/>
          </a:xfrm>
          <a:prstGeom prst="rect">
            <a:avLst/>
          </a:prstGeom>
          <a:noFill/>
          <a:ln/>
        </p:spPr>
        <p:txBody>
          <a:bodyPr wrap="square" lIns="0" tIns="0" rIns="0" bIns="0" rtlCol="0" anchor="t"/>
          <a:lstStyle/>
          <a:p>
            <a:pPr indent="0" marL="0">
              <a:buNone/>
            </a:pPr>
            <a:r>
              <a:rPr lang="en-US" sz="1300" dirty="0">
                <a:solidFill>
                  <a:schemeClr val="tx2"/>
                </a:solidFill>
              </a:rPr>
              <a:t>Verification returns valid or invalid status, never the raw document</a:t>
            </a:r>
            <a:endParaRPr lang="en-US" sz="1300" dirty="0"/>
          </a:p>
        </p:txBody>
      </p:sp>
      <p:sp>
        <p:nvSpPr>
          <p:cNvPr id="23" name="icon-circle-164"/>
          <p:cNvSpPr/>
          <p:nvPr/>
        </p:nvSpPr>
        <p:spPr>
          <a:xfrm>
            <a:off x="8046720" y="3154680"/>
            <a:ext cx="548640" cy="548640"/>
          </a:xfrm>
          <a:prstGeom prst="ellipse">
            <a:avLst/>
          </a:prstGeom>
          <a:solidFill>
            <a:schemeClr val="accent1"/>
          </a:solidFill>
          <a:ln w="12700">
            <a:solidFill>
              <a:schemeClr val="accent1"/>
            </a:solidFill>
            <a:prstDash val="solid"/>
          </a:ln>
        </p:spPr>
      </p:sp>
      <p:pic>
        <p:nvPicPr>
          <p:cNvPr id="24" name="icon-165" descr="preencoded.png">    </p:cNvPr>
          <p:cNvPicPr>
            <a:picLocks noChangeAspect="1"/>
          </p:cNvPicPr>
          <p:nvPr/>
        </p:nvPicPr>
        <p:blipFill>
          <a:blip r:embed="rId6"/>
          <a:stretch>
            <a:fillRect/>
          </a:stretch>
        </p:blipFill>
        <p:spPr>
          <a:xfrm>
            <a:off x="8178394" y="3286354"/>
            <a:ext cx="285293" cy="285293"/>
          </a:xfrm>
          <a:prstGeom prst="rect">
            <a:avLst/>
          </a:prstGeom>
        </p:spPr>
      </p:pic>
      <p:sp>
        <p:nvSpPr>
          <p:cNvPr id="25" name="Text 17"/>
          <p:cNvSpPr txBox="1"/>
          <p:nvPr/>
        </p:nvSpPr>
        <p:spPr>
          <a:xfrm>
            <a:off x="8778240" y="3172968"/>
            <a:ext cx="2834640" cy="365760"/>
          </a:xfrm>
          <a:prstGeom prst="rect">
            <a:avLst/>
          </a:prstGeom>
          <a:noFill/>
          <a:ln/>
        </p:spPr>
        <p:txBody>
          <a:bodyPr wrap="square" lIns="0" tIns="0" rIns="0" bIns="0" rtlCol="0" anchor="t"/>
          <a:lstStyle/>
          <a:p>
            <a:pPr indent="0" marL="0">
              <a:buNone/>
            </a:pPr>
            <a:r>
              <a:rPr lang="en-US" sz="1600" b="1" dirty="0">
                <a:solidFill>
                  <a:schemeClr val="tx1"/>
                </a:solidFill>
              </a:rPr>
              <a:t>Compliance never blocked</a:t>
            </a:r>
            <a:endParaRPr lang="en-US" sz="1600" dirty="0"/>
          </a:p>
        </p:txBody>
      </p:sp>
      <p:sp>
        <p:nvSpPr>
          <p:cNvPr id="26" name="Text 18"/>
          <p:cNvSpPr txBox="1"/>
          <p:nvPr/>
        </p:nvSpPr>
        <p:spPr>
          <a:xfrm>
            <a:off x="8778240" y="3566160"/>
            <a:ext cx="2834640" cy="914400"/>
          </a:xfrm>
          <a:prstGeom prst="rect">
            <a:avLst/>
          </a:prstGeom>
          <a:noFill/>
          <a:ln/>
        </p:spPr>
        <p:txBody>
          <a:bodyPr wrap="square" lIns="0" tIns="0" rIns="0" bIns="0" rtlCol="0" anchor="t"/>
          <a:lstStyle/>
          <a:p>
            <a:pPr indent="0" marL="0">
              <a:buNone/>
            </a:pPr>
            <a:r>
              <a:rPr lang="en-US" sz="1300" dirty="0">
                <a:solidFill>
                  <a:schemeClr val="tx2"/>
                </a:solidFill>
              </a:rPr>
              <a:t>Billing issues can never stop a statutory filing or a worker’s welfare action</a:t>
            </a:r>
            <a:endParaRPr lang="en-US" sz="1300" dirty="0"/>
          </a:p>
        </p:txBody>
      </p:sp>
      <p:sp>
        <p:nvSpPr>
          <p:cNvPr id="27" name="placeholder-166"/>
          <p:cNvSpPr/>
          <p:nvPr/>
        </p:nvSpPr>
        <p:spPr>
          <a:xfrm>
            <a:off x="548640" y="5029200"/>
            <a:ext cx="11064240" cy="822960"/>
          </a:xfrm>
          <a:prstGeom prst="roundRect">
            <a:avLst>
              <a:gd name="adj" fmla="val 11111"/>
            </a:avLst>
          </a:prstGeom>
          <a:solidFill>
            <a:schemeClr val="bg2"/>
          </a:solidFill>
          <a:ln w="12700">
            <a:solidFill>
              <a:schemeClr val="accent6"/>
            </a:solidFill>
            <a:prstDash val="dash"/>
          </a:ln>
        </p:spPr>
      </p:sp>
      <p:sp>
        <p:nvSpPr>
          <p:cNvPr id="28" name="Text 20"/>
          <p:cNvSpPr txBox="1"/>
          <p:nvPr/>
        </p:nvSpPr>
        <p:spPr>
          <a:xfrm>
            <a:off x="685800" y="5029200"/>
            <a:ext cx="10789920" cy="822960"/>
          </a:xfrm>
          <a:prstGeom prst="rect">
            <a:avLst/>
          </a:prstGeom>
          <a:noFill/>
          <a:ln/>
        </p:spPr>
        <p:txBody>
          <a:bodyPr wrap="square" lIns="0" tIns="0" rIns="0" bIns="0" rtlCol="0" anchor="ctr"/>
          <a:lstStyle/>
          <a:p>
            <a:pPr algn="ctr" indent="0" marL="0">
              <a:buNone/>
            </a:pPr>
            <a:r>
              <a:rPr lang="en-US" sz="1400" i="1" dirty="0">
                <a:solidFill>
                  <a:schemeClr val="tx2"/>
                </a:solidFill>
              </a:rPr>
              <a:t>[Hosting, data residency and certifications, e.g. India-region cloud, ISO 27001, VAPT report: add]</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Going live: from first call to first audit-ready report</a:t>
            </a:r>
            <a:endParaRPr lang="en-US" sz="3200" dirty="0"/>
          </a:p>
        </p:txBody>
      </p:sp>
      <p:sp>
        <p:nvSpPr>
          <p:cNvPr id="3" name="rollout-step-167"/>
          <p:cNvSpPr/>
          <p:nvPr/>
        </p:nvSpPr>
        <p:spPr>
          <a:xfrm>
            <a:off x="548640" y="1463040"/>
            <a:ext cx="2697480" cy="640080"/>
          </a:xfrm>
          <a:prstGeom prst="chevron">
            <a:avLst/>
          </a:prstGeom>
          <a:solidFill>
            <a:schemeClr val="accent3"/>
          </a:solidFill>
          <a:ln w="12700">
            <a:solidFill>
              <a:schemeClr val="bg1"/>
            </a:solidFill>
            <a:prstDash val="solid"/>
          </a:ln>
        </p:spPr>
      </p:sp>
      <p:sp>
        <p:nvSpPr>
          <p:cNvPr id="4" name="Text 2"/>
          <p:cNvSpPr txBox="1"/>
          <p:nvPr/>
        </p:nvSpPr>
        <p:spPr>
          <a:xfrm>
            <a:off x="868680" y="1463040"/>
            <a:ext cx="2194560" cy="640080"/>
          </a:xfrm>
          <a:prstGeom prst="rect">
            <a:avLst/>
          </a:prstGeom>
          <a:noFill/>
          <a:ln/>
        </p:spPr>
        <p:txBody>
          <a:bodyPr wrap="square" lIns="0" tIns="0" rIns="0" bIns="0" rtlCol="0" anchor="ctr"/>
          <a:lstStyle/>
          <a:p>
            <a:pPr indent="0" marL="0">
              <a:buNone/>
            </a:pPr>
            <a:r>
              <a:rPr lang="en-US" sz="1500" b="1" dirty="0">
                <a:solidFill>
                  <a:schemeClr val="bg1"/>
                </a:solidFill>
              </a:rPr>
              <a:t>1  Configure</a:t>
            </a:r>
            <a:endParaRPr lang="en-US" sz="1500" dirty="0"/>
          </a:p>
        </p:txBody>
      </p:sp>
      <p:sp>
        <p:nvSpPr>
          <p:cNvPr id="5" name="Text 3"/>
          <p:cNvSpPr txBox="1"/>
          <p:nvPr/>
        </p:nvSpPr>
        <p:spPr>
          <a:xfrm>
            <a:off x="640080" y="2240280"/>
            <a:ext cx="2560320" cy="320040"/>
          </a:xfrm>
          <a:prstGeom prst="rect">
            <a:avLst/>
          </a:prstGeom>
          <a:noFill/>
          <a:ln/>
        </p:spPr>
        <p:txBody>
          <a:bodyPr wrap="square" lIns="0" tIns="0" rIns="0" bIns="0" rtlCol="0" anchor="t"/>
          <a:lstStyle/>
          <a:p>
            <a:pPr indent="0" marL="0">
              <a:buNone/>
            </a:pPr>
            <a:r>
              <a:rPr lang="en-US" sz="1300" b="1" i="1" dirty="0">
                <a:solidFill>
                  <a:schemeClr val="accent4"/>
                </a:solidFill>
              </a:rPr>
              <a:t>[Week x]</a:t>
            </a:r>
            <a:endParaRPr lang="en-US" sz="1300" dirty="0"/>
          </a:p>
        </p:txBody>
      </p:sp>
      <p:sp>
        <p:nvSpPr>
          <p:cNvPr id="6" name="Text 4"/>
          <p:cNvSpPr txBox="1"/>
          <p:nvPr/>
        </p:nvSpPr>
        <p:spPr>
          <a:xfrm>
            <a:off x="640080" y="2560320"/>
            <a:ext cx="2560320" cy="822960"/>
          </a:xfrm>
          <a:prstGeom prst="rect">
            <a:avLst/>
          </a:prstGeom>
          <a:noFill/>
          <a:ln/>
        </p:spPr>
        <p:txBody>
          <a:bodyPr wrap="square" lIns="0" tIns="0" rIns="0" bIns="0" rtlCol="0" anchor="t"/>
          <a:lstStyle/>
          <a:p>
            <a:pPr indent="0" marL="0">
              <a:buNone/>
            </a:pPr>
            <a:r>
              <a:rPr lang="en-US" sz="1300" dirty="0">
                <a:solidFill>
                  <a:schemeClr val="tx2"/>
                </a:solidFill>
              </a:rPr>
              <a:t>Sites, states, applicable acts, pay structures and roles</a:t>
            </a:r>
            <a:endParaRPr lang="en-US" sz="1300" dirty="0"/>
          </a:p>
        </p:txBody>
      </p:sp>
      <p:sp>
        <p:nvSpPr>
          <p:cNvPr id="7" name="rollout-step-168"/>
          <p:cNvSpPr/>
          <p:nvPr/>
        </p:nvSpPr>
        <p:spPr>
          <a:xfrm>
            <a:off x="3383280" y="1463040"/>
            <a:ext cx="2697480" cy="640080"/>
          </a:xfrm>
          <a:prstGeom prst="chevron">
            <a:avLst/>
          </a:prstGeom>
          <a:solidFill>
            <a:schemeClr val="tx2"/>
          </a:solidFill>
          <a:ln w="12700">
            <a:solidFill>
              <a:schemeClr val="bg1"/>
            </a:solidFill>
            <a:prstDash val="solid"/>
          </a:ln>
        </p:spPr>
      </p:sp>
      <p:sp>
        <p:nvSpPr>
          <p:cNvPr id="8" name="Text 6"/>
          <p:cNvSpPr txBox="1"/>
          <p:nvPr/>
        </p:nvSpPr>
        <p:spPr>
          <a:xfrm>
            <a:off x="3703320" y="1463040"/>
            <a:ext cx="2194560" cy="640080"/>
          </a:xfrm>
          <a:prstGeom prst="rect">
            <a:avLst/>
          </a:prstGeom>
          <a:noFill/>
          <a:ln/>
        </p:spPr>
        <p:txBody>
          <a:bodyPr wrap="square" lIns="0" tIns="0" rIns="0" bIns="0" rtlCol="0" anchor="ctr"/>
          <a:lstStyle/>
          <a:p>
            <a:pPr indent="0" marL="0">
              <a:buNone/>
            </a:pPr>
            <a:r>
              <a:rPr lang="en-US" sz="1500" b="1" dirty="0">
                <a:solidFill>
                  <a:schemeClr val="bg1"/>
                </a:solidFill>
              </a:rPr>
              <a:t>2  Onboard contractors</a:t>
            </a:r>
            <a:endParaRPr lang="en-US" sz="1500" dirty="0"/>
          </a:p>
        </p:txBody>
      </p:sp>
      <p:sp>
        <p:nvSpPr>
          <p:cNvPr id="9" name="Text 7"/>
          <p:cNvSpPr txBox="1"/>
          <p:nvPr/>
        </p:nvSpPr>
        <p:spPr>
          <a:xfrm>
            <a:off x="3474720" y="2240280"/>
            <a:ext cx="2560320" cy="320040"/>
          </a:xfrm>
          <a:prstGeom prst="rect">
            <a:avLst/>
          </a:prstGeom>
          <a:noFill/>
          <a:ln/>
        </p:spPr>
        <p:txBody>
          <a:bodyPr wrap="square" lIns="0" tIns="0" rIns="0" bIns="0" rtlCol="0" anchor="t"/>
          <a:lstStyle/>
          <a:p>
            <a:pPr indent="0" marL="0">
              <a:buNone/>
            </a:pPr>
            <a:r>
              <a:rPr lang="en-US" sz="1300" b="1" i="1" dirty="0">
                <a:solidFill>
                  <a:schemeClr val="accent4"/>
                </a:solidFill>
              </a:rPr>
              <a:t>[Week x]</a:t>
            </a:r>
            <a:endParaRPr lang="en-US" sz="1300" dirty="0"/>
          </a:p>
        </p:txBody>
      </p:sp>
      <p:sp>
        <p:nvSpPr>
          <p:cNvPr id="10" name="Text 8"/>
          <p:cNvSpPr txBox="1"/>
          <p:nvPr/>
        </p:nvSpPr>
        <p:spPr>
          <a:xfrm>
            <a:off x="3474720" y="2560320"/>
            <a:ext cx="2560320" cy="822960"/>
          </a:xfrm>
          <a:prstGeom prst="rect">
            <a:avLst/>
          </a:prstGeom>
          <a:noFill/>
          <a:ln/>
        </p:spPr>
        <p:txBody>
          <a:bodyPr wrap="square" lIns="0" tIns="0" rIns="0" bIns="0" rtlCol="0" anchor="t"/>
          <a:lstStyle/>
          <a:p>
            <a:pPr indent="0" marL="0">
              <a:buNone/>
            </a:pPr>
            <a:r>
              <a:rPr lang="en-US" sz="1300" dirty="0">
                <a:solidFill>
                  <a:schemeClr val="tx2"/>
                </a:solidFill>
              </a:rPr>
              <a:t>QR invitations, licence and document verification</a:t>
            </a:r>
            <a:endParaRPr lang="en-US" sz="1300" dirty="0"/>
          </a:p>
        </p:txBody>
      </p:sp>
      <p:sp>
        <p:nvSpPr>
          <p:cNvPr id="11" name="rollout-step-169"/>
          <p:cNvSpPr/>
          <p:nvPr/>
        </p:nvSpPr>
        <p:spPr>
          <a:xfrm>
            <a:off x="6217920" y="1463040"/>
            <a:ext cx="2697480" cy="640080"/>
          </a:xfrm>
          <a:prstGeom prst="chevron">
            <a:avLst/>
          </a:prstGeom>
          <a:solidFill>
            <a:schemeClr val="accent2"/>
          </a:solidFill>
          <a:ln w="12700">
            <a:solidFill>
              <a:schemeClr val="bg1"/>
            </a:solidFill>
            <a:prstDash val="solid"/>
          </a:ln>
        </p:spPr>
      </p:sp>
      <p:sp>
        <p:nvSpPr>
          <p:cNvPr id="12" name="Text 10"/>
          <p:cNvSpPr txBox="1"/>
          <p:nvPr/>
        </p:nvSpPr>
        <p:spPr>
          <a:xfrm>
            <a:off x="6537960" y="1463040"/>
            <a:ext cx="2194560" cy="640080"/>
          </a:xfrm>
          <a:prstGeom prst="rect">
            <a:avLst/>
          </a:prstGeom>
          <a:noFill/>
          <a:ln/>
        </p:spPr>
        <p:txBody>
          <a:bodyPr wrap="square" lIns="0" tIns="0" rIns="0" bIns="0" rtlCol="0" anchor="ctr"/>
          <a:lstStyle/>
          <a:p>
            <a:pPr indent="0" marL="0">
              <a:buNone/>
            </a:pPr>
            <a:r>
              <a:rPr lang="en-US" sz="1500" b="1" dirty="0">
                <a:solidFill>
                  <a:schemeClr val="bg1"/>
                </a:solidFill>
              </a:rPr>
              <a:t>3  Bind and attend</a:t>
            </a:r>
            <a:endParaRPr lang="en-US" sz="1500" dirty="0"/>
          </a:p>
        </p:txBody>
      </p:sp>
      <p:sp>
        <p:nvSpPr>
          <p:cNvPr id="13" name="Text 11"/>
          <p:cNvSpPr txBox="1"/>
          <p:nvPr/>
        </p:nvSpPr>
        <p:spPr>
          <a:xfrm>
            <a:off x="6309360" y="2240280"/>
            <a:ext cx="2560320" cy="320040"/>
          </a:xfrm>
          <a:prstGeom prst="rect">
            <a:avLst/>
          </a:prstGeom>
          <a:noFill/>
          <a:ln/>
        </p:spPr>
        <p:txBody>
          <a:bodyPr wrap="square" lIns="0" tIns="0" rIns="0" bIns="0" rtlCol="0" anchor="t"/>
          <a:lstStyle/>
          <a:p>
            <a:pPr indent="0" marL="0">
              <a:buNone/>
            </a:pPr>
            <a:r>
              <a:rPr lang="en-US" sz="1300" b="1" i="1" dirty="0">
                <a:solidFill>
                  <a:schemeClr val="accent4"/>
                </a:solidFill>
              </a:rPr>
              <a:t>[Week x]</a:t>
            </a:r>
            <a:endParaRPr lang="en-US" sz="1300" dirty="0"/>
          </a:p>
        </p:txBody>
      </p:sp>
      <p:sp>
        <p:nvSpPr>
          <p:cNvPr id="14" name="Text 12"/>
          <p:cNvSpPr txBox="1"/>
          <p:nvPr/>
        </p:nvSpPr>
        <p:spPr>
          <a:xfrm>
            <a:off x="6309360" y="2560320"/>
            <a:ext cx="2560320" cy="822960"/>
          </a:xfrm>
          <a:prstGeom prst="rect">
            <a:avLst/>
          </a:prstGeom>
          <a:noFill/>
          <a:ln/>
        </p:spPr>
        <p:txBody>
          <a:bodyPr wrap="square" lIns="0" tIns="0" rIns="0" bIns="0" rtlCol="0" anchor="t"/>
          <a:lstStyle/>
          <a:p>
            <a:pPr indent="0" marL="0">
              <a:buNone/>
            </a:pPr>
            <a:r>
              <a:rPr lang="en-US" sz="1300" dirty="0">
                <a:solidFill>
                  <a:schemeClr val="tx2"/>
                </a:solidFill>
              </a:rPr>
              <a:t>Workers bound at the gate; Vision AI, RFID, site QR and geo-fencing live</a:t>
            </a:r>
            <a:endParaRPr lang="en-US" sz="1300" dirty="0"/>
          </a:p>
        </p:txBody>
      </p:sp>
      <p:sp>
        <p:nvSpPr>
          <p:cNvPr id="15" name="rollout-step-170"/>
          <p:cNvSpPr/>
          <p:nvPr/>
        </p:nvSpPr>
        <p:spPr>
          <a:xfrm>
            <a:off x="9052560" y="1463040"/>
            <a:ext cx="2697480" cy="640080"/>
          </a:xfrm>
          <a:prstGeom prst="chevron">
            <a:avLst/>
          </a:prstGeom>
          <a:solidFill>
            <a:schemeClr val="accent1"/>
          </a:solidFill>
          <a:ln w="12700">
            <a:solidFill>
              <a:schemeClr val="bg1"/>
            </a:solidFill>
            <a:prstDash val="solid"/>
          </a:ln>
        </p:spPr>
      </p:sp>
      <p:sp>
        <p:nvSpPr>
          <p:cNvPr id="16" name="Text 14"/>
          <p:cNvSpPr txBox="1"/>
          <p:nvPr/>
        </p:nvSpPr>
        <p:spPr>
          <a:xfrm>
            <a:off x="9372600" y="1463040"/>
            <a:ext cx="2194560" cy="640080"/>
          </a:xfrm>
          <a:prstGeom prst="rect">
            <a:avLst/>
          </a:prstGeom>
          <a:noFill/>
          <a:ln/>
        </p:spPr>
        <p:txBody>
          <a:bodyPr wrap="square" lIns="0" tIns="0" rIns="0" bIns="0" rtlCol="0" anchor="ctr"/>
          <a:lstStyle/>
          <a:p>
            <a:pPr indent="0" marL="0">
              <a:buNone/>
            </a:pPr>
            <a:r>
              <a:rPr lang="en-US" sz="1500" b="1" dirty="0">
                <a:solidFill>
                  <a:schemeClr val="bg1"/>
                </a:solidFill>
              </a:rPr>
              <a:t>4  Comply and report</a:t>
            </a:r>
            <a:endParaRPr lang="en-US" sz="1500" dirty="0"/>
          </a:p>
        </p:txBody>
      </p:sp>
      <p:sp>
        <p:nvSpPr>
          <p:cNvPr id="17" name="Text 15"/>
          <p:cNvSpPr txBox="1"/>
          <p:nvPr/>
        </p:nvSpPr>
        <p:spPr>
          <a:xfrm>
            <a:off x="9144000" y="2240280"/>
            <a:ext cx="2560320" cy="320040"/>
          </a:xfrm>
          <a:prstGeom prst="rect">
            <a:avLst/>
          </a:prstGeom>
          <a:noFill/>
          <a:ln/>
        </p:spPr>
        <p:txBody>
          <a:bodyPr wrap="square" lIns="0" tIns="0" rIns="0" bIns="0" rtlCol="0" anchor="t"/>
          <a:lstStyle/>
          <a:p>
            <a:pPr indent="0" marL="0">
              <a:buNone/>
            </a:pPr>
            <a:r>
              <a:rPr lang="en-US" sz="1300" b="1" i="1" dirty="0">
                <a:solidFill>
                  <a:schemeClr val="accent4"/>
                </a:solidFill>
              </a:rPr>
              <a:t>[Week x]</a:t>
            </a:r>
            <a:endParaRPr lang="en-US" sz="1300" dirty="0"/>
          </a:p>
        </p:txBody>
      </p:sp>
      <p:sp>
        <p:nvSpPr>
          <p:cNvPr id="18" name="Text 16"/>
          <p:cNvSpPr txBox="1"/>
          <p:nvPr/>
        </p:nvSpPr>
        <p:spPr>
          <a:xfrm>
            <a:off x="9144000" y="2560320"/>
            <a:ext cx="2560320" cy="822960"/>
          </a:xfrm>
          <a:prstGeom prst="rect">
            <a:avLst/>
          </a:prstGeom>
          <a:noFill/>
          <a:ln/>
        </p:spPr>
        <p:txBody>
          <a:bodyPr wrap="square" lIns="0" tIns="0" rIns="0" bIns="0" rtlCol="0" anchor="t"/>
          <a:lstStyle/>
          <a:p>
            <a:pPr indent="0" marL="0">
              <a:buNone/>
            </a:pPr>
            <a:r>
              <a:rPr lang="en-US" sz="1300" dirty="0">
                <a:solidFill>
                  <a:schemeClr val="tx2"/>
                </a:solidFill>
              </a:rPr>
              <a:t>CLRA registers, monthly submissions and three-layer reporting</a:t>
            </a:r>
            <a:endParaRPr lang="en-US" sz="1300" dirty="0"/>
          </a:p>
        </p:txBody>
      </p:sp>
      <p:sp>
        <p:nvSpPr>
          <p:cNvPr id="19" name="rollout-list-171"/>
          <p:cNvSpPr/>
          <p:nvPr/>
        </p:nvSpPr>
        <p:spPr>
          <a:xfrm>
            <a:off x="548640" y="3657600"/>
            <a:ext cx="5440680" cy="2331720"/>
          </a:xfrm>
          <a:prstGeom prst="roundRect">
            <a:avLst>
              <a:gd name="adj" fmla="val 4706"/>
            </a:avLst>
          </a:prstGeom>
          <a:solidFill>
            <a:schemeClr val="bg2"/>
          </a:solidFill>
          <a:ln w="12700">
            <a:solidFill>
              <a:schemeClr val="bg2"/>
            </a:solidFill>
            <a:prstDash val="solid"/>
          </a:ln>
        </p:spPr>
      </p:sp>
      <p:sp>
        <p:nvSpPr>
          <p:cNvPr id="20" name="Text 18"/>
          <p:cNvSpPr txBox="1"/>
          <p:nvPr/>
        </p:nvSpPr>
        <p:spPr>
          <a:xfrm>
            <a:off x="822960" y="3840480"/>
            <a:ext cx="4937760" cy="365760"/>
          </a:xfrm>
          <a:prstGeom prst="rect">
            <a:avLst/>
          </a:prstGeom>
          <a:noFill/>
          <a:ln/>
        </p:spPr>
        <p:txBody>
          <a:bodyPr wrap="square" lIns="0" tIns="0" rIns="0" bIns="0" rtlCol="0" anchor="t"/>
          <a:lstStyle/>
          <a:p>
            <a:pPr indent="0" marL="0">
              <a:buNone/>
            </a:pPr>
            <a:r>
              <a:rPr lang="en-US" sz="1700" b="1" dirty="0">
                <a:solidFill>
                  <a:schemeClr val="tx1"/>
                </a:solidFill>
              </a:rPr>
              <a:t>What we need from you</a:t>
            </a:r>
            <a:endParaRPr lang="en-US" sz="1700" dirty="0"/>
          </a:p>
        </p:txBody>
      </p:sp>
      <p:sp>
        <p:nvSpPr>
          <p:cNvPr id="21" name="Text 19"/>
          <p:cNvSpPr txBox="1"/>
          <p:nvPr/>
        </p:nvSpPr>
        <p:spPr>
          <a:xfrm>
            <a:off x="822960" y="4297680"/>
            <a:ext cx="49377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Site list with state and location</a:t>
            </a:r>
            <a:endParaRPr lang="en-US" sz="1400" dirty="0"/>
          </a:p>
          <a:p>
            <a:pPr marL="342900" indent="-342900">
              <a:spcAft>
                <a:spcPts val="600"/>
              </a:spcAft>
              <a:buSzPct val="100000"/>
              <a:buChar char="•"/>
            </a:pPr>
            <a:r>
              <a:rPr lang="en-US" sz="1400" dirty="0">
                <a:solidFill>
                  <a:schemeClr val="tx2"/>
                </a:solidFill>
              </a:rPr>
              <a:t>Contractor contacts and licences</a:t>
            </a:r>
            <a:endParaRPr lang="en-US" sz="1400" dirty="0"/>
          </a:p>
          <a:p>
            <a:pPr marL="342900" indent="-342900">
              <a:spcAft>
                <a:spcPts val="600"/>
              </a:spcAft>
              <a:buSzPct val="100000"/>
              <a:buChar char="•"/>
            </a:pPr>
            <a:r>
              <a:rPr lang="en-US" sz="1400" dirty="0">
                <a:solidFill>
                  <a:schemeClr val="tx2"/>
                </a:solidFill>
              </a:rPr>
              <a:t>Wage structures and current registers</a:t>
            </a:r>
            <a:endParaRPr lang="en-US" sz="1400" dirty="0"/>
          </a:p>
          <a:p>
            <a:pPr marL="342900" indent="-342900">
              <a:spcAft>
                <a:spcPts val="600"/>
              </a:spcAft>
              <a:buSzPct val="100000"/>
              <a:buChar char="•"/>
            </a:pPr>
            <a:r>
              <a:rPr lang="en-US" sz="1400" dirty="0">
                <a:solidFill>
                  <a:schemeClr val="tx2"/>
                </a:solidFill>
              </a:rPr>
              <a:t>A project owner on your side</a:t>
            </a:r>
            <a:endParaRPr lang="en-US" sz="1400" dirty="0"/>
          </a:p>
        </p:txBody>
      </p:sp>
      <p:sp>
        <p:nvSpPr>
          <p:cNvPr id="22" name="rollout-list-172"/>
          <p:cNvSpPr/>
          <p:nvPr/>
        </p:nvSpPr>
        <p:spPr>
          <a:xfrm>
            <a:off x="6172200" y="3657600"/>
            <a:ext cx="5440680" cy="2331720"/>
          </a:xfrm>
          <a:prstGeom prst="roundRect">
            <a:avLst>
              <a:gd name="adj" fmla="val 4706"/>
            </a:avLst>
          </a:prstGeom>
          <a:solidFill>
            <a:schemeClr val="bg2"/>
          </a:solidFill>
          <a:ln w="12700">
            <a:solidFill>
              <a:schemeClr val="bg2"/>
            </a:solidFill>
            <a:prstDash val="solid"/>
          </a:ln>
        </p:spPr>
      </p:sp>
      <p:sp>
        <p:nvSpPr>
          <p:cNvPr id="23" name="Text 21"/>
          <p:cNvSpPr txBox="1"/>
          <p:nvPr/>
        </p:nvSpPr>
        <p:spPr>
          <a:xfrm>
            <a:off x="6446520" y="3840480"/>
            <a:ext cx="4937760" cy="365760"/>
          </a:xfrm>
          <a:prstGeom prst="rect">
            <a:avLst/>
          </a:prstGeom>
          <a:noFill/>
          <a:ln/>
        </p:spPr>
        <p:txBody>
          <a:bodyPr wrap="square" lIns="0" tIns="0" rIns="0" bIns="0" rtlCol="0" anchor="t"/>
          <a:lstStyle/>
          <a:p>
            <a:pPr indent="0" marL="0">
              <a:buNone/>
            </a:pPr>
            <a:r>
              <a:rPr lang="en-US" sz="1700" b="1" dirty="0">
                <a:solidFill>
                  <a:schemeClr val="tx1"/>
                </a:solidFill>
              </a:rPr>
              <a:t>What you get</a:t>
            </a:r>
            <a:endParaRPr lang="en-US" sz="1700" dirty="0"/>
          </a:p>
        </p:txBody>
      </p:sp>
      <p:sp>
        <p:nvSpPr>
          <p:cNvPr id="24" name="Text 22"/>
          <p:cNvSpPr txBox="1"/>
          <p:nvPr/>
        </p:nvSpPr>
        <p:spPr>
          <a:xfrm>
            <a:off x="6446520" y="4297680"/>
            <a:ext cx="49377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Dedicated onboarding lead</a:t>
            </a:r>
            <a:endParaRPr lang="en-US" sz="1400" dirty="0"/>
          </a:p>
          <a:p>
            <a:pPr marL="342900" indent="-342900">
              <a:spcAft>
                <a:spcPts val="600"/>
              </a:spcAft>
              <a:buSzPct val="100000"/>
              <a:buChar char="•"/>
            </a:pPr>
            <a:r>
              <a:rPr lang="en-US" sz="1400" dirty="0">
                <a:solidFill>
                  <a:schemeClr val="tx2"/>
                </a:solidFill>
              </a:rPr>
              <a:t>Configured state rules and registers</a:t>
            </a:r>
            <a:endParaRPr lang="en-US" sz="1400" dirty="0"/>
          </a:p>
          <a:p>
            <a:pPr marL="342900" indent="-342900">
              <a:spcAft>
                <a:spcPts val="600"/>
              </a:spcAft>
              <a:buSzPct val="100000"/>
              <a:buChar char="•"/>
            </a:pPr>
            <a:r>
              <a:rPr lang="en-US" sz="1400" dirty="0">
                <a:solidFill>
                  <a:schemeClr val="tx2"/>
                </a:solidFill>
              </a:rPr>
              <a:t>Training for site and contractor teams</a:t>
            </a:r>
            <a:endParaRPr lang="en-US" sz="1400" dirty="0"/>
          </a:p>
          <a:p>
            <a:pPr marL="342900" indent="-342900">
              <a:spcAft>
                <a:spcPts val="600"/>
              </a:spcAft>
              <a:buSzPct val="100000"/>
              <a:buChar char="•"/>
            </a:pPr>
            <a:r>
              <a:rPr lang="en-US" sz="1400" dirty="0">
                <a:solidFill>
                  <a:schemeClr val="tx2"/>
                </a:solidFill>
              </a:rPr>
              <a:t>[Support SLA: add]</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Compliance is mandatory, so demand is built in</a:t>
            </a:r>
            <a:endParaRPr lang="en-US" sz="3200" dirty="0"/>
          </a:p>
        </p:txBody>
      </p:sp>
      <p:sp>
        <p:nvSpPr>
          <p:cNvPr id="3" name="Text 1"/>
          <p:cNvSpPr txBox="1"/>
          <p:nvPr/>
        </p:nvSpPr>
        <p:spPr>
          <a:xfrm>
            <a:off x="548640" y="1371600"/>
            <a:ext cx="11064240" cy="640080"/>
          </a:xfrm>
          <a:prstGeom prst="rect">
            <a:avLst/>
          </a:prstGeom>
          <a:noFill/>
          <a:ln/>
        </p:spPr>
        <p:txBody>
          <a:bodyPr wrap="square" lIns="0" tIns="0" rIns="0" bIns="0" rtlCol="0" anchor="t"/>
          <a:lstStyle/>
          <a:p>
            <a:pPr indent="0" marL="0">
              <a:buNone/>
            </a:pPr>
            <a:r>
              <a:rPr lang="en-US" sz="1600" dirty="0">
                <a:solidFill>
                  <a:schemeClr val="tx2"/>
                </a:solidFill>
              </a:rPr>
              <a:t>Every principal employer and contractor must keep wage, attendance, PF, ESIC and safety records. Today that is a cost centre run on spreadsheets and consultants.</a:t>
            </a:r>
            <a:endParaRPr lang="en-US" sz="1600" dirty="0"/>
          </a:p>
        </p:txBody>
      </p:sp>
      <p:sp>
        <p:nvSpPr>
          <p:cNvPr id="4" name="payer-card-173"/>
          <p:cNvSpPr/>
          <p:nvPr/>
        </p:nvSpPr>
        <p:spPr>
          <a:xfrm>
            <a:off x="548640" y="2286000"/>
            <a:ext cx="2606040" cy="2743200"/>
          </a:xfrm>
          <a:prstGeom prst="roundRect">
            <a:avLst>
              <a:gd name="adj" fmla="val 4211"/>
            </a:avLst>
          </a:prstGeom>
          <a:solidFill>
            <a:schemeClr val="bg2"/>
          </a:solidFill>
          <a:ln w="12700">
            <a:solidFill>
              <a:schemeClr val="bg2"/>
            </a:solidFill>
            <a:prstDash val="solid"/>
          </a:ln>
        </p:spPr>
      </p:sp>
      <p:sp>
        <p:nvSpPr>
          <p:cNvPr id="5" name="icon-circle-174"/>
          <p:cNvSpPr/>
          <p:nvPr/>
        </p:nvSpPr>
        <p:spPr>
          <a:xfrm>
            <a:off x="822960" y="2560320"/>
            <a:ext cx="585216" cy="585216"/>
          </a:xfrm>
          <a:prstGeom prst="ellipse">
            <a:avLst/>
          </a:prstGeom>
          <a:solidFill>
            <a:schemeClr val="accent3"/>
          </a:solidFill>
          <a:ln w="12700">
            <a:solidFill>
              <a:schemeClr val="accent3"/>
            </a:solidFill>
            <a:prstDash val="solid"/>
          </a:ln>
        </p:spPr>
      </p:sp>
      <p:pic>
        <p:nvPicPr>
          <p:cNvPr id="6" name="icon-175" descr="preencoded.png">    </p:cNvPr>
          <p:cNvPicPr>
            <a:picLocks noChangeAspect="1"/>
          </p:cNvPicPr>
          <p:nvPr/>
        </p:nvPicPr>
        <p:blipFill>
          <a:blip r:embed="rId1"/>
          <a:stretch>
            <a:fillRect/>
          </a:stretch>
        </p:blipFill>
        <p:spPr>
          <a:xfrm>
            <a:off x="963412" y="2700772"/>
            <a:ext cx="304312" cy="304312"/>
          </a:xfrm>
          <a:prstGeom prst="rect">
            <a:avLst/>
          </a:prstGeom>
        </p:spPr>
      </p:pic>
      <p:sp>
        <p:nvSpPr>
          <p:cNvPr id="7" name="Text 4"/>
          <p:cNvSpPr txBox="1"/>
          <p:nvPr/>
        </p:nvSpPr>
        <p:spPr>
          <a:xfrm>
            <a:off x="822960" y="3291840"/>
            <a:ext cx="2103120" cy="640080"/>
          </a:xfrm>
          <a:prstGeom prst="rect">
            <a:avLst/>
          </a:prstGeom>
          <a:noFill/>
          <a:ln/>
        </p:spPr>
        <p:txBody>
          <a:bodyPr wrap="square" lIns="0" tIns="0" rIns="0" bIns="0" rtlCol="0" anchor="t"/>
          <a:lstStyle/>
          <a:p>
            <a:pPr indent="0" marL="0">
              <a:buNone/>
            </a:pPr>
            <a:r>
              <a:rPr lang="en-US" sz="1700" b="1" dirty="0">
                <a:solidFill>
                  <a:schemeClr val="tx1"/>
                </a:solidFill>
              </a:rPr>
              <a:t>Principal employers</a:t>
            </a:r>
            <a:endParaRPr lang="en-US" sz="1700" dirty="0"/>
          </a:p>
        </p:txBody>
      </p:sp>
      <p:sp>
        <p:nvSpPr>
          <p:cNvPr id="8" name="Text 5"/>
          <p:cNvSpPr txBox="1"/>
          <p:nvPr/>
        </p:nvSpPr>
        <p:spPr>
          <a:xfrm>
            <a:off x="822960" y="3931920"/>
            <a:ext cx="2103120" cy="548640"/>
          </a:xfrm>
          <a:prstGeom prst="rect">
            <a:avLst/>
          </a:prstGeom>
          <a:noFill/>
          <a:ln/>
        </p:spPr>
        <p:txBody>
          <a:bodyPr wrap="square" lIns="0" tIns="0" rIns="0" bIns="0" rtlCol="0" anchor="t"/>
          <a:lstStyle/>
          <a:p>
            <a:pPr indent="0" marL="0">
              <a:buNone/>
            </a:pPr>
            <a:r>
              <a:rPr lang="en-US" sz="1300" dirty="0">
                <a:solidFill>
                  <a:schemeClr val="tx2"/>
                </a:solidFill>
              </a:rPr>
              <a:t>Builders, plants, infra, factories</a:t>
            </a:r>
            <a:endParaRPr lang="en-US" sz="1300" dirty="0"/>
          </a:p>
        </p:txBody>
      </p:sp>
      <p:sp>
        <p:nvSpPr>
          <p:cNvPr id="9" name="Text 6"/>
          <p:cNvSpPr txBox="1"/>
          <p:nvPr/>
        </p:nvSpPr>
        <p:spPr>
          <a:xfrm>
            <a:off x="822960" y="4480560"/>
            <a:ext cx="2103120" cy="457200"/>
          </a:xfrm>
          <a:prstGeom prst="rect">
            <a:avLst/>
          </a:prstGeom>
          <a:noFill/>
          <a:ln/>
        </p:spPr>
        <p:txBody>
          <a:bodyPr wrap="square" lIns="0" tIns="0" rIns="0" bIns="0" rtlCol="0" anchor="t"/>
          <a:lstStyle/>
          <a:p>
            <a:pPr indent="0" marL="0">
              <a:buNone/>
            </a:pPr>
            <a:r>
              <a:rPr lang="en-US" sz="1300" b="1" dirty="0">
                <a:solidFill>
                  <a:schemeClr val="accent4"/>
                </a:solidFill>
              </a:rPr>
              <a:t>Per-site subscription and modules</a:t>
            </a:r>
            <a:endParaRPr lang="en-US" sz="1300" dirty="0"/>
          </a:p>
        </p:txBody>
      </p:sp>
      <p:sp>
        <p:nvSpPr>
          <p:cNvPr id="10" name="payer-card-176"/>
          <p:cNvSpPr/>
          <p:nvPr/>
        </p:nvSpPr>
        <p:spPr>
          <a:xfrm>
            <a:off x="3383280" y="2286000"/>
            <a:ext cx="2606040" cy="2743200"/>
          </a:xfrm>
          <a:prstGeom prst="roundRect">
            <a:avLst>
              <a:gd name="adj" fmla="val 4211"/>
            </a:avLst>
          </a:prstGeom>
          <a:solidFill>
            <a:schemeClr val="bg2"/>
          </a:solidFill>
          <a:ln w="12700">
            <a:solidFill>
              <a:schemeClr val="bg2"/>
            </a:solidFill>
            <a:prstDash val="solid"/>
          </a:ln>
        </p:spPr>
      </p:sp>
      <p:sp>
        <p:nvSpPr>
          <p:cNvPr id="11" name="icon-circle-177"/>
          <p:cNvSpPr/>
          <p:nvPr/>
        </p:nvSpPr>
        <p:spPr>
          <a:xfrm>
            <a:off x="3657600" y="2560320"/>
            <a:ext cx="585216" cy="585216"/>
          </a:xfrm>
          <a:prstGeom prst="ellipse">
            <a:avLst/>
          </a:prstGeom>
          <a:solidFill>
            <a:schemeClr val="accent2"/>
          </a:solidFill>
          <a:ln w="12700">
            <a:solidFill>
              <a:schemeClr val="accent2"/>
            </a:solidFill>
            <a:prstDash val="solid"/>
          </a:ln>
        </p:spPr>
      </p:sp>
      <p:pic>
        <p:nvPicPr>
          <p:cNvPr id="12" name="icon-178" descr="preencoded.png">    </p:cNvPr>
          <p:cNvPicPr>
            <a:picLocks noChangeAspect="1"/>
          </p:cNvPicPr>
          <p:nvPr/>
        </p:nvPicPr>
        <p:blipFill>
          <a:blip r:embed="rId2"/>
          <a:stretch>
            <a:fillRect/>
          </a:stretch>
        </p:blipFill>
        <p:spPr>
          <a:xfrm>
            <a:off x="3798052" y="2700772"/>
            <a:ext cx="304312" cy="304312"/>
          </a:xfrm>
          <a:prstGeom prst="rect">
            <a:avLst/>
          </a:prstGeom>
        </p:spPr>
      </p:pic>
      <p:sp>
        <p:nvSpPr>
          <p:cNvPr id="13" name="Text 9"/>
          <p:cNvSpPr txBox="1"/>
          <p:nvPr/>
        </p:nvSpPr>
        <p:spPr>
          <a:xfrm>
            <a:off x="3657600" y="3291840"/>
            <a:ext cx="2103120" cy="640080"/>
          </a:xfrm>
          <a:prstGeom prst="rect">
            <a:avLst/>
          </a:prstGeom>
          <a:noFill/>
          <a:ln/>
        </p:spPr>
        <p:txBody>
          <a:bodyPr wrap="square" lIns="0" tIns="0" rIns="0" bIns="0" rtlCol="0" anchor="t"/>
          <a:lstStyle/>
          <a:p>
            <a:pPr indent="0" marL="0">
              <a:buNone/>
            </a:pPr>
            <a:r>
              <a:rPr lang="en-US" sz="1700" b="1" dirty="0">
                <a:solidFill>
                  <a:schemeClr val="tx1"/>
                </a:solidFill>
              </a:rPr>
              <a:t>Labour contractors</a:t>
            </a:r>
            <a:endParaRPr lang="en-US" sz="1700" dirty="0"/>
          </a:p>
        </p:txBody>
      </p:sp>
      <p:sp>
        <p:nvSpPr>
          <p:cNvPr id="14" name="Text 10"/>
          <p:cNvSpPr txBox="1"/>
          <p:nvPr/>
        </p:nvSpPr>
        <p:spPr>
          <a:xfrm>
            <a:off x="3657600" y="3931920"/>
            <a:ext cx="2103120" cy="548640"/>
          </a:xfrm>
          <a:prstGeom prst="rect">
            <a:avLst/>
          </a:prstGeom>
          <a:noFill/>
          <a:ln/>
        </p:spPr>
        <p:txBody>
          <a:bodyPr wrap="square" lIns="0" tIns="0" rIns="0" bIns="0" rtlCol="0" anchor="t"/>
          <a:lstStyle/>
          <a:p>
            <a:pPr indent="0" marL="0">
              <a:buNone/>
            </a:pPr>
            <a:r>
              <a:rPr lang="en-US" sz="1300" dirty="0">
                <a:solidFill>
                  <a:schemeClr val="tx2"/>
                </a:solidFill>
              </a:rPr>
              <a:t>Run crews across sites and states</a:t>
            </a:r>
            <a:endParaRPr lang="en-US" sz="1300" dirty="0"/>
          </a:p>
        </p:txBody>
      </p:sp>
      <p:sp>
        <p:nvSpPr>
          <p:cNvPr id="15" name="Text 11"/>
          <p:cNvSpPr txBox="1"/>
          <p:nvPr/>
        </p:nvSpPr>
        <p:spPr>
          <a:xfrm>
            <a:off x="3657600" y="4480560"/>
            <a:ext cx="2103120" cy="457200"/>
          </a:xfrm>
          <a:prstGeom prst="rect">
            <a:avLst/>
          </a:prstGeom>
          <a:noFill/>
          <a:ln/>
        </p:spPr>
        <p:txBody>
          <a:bodyPr wrap="square" lIns="0" tIns="0" rIns="0" bIns="0" rtlCol="0" anchor="t"/>
          <a:lstStyle/>
          <a:p>
            <a:pPr indent="0" marL="0">
              <a:buNone/>
            </a:pPr>
            <a:r>
              <a:rPr lang="en-US" sz="1300" b="1" dirty="0">
                <a:solidFill>
                  <a:schemeClr val="accent4"/>
                </a:solidFill>
              </a:rPr>
              <a:t>Per active worker per month</a:t>
            </a:r>
            <a:endParaRPr lang="en-US" sz="1300" dirty="0"/>
          </a:p>
        </p:txBody>
      </p:sp>
      <p:sp>
        <p:nvSpPr>
          <p:cNvPr id="16" name="payer-card-179"/>
          <p:cNvSpPr/>
          <p:nvPr/>
        </p:nvSpPr>
        <p:spPr>
          <a:xfrm>
            <a:off x="6217920" y="2286000"/>
            <a:ext cx="2606040" cy="2743200"/>
          </a:xfrm>
          <a:prstGeom prst="roundRect">
            <a:avLst>
              <a:gd name="adj" fmla="val 4211"/>
            </a:avLst>
          </a:prstGeom>
          <a:solidFill>
            <a:schemeClr val="bg2"/>
          </a:solidFill>
          <a:ln w="12700">
            <a:solidFill>
              <a:schemeClr val="bg2"/>
            </a:solidFill>
            <a:prstDash val="solid"/>
          </a:ln>
        </p:spPr>
      </p:sp>
      <p:sp>
        <p:nvSpPr>
          <p:cNvPr id="17" name="icon-circle-180"/>
          <p:cNvSpPr/>
          <p:nvPr/>
        </p:nvSpPr>
        <p:spPr>
          <a:xfrm>
            <a:off x="6492240" y="2560320"/>
            <a:ext cx="585216" cy="585216"/>
          </a:xfrm>
          <a:prstGeom prst="ellipse">
            <a:avLst/>
          </a:prstGeom>
          <a:solidFill>
            <a:schemeClr val="accent1"/>
          </a:solidFill>
          <a:ln w="12700">
            <a:solidFill>
              <a:schemeClr val="accent1"/>
            </a:solidFill>
            <a:prstDash val="solid"/>
          </a:ln>
        </p:spPr>
      </p:sp>
      <p:pic>
        <p:nvPicPr>
          <p:cNvPr id="18" name="icon-181" descr="preencoded.png">    </p:cNvPr>
          <p:cNvPicPr>
            <a:picLocks noChangeAspect="1"/>
          </p:cNvPicPr>
          <p:nvPr/>
        </p:nvPicPr>
        <p:blipFill>
          <a:blip r:embed="rId3"/>
          <a:stretch>
            <a:fillRect/>
          </a:stretch>
        </p:blipFill>
        <p:spPr>
          <a:xfrm>
            <a:off x="6632692" y="2700772"/>
            <a:ext cx="304312" cy="304312"/>
          </a:xfrm>
          <a:prstGeom prst="rect">
            <a:avLst/>
          </a:prstGeom>
        </p:spPr>
      </p:pic>
      <p:sp>
        <p:nvSpPr>
          <p:cNvPr id="19" name="Text 14"/>
          <p:cNvSpPr txBox="1"/>
          <p:nvPr/>
        </p:nvSpPr>
        <p:spPr>
          <a:xfrm>
            <a:off x="6492240" y="3291840"/>
            <a:ext cx="2103120" cy="640080"/>
          </a:xfrm>
          <a:prstGeom prst="rect">
            <a:avLst/>
          </a:prstGeom>
          <a:noFill/>
          <a:ln/>
        </p:spPr>
        <p:txBody>
          <a:bodyPr wrap="square" lIns="0" tIns="0" rIns="0" bIns="0" rtlCol="0" anchor="t"/>
          <a:lstStyle/>
          <a:p>
            <a:pPr indent="0" marL="0">
              <a:buNone/>
            </a:pPr>
            <a:r>
              <a:rPr lang="en-US" sz="1700" b="1" dirty="0">
                <a:solidFill>
                  <a:schemeClr val="tx1"/>
                </a:solidFill>
              </a:rPr>
              <a:t>State welfare boards</a:t>
            </a:r>
            <a:endParaRPr lang="en-US" sz="1700" dirty="0"/>
          </a:p>
        </p:txBody>
      </p:sp>
      <p:sp>
        <p:nvSpPr>
          <p:cNvPr id="20" name="Text 15"/>
          <p:cNvSpPr txBox="1"/>
          <p:nvPr/>
        </p:nvSpPr>
        <p:spPr>
          <a:xfrm>
            <a:off x="6492240" y="3931920"/>
            <a:ext cx="2103120" cy="548640"/>
          </a:xfrm>
          <a:prstGeom prst="rect">
            <a:avLst/>
          </a:prstGeom>
          <a:noFill/>
          <a:ln/>
        </p:spPr>
        <p:txBody>
          <a:bodyPr wrap="square" lIns="0" tIns="0" rIns="0" bIns="0" rtlCol="0" anchor="t"/>
          <a:lstStyle/>
          <a:p>
            <a:pPr indent="0" marL="0">
              <a:buNone/>
            </a:pPr>
            <a:r>
              <a:rPr lang="en-US" sz="1300" dirty="0">
                <a:solidFill>
                  <a:schemeClr val="tx2"/>
                </a:solidFill>
              </a:rPr>
              <a:t>Benefit disbursal and analytics</a:t>
            </a:r>
            <a:endParaRPr lang="en-US" sz="1300" dirty="0"/>
          </a:p>
        </p:txBody>
      </p:sp>
      <p:sp>
        <p:nvSpPr>
          <p:cNvPr id="21" name="Text 16"/>
          <p:cNvSpPr txBox="1"/>
          <p:nvPr/>
        </p:nvSpPr>
        <p:spPr>
          <a:xfrm>
            <a:off x="6492240" y="4480560"/>
            <a:ext cx="2103120" cy="457200"/>
          </a:xfrm>
          <a:prstGeom prst="rect">
            <a:avLst/>
          </a:prstGeom>
          <a:noFill/>
          <a:ln/>
        </p:spPr>
        <p:txBody>
          <a:bodyPr wrap="square" lIns="0" tIns="0" rIns="0" bIns="0" rtlCol="0" anchor="t"/>
          <a:lstStyle/>
          <a:p>
            <a:pPr indent="0" marL="0">
              <a:buNone/>
            </a:pPr>
            <a:r>
              <a:rPr lang="en-US" sz="1300" b="1" dirty="0">
                <a:solidFill>
                  <a:schemeClr val="accent4"/>
                </a:solidFill>
              </a:rPr>
              <a:t>Annual licence and AMC (B2G)</a:t>
            </a:r>
            <a:endParaRPr lang="en-US" sz="1300" dirty="0"/>
          </a:p>
        </p:txBody>
      </p:sp>
      <p:sp>
        <p:nvSpPr>
          <p:cNvPr id="22" name="payer-card-182"/>
          <p:cNvSpPr/>
          <p:nvPr/>
        </p:nvSpPr>
        <p:spPr>
          <a:xfrm>
            <a:off x="9052560" y="2286000"/>
            <a:ext cx="2606040" cy="2743200"/>
          </a:xfrm>
          <a:prstGeom prst="roundRect">
            <a:avLst>
              <a:gd name="adj" fmla="val 4211"/>
            </a:avLst>
          </a:prstGeom>
          <a:solidFill>
            <a:schemeClr val="bg2"/>
          </a:solidFill>
          <a:ln w="12700">
            <a:solidFill>
              <a:schemeClr val="bg2"/>
            </a:solidFill>
            <a:prstDash val="solid"/>
          </a:ln>
        </p:spPr>
      </p:sp>
      <p:sp>
        <p:nvSpPr>
          <p:cNvPr id="23" name="icon-circle-183"/>
          <p:cNvSpPr/>
          <p:nvPr/>
        </p:nvSpPr>
        <p:spPr>
          <a:xfrm>
            <a:off x="9326880" y="2560320"/>
            <a:ext cx="585216" cy="585216"/>
          </a:xfrm>
          <a:prstGeom prst="ellipse">
            <a:avLst/>
          </a:prstGeom>
          <a:solidFill>
            <a:schemeClr val="tx2"/>
          </a:solidFill>
          <a:ln w="12700">
            <a:solidFill>
              <a:schemeClr val="tx2"/>
            </a:solidFill>
            <a:prstDash val="solid"/>
          </a:ln>
        </p:spPr>
      </p:sp>
      <p:pic>
        <p:nvPicPr>
          <p:cNvPr id="24" name="icon-184" descr="preencoded.png">    </p:cNvPr>
          <p:cNvPicPr>
            <a:picLocks noChangeAspect="1"/>
          </p:cNvPicPr>
          <p:nvPr/>
        </p:nvPicPr>
        <p:blipFill>
          <a:blip r:embed="rId4"/>
          <a:stretch>
            <a:fillRect/>
          </a:stretch>
        </p:blipFill>
        <p:spPr>
          <a:xfrm>
            <a:off x="9467332" y="2700772"/>
            <a:ext cx="304312" cy="304312"/>
          </a:xfrm>
          <a:prstGeom prst="rect">
            <a:avLst/>
          </a:prstGeom>
        </p:spPr>
      </p:pic>
      <p:sp>
        <p:nvSpPr>
          <p:cNvPr id="25" name="Text 19"/>
          <p:cNvSpPr txBox="1"/>
          <p:nvPr/>
        </p:nvSpPr>
        <p:spPr>
          <a:xfrm>
            <a:off x="9326880" y="3291840"/>
            <a:ext cx="2103120" cy="640080"/>
          </a:xfrm>
          <a:prstGeom prst="rect">
            <a:avLst/>
          </a:prstGeom>
          <a:noFill/>
          <a:ln/>
        </p:spPr>
        <p:txBody>
          <a:bodyPr wrap="square" lIns="0" tIns="0" rIns="0" bIns="0" rtlCol="0" anchor="t"/>
          <a:lstStyle/>
          <a:p>
            <a:pPr indent="0" marL="0">
              <a:buNone/>
            </a:pPr>
            <a:r>
              <a:rPr lang="en-US" sz="1700" b="1" dirty="0">
                <a:solidFill>
                  <a:schemeClr val="tx1"/>
                </a:solidFill>
              </a:rPr>
              <a:t>Third parties</a:t>
            </a:r>
            <a:endParaRPr lang="en-US" sz="1700" dirty="0"/>
          </a:p>
        </p:txBody>
      </p:sp>
      <p:sp>
        <p:nvSpPr>
          <p:cNvPr id="26" name="Text 20"/>
          <p:cNvSpPr txBox="1"/>
          <p:nvPr/>
        </p:nvSpPr>
        <p:spPr>
          <a:xfrm>
            <a:off x="9326880" y="3931920"/>
            <a:ext cx="2103120" cy="548640"/>
          </a:xfrm>
          <a:prstGeom prst="rect">
            <a:avLst/>
          </a:prstGeom>
          <a:noFill/>
          <a:ln/>
        </p:spPr>
        <p:txBody>
          <a:bodyPr wrap="square" lIns="0" tIns="0" rIns="0" bIns="0" rtlCol="0" anchor="t"/>
          <a:lstStyle/>
          <a:p>
            <a:pPr indent="0" marL="0">
              <a:buNone/>
            </a:pPr>
            <a:r>
              <a:rPr lang="en-US" sz="1300" dirty="0">
                <a:solidFill>
                  <a:schemeClr val="tx2"/>
                </a:solidFill>
              </a:rPr>
              <a:t>Insurers, auditors, verifiers</a:t>
            </a:r>
            <a:endParaRPr lang="en-US" sz="1300" dirty="0"/>
          </a:p>
        </p:txBody>
      </p:sp>
      <p:sp>
        <p:nvSpPr>
          <p:cNvPr id="27" name="Text 21"/>
          <p:cNvSpPr txBox="1"/>
          <p:nvPr/>
        </p:nvSpPr>
        <p:spPr>
          <a:xfrm>
            <a:off x="9326880" y="4480560"/>
            <a:ext cx="2103120" cy="457200"/>
          </a:xfrm>
          <a:prstGeom prst="rect">
            <a:avLst/>
          </a:prstGeom>
          <a:noFill/>
          <a:ln/>
        </p:spPr>
        <p:txBody>
          <a:bodyPr wrap="square" lIns="0" tIns="0" rIns="0" bIns="0" rtlCol="0" anchor="t"/>
          <a:lstStyle/>
          <a:p>
            <a:pPr indent="0" marL="0">
              <a:buNone/>
            </a:pPr>
            <a:r>
              <a:rPr lang="en-US" sz="1300" b="1" dirty="0">
                <a:solidFill>
                  <a:schemeClr val="accent4"/>
                </a:solidFill>
              </a:rPr>
              <a:t>Verification API and commissions</a:t>
            </a:r>
            <a:endParaRPr lang="en-US" sz="1300" dirty="0"/>
          </a:p>
        </p:txBody>
      </p:sp>
      <p:sp>
        <p:nvSpPr>
          <p:cNvPr id="28" name="Text 22"/>
          <p:cNvSpPr txBox="1"/>
          <p:nvPr/>
        </p:nvSpPr>
        <p:spPr>
          <a:xfrm>
            <a:off x="548640" y="5303520"/>
            <a:ext cx="11064240" cy="365760"/>
          </a:xfrm>
          <a:prstGeom prst="rect">
            <a:avLst/>
          </a:prstGeom>
          <a:noFill/>
          <a:ln/>
        </p:spPr>
        <p:txBody>
          <a:bodyPr wrap="square" lIns="0" tIns="0" rIns="0" bIns="0" rtlCol="0" anchor="t"/>
          <a:lstStyle/>
          <a:p>
            <a:pPr indent="0" marL="0">
              <a:buNone/>
            </a:pPr>
            <a:r>
              <a:rPr lang="en-US" sz="1400" b="1" dirty="0">
                <a:solidFill>
                  <a:schemeClr val="accent4"/>
                </a:solidFill>
              </a:rPr>
              <a:t>[Add sourced TAM / SAM / SOM for India contract labour compliance and payroll]</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Free compliance core, paid modules around it</a:t>
            </a:r>
            <a:endParaRPr lang="en-US" sz="3200" dirty="0"/>
          </a:p>
        </p:txBody>
      </p:sp>
      <p:sp>
        <p:nvSpPr>
          <p:cNvPr id="3" name="core-panel"/>
          <p:cNvSpPr/>
          <p:nvPr/>
        </p:nvSpPr>
        <p:spPr>
          <a:xfrm>
            <a:off x="548640" y="1417320"/>
            <a:ext cx="3749040" cy="4526280"/>
          </a:xfrm>
          <a:prstGeom prst="roundRect">
            <a:avLst>
              <a:gd name="adj" fmla="val 3415"/>
            </a:avLst>
          </a:prstGeom>
          <a:solidFill>
            <a:schemeClr val="tx2"/>
          </a:solidFill>
          <a:ln w="12700">
            <a:solidFill>
              <a:schemeClr val="tx2"/>
            </a:solidFill>
            <a:prstDash val="solid"/>
          </a:ln>
        </p:spPr>
      </p:sp>
      <p:sp>
        <p:nvSpPr>
          <p:cNvPr id="4" name="Text 2"/>
          <p:cNvSpPr txBox="1"/>
          <p:nvPr/>
        </p:nvSpPr>
        <p:spPr>
          <a:xfrm>
            <a:off x="868680" y="1691640"/>
            <a:ext cx="3200400" cy="457200"/>
          </a:xfrm>
          <a:prstGeom prst="rect">
            <a:avLst/>
          </a:prstGeom>
          <a:noFill/>
          <a:ln/>
        </p:spPr>
        <p:txBody>
          <a:bodyPr wrap="square" lIns="0" tIns="0" rIns="0" bIns="0" rtlCol="0" anchor="t"/>
          <a:lstStyle/>
          <a:p>
            <a:pPr indent="0" marL="0">
              <a:buNone/>
            </a:pPr>
            <a:r>
              <a:rPr lang="en-US" sz="2200" b="1" dirty="0">
                <a:solidFill>
                  <a:schemeClr val="bg1"/>
                </a:solidFill>
              </a:rPr>
              <a:t>Free core</a:t>
            </a:r>
            <a:endParaRPr lang="en-US" sz="2200" dirty="0"/>
          </a:p>
        </p:txBody>
      </p:sp>
      <p:sp>
        <p:nvSpPr>
          <p:cNvPr id="5" name="Text 3"/>
          <p:cNvSpPr txBox="1"/>
          <p:nvPr/>
        </p:nvSpPr>
        <p:spPr>
          <a:xfrm>
            <a:off x="868680" y="2240280"/>
            <a:ext cx="320040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Verified identity and ID card</a:t>
            </a:r>
            <a:endParaRPr lang="en-US" sz="1500" dirty="0"/>
          </a:p>
          <a:p>
            <a:pPr marL="342900" indent="-342900">
              <a:spcAft>
                <a:spcPts val="800"/>
              </a:spcAft>
              <a:buSzPct val="100000"/>
              <a:buChar char="•"/>
            </a:pPr>
            <a:r>
              <a:rPr lang="en-US" sz="1500" dirty="0">
                <a:solidFill>
                  <a:schemeClr val="bg2"/>
                </a:solidFill>
              </a:rPr>
              <a:t>E·C·S·W binding and QR verify</a:t>
            </a:r>
            <a:endParaRPr lang="en-US" sz="1500" dirty="0"/>
          </a:p>
          <a:p>
            <a:pPr marL="342900" indent="-342900">
              <a:spcAft>
                <a:spcPts val="800"/>
              </a:spcAft>
              <a:buSzPct val="100000"/>
              <a:buChar char="•"/>
            </a:pPr>
            <a:r>
              <a:rPr lang="en-US" sz="1500" dirty="0">
                <a:solidFill>
                  <a:schemeClr val="bg2"/>
                </a:solidFill>
              </a:rPr>
              <a:t>Statutory register submission</a:t>
            </a:r>
            <a:endParaRPr lang="en-US" sz="1500" dirty="0"/>
          </a:p>
          <a:p>
            <a:pPr marL="342900" indent="-342900">
              <a:spcAft>
                <a:spcPts val="800"/>
              </a:spcAft>
              <a:buSzPct val="100000"/>
              <a:buChar char="•"/>
            </a:pPr>
            <a:r>
              <a:rPr lang="en-US" sz="1500" dirty="0">
                <a:solidFill>
                  <a:schemeClr val="bg2"/>
                </a:solidFill>
              </a:rPr>
              <a:t>Compliance scorecards</a:t>
            </a:r>
            <a:endParaRPr lang="en-US" sz="1500" dirty="0"/>
          </a:p>
          <a:p>
            <a:pPr marL="342900" indent="-342900">
              <a:spcAft>
                <a:spcPts val="800"/>
              </a:spcAft>
              <a:buSzPct val="100000"/>
              <a:buChar char="•"/>
            </a:pPr>
            <a:r>
              <a:rPr lang="en-US" sz="1500" dirty="0">
                <a:solidFill>
                  <a:schemeClr val="bg2"/>
                </a:solidFill>
              </a:rPr>
              <a:t>Welfare, grievances, gate passes</a:t>
            </a:r>
            <a:endParaRPr lang="en-US" sz="1500" dirty="0"/>
          </a:p>
        </p:txBody>
      </p:sp>
      <p:sp>
        <p:nvSpPr>
          <p:cNvPr id="6" name="Text 4"/>
          <p:cNvSpPr txBox="1"/>
          <p:nvPr/>
        </p:nvSpPr>
        <p:spPr>
          <a:xfrm>
            <a:off x="868680" y="5120640"/>
            <a:ext cx="3200400" cy="365760"/>
          </a:xfrm>
          <a:prstGeom prst="rect">
            <a:avLst/>
          </a:prstGeom>
          <a:noFill/>
          <a:ln/>
        </p:spPr>
        <p:txBody>
          <a:bodyPr wrap="square" lIns="0" tIns="0" rIns="0" bIns="0" rtlCol="0" anchor="t"/>
          <a:lstStyle/>
          <a:p>
            <a:pPr indent="0" marL="0">
              <a:buNone/>
            </a:pPr>
            <a:r>
              <a:rPr lang="en-US" sz="1400" b="1" dirty="0">
                <a:solidFill>
                  <a:schemeClr val="accent5"/>
                </a:solidFill>
              </a:rPr>
              <a:t>Workers are never charged</a:t>
            </a:r>
            <a:endParaRPr lang="en-US" sz="1400" dirty="0"/>
          </a:p>
        </p:txBody>
      </p:sp>
      <p:graphicFrame>
        <p:nvGraphicFramePr>
          <p:cNvPr id="24" name="pricing-table"/>
          <p:cNvGraphicFramePr>
            <a:graphicFrameLocks noGrp="1"/>
          </p:cNvGraphicFramePr>
          <p:nvPr>
            <p:extLst>
              <p:ext uri="{D42A27DB-BD31-4B8C-83A1-F6EECF244321}">
                <p14:modId xmlns:p14="http://schemas.microsoft.com/office/powerpoint/2010/main" val="1579011935"/>
              </p:ext>
            </p:extLst>
          </p:nvPr>
        </p:nvGraphicFramePr>
        <p:xfrm>
          <a:off x="4572000" y="1417320"/>
          <a:ext cx="7040880" cy="914400"/>
        </p:xfrm>
        <a:graphic>
          <a:graphicData uri="http://schemas.openxmlformats.org/drawingml/2006/table">
            <a:tbl>
              <a:tblPr/>
              <a:tblGrid>
                <a:gridCol w="1737360"/>
                <a:gridCol w="2514600"/>
                <a:gridCol w="2788920"/>
              </a:tblGrid>
              <a:tr h="475488">
                <a:tc>
                  <a:txBody>
                    <a:bodyPr/>
                    <a:lstStyle/>
                    <a:p>
                      <a:pPr indent="0" marL="0">
                        <a:buNone/>
                      </a:pPr>
                      <a:r>
                        <a:rPr lang="en-US" sz="1300" b="1" dirty="0">
                          <a:solidFill>
                            <a:schemeClr val="bg1"/>
                          </a:solidFill>
                        </a:rPr>
                        <a:t>Buyer</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Indicative price band</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Anchor modules</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tx1"/>
                    </a:solidFill>
                  </a:tcPr>
                </a:tc>
              </a:tr>
              <a:tr h="475488">
                <a:tc>
                  <a:txBody>
                    <a:bodyPr/>
                    <a:lstStyle/>
                    <a:p>
                      <a:pPr indent="0" marL="0">
                        <a:buNone/>
                      </a:pPr>
                      <a:r>
                        <a:rPr lang="en-US" sz="1300" dirty="0">
                          <a:solidFill>
                            <a:schemeClr val="tx1"/>
                          </a:solidFill>
                        </a:rPr>
                        <a:t>Contractor</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₹25–60 / active worker / month</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Compliance auto-pilot, Attendance Pro</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Employer</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₹3,000–12,000 / site / month</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Contractor risk &amp; due diligence, site access</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Enterprise</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₹8–25 lakh / year</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suites, integrations, SSO and SLA</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State board (B2G)</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₹50 lakh–2 crore / year</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Licensed board edition with AMC</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Verify API</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₹1–5 / verification</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Insurers, auditors, site gates</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r h="475488">
                <a:tc>
                  <a:txBody>
                    <a:bodyPr/>
                    <a:lstStyle/>
                    <a:p>
                      <a:pPr indent="0" marL="0">
                        <a:buNone/>
                      </a:pPr>
                      <a:r>
                        <a:rPr lang="en-US" sz="1300" dirty="0">
                          <a:solidFill>
                            <a:schemeClr val="tx1"/>
                          </a:solidFill>
                        </a:rPr>
                        <a:t>Next phase</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 be disclosed</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Rozgar, Upskill and Payroll</a:t>
                      </a:r>
                      <a:endParaRPr lang="en-US" sz="1300" dirty="0"/>
                    </a:p>
                  </a:txBody>
                  <a:tcPr marL="91440" marR="91440" marT="54864" marB="54864" anchor="ctr">
                    <a:lnL w="9525" cap="flat" cmpd="sng" algn="ctr">
                      <a:solidFill>
                        <a:srgbClr val="DBE3EF"/>
                      </a:solidFill>
                      <a:prstDash val="solid"/>
                      <a:round/>
                      <a:headEnd type="none" w="med" len="med"/>
                      <a:tailEnd type="none" w="med" len="med"/>
                    </a:lnL>
                    <a:lnR w="9525" cap="flat" cmpd="sng" algn="ctr">
                      <a:solidFill>
                        <a:srgbClr val="DBE3EF"/>
                      </a:solidFill>
                      <a:prstDash val="solid"/>
                      <a:round/>
                      <a:headEnd type="none" w="med" len="med"/>
                      <a:tailEnd type="none" w="med" len="med"/>
                    </a:lnR>
                    <a:lnT w="9525" cap="flat" cmpd="sng" algn="ctr">
                      <a:solidFill>
                        <a:srgbClr val="DBE3EF"/>
                      </a:solidFill>
                      <a:prstDash val="solid"/>
                      <a:round/>
                      <a:headEnd type="none" w="med" len="med"/>
                      <a:tailEnd type="none" w="med" len="med"/>
                    </a:lnT>
                    <a:lnB w="9525" cap="flat" cmpd="sng" algn="ctr">
                      <a:solidFill>
                        <a:srgbClr val="DBE3EF"/>
                      </a:solidFill>
                      <a:prstDash val="solid"/>
                      <a:round/>
                      <a:headEnd type="none" w="med" len="med"/>
                      <a:tailEnd type="none" w="med" len="med"/>
                    </a:lnB>
                    <a:solidFill>
                      <a:schemeClr val="bg1"/>
                    </a:solidFill>
                  </a:tcPr>
                </a:tc>
              </a:tr>
            </a:tbl>
          </a:graphicData>
        </a:graphic>
      </p:graphicFrame>
      <p:sp>
        <p:nvSpPr>
          <p:cNvPr id="8" name="Text 5"/>
          <p:cNvSpPr txBox="1"/>
          <p:nvPr/>
        </p:nvSpPr>
        <p:spPr>
          <a:xfrm>
            <a:off x="4572000" y="4937760"/>
            <a:ext cx="7040880" cy="274320"/>
          </a:xfrm>
          <a:prstGeom prst="rect">
            <a:avLst/>
          </a:prstGeom>
          <a:noFill/>
          <a:ln/>
        </p:spPr>
        <p:txBody>
          <a:bodyPr wrap="square" lIns="0" tIns="0" rIns="0" bIns="0" rtlCol="0" anchor="t"/>
          <a:lstStyle/>
          <a:p>
            <a:pPr indent="0" marL="0">
              <a:buNone/>
            </a:pPr>
            <a:r>
              <a:rPr lang="en-US" sz="1100" dirty="0">
                <a:solidFill>
                  <a:schemeClr val="tx2"/>
                </a:solidFill>
              </a:rPr>
              <a:t>Indicative bands from the BharatShramSetu business plan, to be validated with customers</a:t>
            </a:r>
            <a:endParaRPr lang="en-US" sz="11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Unit economics that pay back in months</a:t>
            </a:r>
            <a:endParaRPr lang="en-US" sz="3200" dirty="0"/>
          </a:p>
        </p:txBody>
      </p:sp>
      <p:sp>
        <p:nvSpPr>
          <p:cNvPr id="3" name="ue-card-185"/>
          <p:cNvSpPr/>
          <p:nvPr/>
        </p:nvSpPr>
        <p:spPr>
          <a:xfrm>
            <a:off x="548640" y="1463040"/>
            <a:ext cx="5852160" cy="2011680"/>
          </a:xfrm>
          <a:prstGeom prst="roundRect">
            <a:avLst>
              <a:gd name="adj" fmla="val 5455"/>
            </a:avLst>
          </a:prstGeom>
          <a:solidFill>
            <a:schemeClr val="bg2"/>
          </a:solidFill>
          <a:ln w="12700">
            <a:solidFill>
              <a:schemeClr val="bg2"/>
            </a:solidFill>
            <a:prstDash val="solid"/>
          </a:ln>
        </p:spPr>
      </p:sp>
      <p:sp>
        <p:nvSpPr>
          <p:cNvPr id="4" name="Text 2"/>
          <p:cNvSpPr txBox="1"/>
          <p:nvPr/>
        </p:nvSpPr>
        <p:spPr>
          <a:xfrm>
            <a:off x="822960" y="1691640"/>
            <a:ext cx="5303520" cy="365760"/>
          </a:xfrm>
          <a:prstGeom prst="rect">
            <a:avLst/>
          </a:prstGeom>
          <a:noFill/>
          <a:ln/>
        </p:spPr>
        <p:txBody>
          <a:bodyPr wrap="square" lIns="0" tIns="0" rIns="0" bIns="0" rtlCol="0" anchor="t"/>
          <a:lstStyle/>
          <a:p>
            <a:pPr indent="0" marL="0">
              <a:buNone/>
            </a:pPr>
            <a:r>
              <a:rPr lang="en-US" sz="1800" b="1" dirty="0">
                <a:solidFill>
                  <a:schemeClr val="tx1"/>
                </a:solidFill>
              </a:rPr>
              <a:t>Mid-size contractor</a:t>
            </a:r>
            <a:endParaRPr lang="en-US" sz="1800" dirty="0"/>
          </a:p>
        </p:txBody>
      </p:sp>
      <p:sp>
        <p:nvSpPr>
          <p:cNvPr id="5" name="Text 3"/>
          <p:cNvSpPr txBox="1"/>
          <p:nvPr/>
        </p:nvSpPr>
        <p:spPr>
          <a:xfrm>
            <a:off x="822960" y="2029968"/>
            <a:ext cx="5303520" cy="320040"/>
          </a:xfrm>
          <a:prstGeom prst="rect">
            <a:avLst/>
          </a:prstGeom>
          <a:noFill/>
          <a:ln/>
        </p:spPr>
        <p:txBody>
          <a:bodyPr wrap="square" lIns="0" tIns="0" rIns="0" bIns="0" rtlCol="0" anchor="t"/>
          <a:lstStyle/>
          <a:p>
            <a:pPr indent="0" marL="0">
              <a:buNone/>
            </a:pPr>
            <a:r>
              <a:rPr lang="en-US" sz="1300" dirty="0">
                <a:solidFill>
                  <a:schemeClr val="tx2"/>
                </a:solidFill>
              </a:rPr>
              <a:t>300 workers · core + Attendance Pro + auto-filing</a:t>
            </a:r>
            <a:endParaRPr lang="en-US" sz="1300" dirty="0"/>
          </a:p>
        </p:txBody>
      </p:sp>
      <p:sp>
        <p:nvSpPr>
          <p:cNvPr id="6" name="Text 4"/>
          <p:cNvSpPr txBox="1"/>
          <p:nvPr/>
        </p:nvSpPr>
        <p:spPr>
          <a:xfrm>
            <a:off x="822960" y="2377440"/>
            <a:ext cx="2377440" cy="731520"/>
          </a:xfrm>
          <a:prstGeom prst="rect">
            <a:avLst/>
          </a:prstGeom>
          <a:noFill/>
          <a:ln/>
        </p:spPr>
        <p:txBody>
          <a:bodyPr wrap="square" lIns="0" tIns="0" rIns="0" bIns="0" rtlCol="0" anchor="t"/>
          <a:lstStyle/>
          <a:p>
            <a:pPr indent="0" marL="0">
              <a:buNone/>
            </a:pPr>
            <a:r>
              <a:rPr lang="en-US" sz="4000" b="1" dirty="0">
                <a:solidFill>
                  <a:schemeClr val="accent4"/>
                </a:solidFill>
              </a:rPr>
              <a:t>₹12,000</a:t>
            </a:r>
            <a:endParaRPr lang="en-US" sz="4000" dirty="0"/>
          </a:p>
        </p:txBody>
      </p:sp>
      <p:sp>
        <p:nvSpPr>
          <p:cNvPr id="7" name="Text 5"/>
          <p:cNvSpPr txBox="1"/>
          <p:nvPr/>
        </p:nvSpPr>
        <p:spPr>
          <a:xfrm>
            <a:off x="822960" y="3063240"/>
            <a:ext cx="2377440" cy="274320"/>
          </a:xfrm>
          <a:prstGeom prst="rect">
            <a:avLst/>
          </a:prstGeom>
          <a:noFill/>
          <a:ln/>
        </p:spPr>
        <p:txBody>
          <a:bodyPr wrap="square" lIns="0" tIns="0" rIns="0" bIns="0" rtlCol="0" anchor="t"/>
          <a:lstStyle/>
          <a:p>
            <a:pPr indent="0" marL="0">
              <a:buNone/>
            </a:pPr>
            <a:r>
              <a:rPr lang="en-US" sz="1200" dirty="0">
                <a:solidFill>
                  <a:schemeClr val="tx2"/>
                </a:solidFill>
              </a:rPr>
              <a:t>per month</a:t>
            </a:r>
            <a:endParaRPr lang="en-US" sz="1200" dirty="0"/>
          </a:p>
        </p:txBody>
      </p:sp>
      <p:sp>
        <p:nvSpPr>
          <p:cNvPr id="8" name="Text 6"/>
          <p:cNvSpPr txBox="1"/>
          <p:nvPr/>
        </p:nvSpPr>
        <p:spPr>
          <a:xfrm>
            <a:off x="3291840" y="2423160"/>
            <a:ext cx="2926080" cy="868680"/>
          </a:xfrm>
          <a:prstGeom prst="rect">
            <a:avLst/>
          </a:prstGeom>
          <a:noFill/>
          <a:ln/>
        </p:spPr>
        <p:txBody>
          <a:bodyPr wrap="square" lIns="0" tIns="0" rIns="0" bIns="0" rtlCol="0" anchor="t"/>
          <a:lstStyle/>
          <a:p>
            <a:pPr indent="0" marL="0">
              <a:buNone/>
            </a:pPr>
            <a:r>
              <a:rPr lang="en-US" sz="1300" dirty="0">
                <a:solidFill>
                  <a:schemeClr val="tx2"/>
                </a:solidFill>
              </a:rPr>
              <a:t>≈₹1.2 lakh annual gross profit at ~85% margin; acquisition ≈₹15–25k</a:t>
            </a:r>
            <a:endParaRPr lang="en-US" sz="1300" dirty="0"/>
          </a:p>
        </p:txBody>
      </p:sp>
      <p:sp>
        <p:nvSpPr>
          <p:cNvPr id="9" name="ue-card-186"/>
          <p:cNvSpPr/>
          <p:nvPr/>
        </p:nvSpPr>
        <p:spPr>
          <a:xfrm>
            <a:off x="548640" y="3703320"/>
            <a:ext cx="5852160" cy="2011680"/>
          </a:xfrm>
          <a:prstGeom prst="roundRect">
            <a:avLst>
              <a:gd name="adj" fmla="val 5455"/>
            </a:avLst>
          </a:prstGeom>
          <a:solidFill>
            <a:schemeClr val="bg2"/>
          </a:solidFill>
          <a:ln w="12700">
            <a:solidFill>
              <a:schemeClr val="bg2"/>
            </a:solidFill>
            <a:prstDash val="solid"/>
          </a:ln>
        </p:spPr>
      </p:sp>
      <p:sp>
        <p:nvSpPr>
          <p:cNvPr id="10" name="Text 8"/>
          <p:cNvSpPr txBox="1"/>
          <p:nvPr/>
        </p:nvSpPr>
        <p:spPr>
          <a:xfrm>
            <a:off x="822960" y="3931920"/>
            <a:ext cx="5303520" cy="365760"/>
          </a:xfrm>
          <a:prstGeom prst="rect">
            <a:avLst/>
          </a:prstGeom>
          <a:noFill/>
          <a:ln/>
        </p:spPr>
        <p:txBody>
          <a:bodyPr wrap="square" lIns="0" tIns="0" rIns="0" bIns="0" rtlCol="0" anchor="t"/>
          <a:lstStyle/>
          <a:p>
            <a:pPr indent="0" marL="0">
              <a:buNone/>
            </a:pPr>
            <a:r>
              <a:rPr lang="en-US" sz="1800" b="1" dirty="0">
                <a:solidFill>
                  <a:schemeClr val="tx1"/>
                </a:solidFill>
              </a:rPr>
              <a:t>Principal employer</a:t>
            </a:r>
            <a:endParaRPr lang="en-US" sz="1800" dirty="0"/>
          </a:p>
        </p:txBody>
      </p:sp>
      <p:sp>
        <p:nvSpPr>
          <p:cNvPr id="11" name="Text 9"/>
          <p:cNvSpPr txBox="1"/>
          <p:nvPr/>
        </p:nvSpPr>
        <p:spPr>
          <a:xfrm>
            <a:off x="822960" y="4270248"/>
            <a:ext cx="5303520" cy="320040"/>
          </a:xfrm>
          <a:prstGeom prst="rect">
            <a:avLst/>
          </a:prstGeom>
          <a:noFill/>
          <a:ln/>
        </p:spPr>
        <p:txBody>
          <a:bodyPr wrap="square" lIns="0" tIns="0" rIns="0" bIns="0" rtlCol="0" anchor="t"/>
          <a:lstStyle/>
          <a:p>
            <a:pPr indent="0" marL="0">
              <a:buNone/>
            </a:pPr>
            <a:r>
              <a:rPr lang="en-US" sz="1300" dirty="0">
                <a:solidFill>
                  <a:schemeClr val="tx2"/>
                </a:solidFill>
              </a:rPr>
              <a:t>5 sites × 400 workers · risk + access + analytics</a:t>
            </a:r>
            <a:endParaRPr lang="en-US" sz="1300" dirty="0"/>
          </a:p>
        </p:txBody>
      </p:sp>
      <p:sp>
        <p:nvSpPr>
          <p:cNvPr id="12" name="Text 10"/>
          <p:cNvSpPr txBox="1"/>
          <p:nvPr/>
        </p:nvSpPr>
        <p:spPr>
          <a:xfrm>
            <a:off x="822960" y="4617720"/>
            <a:ext cx="2377440" cy="731520"/>
          </a:xfrm>
          <a:prstGeom prst="rect">
            <a:avLst/>
          </a:prstGeom>
          <a:noFill/>
          <a:ln/>
        </p:spPr>
        <p:txBody>
          <a:bodyPr wrap="square" lIns="0" tIns="0" rIns="0" bIns="0" rtlCol="0" anchor="t"/>
          <a:lstStyle/>
          <a:p>
            <a:pPr indent="0" marL="0">
              <a:buNone/>
            </a:pPr>
            <a:r>
              <a:rPr lang="en-US" sz="4000" b="1" dirty="0">
                <a:solidFill>
                  <a:schemeClr val="accent3"/>
                </a:solidFill>
              </a:rPr>
              <a:t>₹35,000</a:t>
            </a:r>
            <a:endParaRPr lang="en-US" sz="4000" dirty="0"/>
          </a:p>
        </p:txBody>
      </p:sp>
      <p:sp>
        <p:nvSpPr>
          <p:cNvPr id="13" name="Text 11"/>
          <p:cNvSpPr txBox="1"/>
          <p:nvPr/>
        </p:nvSpPr>
        <p:spPr>
          <a:xfrm>
            <a:off x="822960" y="5303520"/>
            <a:ext cx="2377440" cy="274320"/>
          </a:xfrm>
          <a:prstGeom prst="rect">
            <a:avLst/>
          </a:prstGeom>
          <a:noFill/>
          <a:ln/>
        </p:spPr>
        <p:txBody>
          <a:bodyPr wrap="square" lIns="0" tIns="0" rIns="0" bIns="0" rtlCol="0" anchor="t"/>
          <a:lstStyle/>
          <a:p>
            <a:pPr indent="0" marL="0">
              <a:buNone/>
            </a:pPr>
            <a:r>
              <a:rPr lang="en-US" sz="1200" dirty="0">
                <a:solidFill>
                  <a:schemeClr val="tx2"/>
                </a:solidFill>
              </a:rPr>
              <a:t>per month</a:t>
            </a:r>
            <a:endParaRPr lang="en-US" sz="1200" dirty="0"/>
          </a:p>
        </p:txBody>
      </p:sp>
      <p:sp>
        <p:nvSpPr>
          <p:cNvPr id="14" name="Text 12"/>
          <p:cNvSpPr txBox="1"/>
          <p:nvPr/>
        </p:nvSpPr>
        <p:spPr>
          <a:xfrm>
            <a:off x="3291840" y="4663440"/>
            <a:ext cx="2926080" cy="868680"/>
          </a:xfrm>
          <a:prstGeom prst="rect">
            <a:avLst/>
          </a:prstGeom>
          <a:noFill/>
          <a:ln/>
        </p:spPr>
        <p:txBody>
          <a:bodyPr wrap="square" lIns="0" tIns="0" rIns="0" bIns="0" rtlCol="0" anchor="t"/>
          <a:lstStyle/>
          <a:p>
            <a:pPr indent="0" marL="0">
              <a:buNone/>
            </a:pPr>
            <a:r>
              <a:rPr lang="en-US" sz="1300" dirty="0">
                <a:solidFill>
                  <a:schemeClr val="tx2"/>
                </a:solidFill>
              </a:rPr>
              <a:t>Before module uplift; replaces compliance consulting and penalty exposure</a:t>
            </a:r>
            <a:endParaRPr lang="en-US" sz="1300" dirty="0"/>
          </a:p>
        </p:txBody>
      </p:sp>
      <p:graphicFrame>
        <p:nvGraphicFramePr>
          <p:cNvPr id="15" name="revenue-mix" descr=""/>
          <p:cNvGraphicFramePr/>
          <p:nvPr/>
        </p:nvGraphicFramePr>
        <p:xfrm>
          <a:off x="6766560" y="1371600"/>
          <a:ext cx="4846320" cy="356616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6858000" y="5074920"/>
            <a:ext cx="1508760" cy="457200"/>
          </a:xfrm>
          <a:prstGeom prst="rect">
            <a:avLst/>
          </a:prstGeom>
          <a:noFill/>
          <a:ln/>
        </p:spPr>
        <p:txBody>
          <a:bodyPr wrap="square" lIns="0" tIns="0" rIns="0" bIns="0" rtlCol="0" anchor="t"/>
          <a:lstStyle/>
          <a:p>
            <a:pPr indent="0" marL="0">
              <a:buNone/>
            </a:pPr>
            <a:r>
              <a:rPr lang="en-US" sz="2400" b="1" dirty="0">
                <a:solidFill>
                  <a:schemeClr val="tx2"/>
                </a:solidFill>
              </a:rPr>
              <a:t>≥115%</a:t>
            </a:r>
            <a:endParaRPr lang="en-US" sz="2400" dirty="0"/>
          </a:p>
        </p:txBody>
      </p:sp>
      <p:sp>
        <p:nvSpPr>
          <p:cNvPr id="17" name="Text 14"/>
          <p:cNvSpPr txBox="1"/>
          <p:nvPr/>
        </p:nvSpPr>
        <p:spPr>
          <a:xfrm>
            <a:off x="6858000" y="5532120"/>
            <a:ext cx="1508760" cy="457200"/>
          </a:xfrm>
          <a:prstGeom prst="rect">
            <a:avLst/>
          </a:prstGeom>
          <a:noFill/>
          <a:ln/>
        </p:spPr>
        <p:txBody>
          <a:bodyPr wrap="square" lIns="0" tIns="0" rIns="0" bIns="0" rtlCol="0" anchor="t"/>
          <a:lstStyle/>
          <a:p>
            <a:pPr indent="0" marL="0">
              <a:buNone/>
            </a:pPr>
            <a:r>
              <a:rPr lang="en-US" sz="1200" dirty="0">
                <a:solidFill>
                  <a:schemeClr val="tx2"/>
                </a:solidFill>
              </a:rPr>
              <a:t>net revenue retention</a:t>
            </a:r>
            <a:endParaRPr lang="en-US" sz="1200" dirty="0"/>
          </a:p>
        </p:txBody>
      </p:sp>
      <p:sp>
        <p:nvSpPr>
          <p:cNvPr id="18" name="Text 15"/>
          <p:cNvSpPr txBox="1"/>
          <p:nvPr/>
        </p:nvSpPr>
        <p:spPr>
          <a:xfrm>
            <a:off x="8458200" y="5074920"/>
            <a:ext cx="1508760" cy="457200"/>
          </a:xfrm>
          <a:prstGeom prst="rect">
            <a:avLst/>
          </a:prstGeom>
          <a:noFill/>
          <a:ln/>
        </p:spPr>
        <p:txBody>
          <a:bodyPr wrap="square" lIns="0" tIns="0" rIns="0" bIns="0" rtlCol="0" anchor="t"/>
          <a:lstStyle/>
          <a:p>
            <a:pPr indent="0" marL="0">
              <a:buNone/>
            </a:pPr>
            <a:r>
              <a:rPr lang="en-US" sz="2400" b="1" dirty="0">
                <a:solidFill>
                  <a:schemeClr val="tx2"/>
                </a:solidFill>
              </a:rPr>
              <a:t>≥80%</a:t>
            </a:r>
            <a:endParaRPr lang="en-US" sz="2400" dirty="0"/>
          </a:p>
        </p:txBody>
      </p:sp>
      <p:sp>
        <p:nvSpPr>
          <p:cNvPr id="19" name="Text 16"/>
          <p:cNvSpPr txBox="1"/>
          <p:nvPr/>
        </p:nvSpPr>
        <p:spPr>
          <a:xfrm>
            <a:off x="8458200" y="5532120"/>
            <a:ext cx="1508760" cy="457200"/>
          </a:xfrm>
          <a:prstGeom prst="rect">
            <a:avLst/>
          </a:prstGeom>
          <a:noFill/>
          <a:ln/>
        </p:spPr>
        <p:txBody>
          <a:bodyPr wrap="square" lIns="0" tIns="0" rIns="0" bIns="0" rtlCol="0" anchor="t"/>
          <a:lstStyle/>
          <a:p>
            <a:pPr indent="0" marL="0">
              <a:buNone/>
            </a:pPr>
            <a:r>
              <a:rPr lang="en-US" sz="1200" dirty="0">
                <a:solidFill>
                  <a:schemeClr val="tx2"/>
                </a:solidFill>
              </a:rPr>
              <a:t>gross margin</a:t>
            </a:r>
            <a:endParaRPr lang="en-US" sz="1200" dirty="0"/>
          </a:p>
        </p:txBody>
      </p:sp>
      <p:sp>
        <p:nvSpPr>
          <p:cNvPr id="20" name="Text 17"/>
          <p:cNvSpPr txBox="1"/>
          <p:nvPr/>
        </p:nvSpPr>
        <p:spPr>
          <a:xfrm>
            <a:off x="10058400" y="5074920"/>
            <a:ext cx="1508760" cy="457200"/>
          </a:xfrm>
          <a:prstGeom prst="rect">
            <a:avLst/>
          </a:prstGeom>
          <a:noFill/>
          <a:ln/>
        </p:spPr>
        <p:txBody>
          <a:bodyPr wrap="square" lIns="0" tIns="0" rIns="0" bIns="0" rtlCol="0" anchor="t"/>
          <a:lstStyle/>
          <a:p>
            <a:pPr indent="0" marL="0">
              <a:buNone/>
            </a:pPr>
            <a:r>
              <a:rPr lang="en-US" sz="2400" b="1" dirty="0">
                <a:solidFill>
                  <a:schemeClr val="tx2"/>
                </a:solidFill>
              </a:rPr>
              <a:t>≤9 mo</a:t>
            </a:r>
            <a:endParaRPr lang="en-US" sz="2400" dirty="0"/>
          </a:p>
        </p:txBody>
      </p:sp>
      <p:sp>
        <p:nvSpPr>
          <p:cNvPr id="21" name="Text 18"/>
          <p:cNvSpPr txBox="1"/>
          <p:nvPr/>
        </p:nvSpPr>
        <p:spPr>
          <a:xfrm>
            <a:off x="10058400" y="5532120"/>
            <a:ext cx="1508760" cy="457200"/>
          </a:xfrm>
          <a:prstGeom prst="rect">
            <a:avLst/>
          </a:prstGeom>
          <a:noFill/>
          <a:ln/>
        </p:spPr>
        <p:txBody>
          <a:bodyPr wrap="square" lIns="0" tIns="0" rIns="0" bIns="0" rtlCol="0" anchor="t"/>
          <a:lstStyle/>
          <a:p>
            <a:pPr indent="0" marL="0">
              <a:buNone/>
            </a:pPr>
            <a:r>
              <a:rPr lang="en-US" sz="1200" dirty="0">
                <a:solidFill>
                  <a:schemeClr val="tx2"/>
                </a:solidFill>
              </a:rPr>
              <a:t>CAC payback</a:t>
            </a:r>
            <a:endParaRPr lang="en-US" sz="12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One of its kind, and hard to replace</a:t>
            </a:r>
            <a:endParaRPr lang="en-US" sz="3200" dirty="0"/>
          </a:p>
        </p:txBody>
      </p:sp>
      <p:sp>
        <p:nvSpPr>
          <p:cNvPr id="3" name="icon-circle-187"/>
          <p:cNvSpPr/>
          <p:nvPr/>
        </p:nvSpPr>
        <p:spPr>
          <a:xfrm>
            <a:off x="548640" y="1463040"/>
            <a:ext cx="512064" cy="512064"/>
          </a:xfrm>
          <a:prstGeom prst="ellipse">
            <a:avLst/>
          </a:prstGeom>
          <a:solidFill>
            <a:schemeClr val="accent1"/>
          </a:solidFill>
          <a:ln w="12700">
            <a:solidFill>
              <a:schemeClr val="accent1"/>
            </a:solidFill>
            <a:prstDash val="solid"/>
          </a:ln>
        </p:spPr>
      </p:sp>
      <p:pic>
        <p:nvPicPr>
          <p:cNvPr id="4" name="icon-188" descr="preencoded.png">    </p:cNvPr>
          <p:cNvPicPr>
            <a:picLocks noChangeAspect="1"/>
          </p:cNvPicPr>
          <p:nvPr/>
        </p:nvPicPr>
        <p:blipFill>
          <a:blip r:embed="rId1"/>
          <a:stretch>
            <a:fillRect/>
          </a:stretch>
        </p:blipFill>
        <p:spPr>
          <a:xfrm>
            <a:off x="671535" y="1585935"/>
            <a:ext cx="266273" cy="266273"/>
          </a:xfrm>
          <a:prstGeom prst="rect">
            <a:avLst/>
          </a:prstGeom>
        </p:spPr>
      </p:pic>
      <p:sp>
        <p:nvSpPr>
          <p:cNvPr id="5" name="Text 2"/>
          <p:cNvSpPr txBox="1"/>
          <p:nvPr/>
        </p:nvSpPr>
        <p:spPr>
          <a:xfrm>
            <a:off x="1234440" y="1444752"/>
            <a:ext cx="3017520" cy="365760"/>
          </a:xfrm>
          <a:prstGeom prst="rect">
            <a:avLst/>
          </a:prstGeom>
          <a:noFill/>
          <a:ln/>
        </p:spPr>
        <p:txBody>
          <a:bodyPr wrap="square" lIns="0" tIns="0" rIns="0" bIns="0" rtlCol="0" anchor="t"/>
          <a:lstStyle/>
          <a:p>
            <a:pPr indent="0" marL="0">
              <a:buNone/>
            </a:pPr>
            <a:r>
              <a:rPr lang="en-US" sz="1600" b="1" dirty="0">
                <a:solidFill>
                  <a:schemeClr val="bg1"/>
                </a:solidFill>
              </a:rPr>
              <a:t>Worker-centric by design</a:t>
            </a:r>
            <a:endParaRPr lang="en-US" sz="1600" dirty="0"/>
          </a:p>
        </p:txBody>
      </p:sp>
      <p:sp>
        <p:nvSpPr>
          <p:cNvPr id="6" name="Text 3"/>
          <p:cNvSpPr txBox="1"/>
          <p:nvPr/>
        </p:nvSpPr>
        <p:spPr>
          <a:xfrm>
            <a:off x="1234440" y="1828800"/>
            <a:ext cx="3017520" cy="640080"/>
          </a:xfrm>
          <a:prstGeom prst="rect">
            <a:avLst/>
          </a:prstGeom>
          <a:noFill/>
          <a:ln/>
        </p:spPr>
        <p:txBody>
          <a:bodyPr wrap="square" lIns="0" tIns="0" rIns="0" bIns="0" rtlCol="0" anchor="t"/>
          <a:lstStyle/>
          <a:p>
            <a:pPr indent="0" marL="0">
              <a:buNone/>
            </a:pPr>
            <a:r>
              <a:rPr lang="en-US" sz="1300" dirty="0">
                <a:solidFill>
                  <a:schemeClr val="bg2"/>
                </a:solidFill>
              </a:rPr>
              <a:t>Built around worker rights, consent and voice</a:t>
            </a:r>
            <a:endParaRPr lang="en-US" sz="1300" dirty="0"/>
          </a:p>
        </p:txBody>
      </p:sp>
      <p:sp>
        <p:nvSpPr>
          <p:cNvPr id="7" name="icon-circle-189"/>
          <p:cNvSpPr/>
          <p:nvPr/>
        </p:nvSpPr>
        <p:spPr>
          <a:xfrm>
            <a:off x="4343400" y="1463040"/>
            <a:ext cx="512064" cy="512064"/>
          </a:xfrm>
          <a:prstGeom prst="ellipse">
            <a:avLst/>
          </a:prstGeom>
          <a:solidFill>
            <a:schemeClr val="accent5"/>
          </a:solidFill>
          <a:ln w="12700">
            <a:solidFill>
              <a:schemeClr val="accent5"/>
            </a:solidFill>
            <a:prstDash val="solid"/>
          </a:ln>
        </p:spPr>
      </p:sp>
      <p:pic>
        <p:nvPicPr>
          <p:cNvPr id="8" name="icon-190" descr="preencoded.png">    </p:cNvPr>
          <p:cNvPicPr>
            <a:picLocks noChangeAspect="1"/>
          </p:cNvPicPr>
          <p:nvPr/>
        </p:nvPicPr>
        <p:blipFill>
          <a:blip r:embed="rId2"/>
          <a:stretch>
            <a:fillRect/>
          </a:stretch>
        </p:blipFill>
        <p:spPr>
          <a:xfrm>
            <a:off x="4466295" y="1585935"/>
            <a:ext cx="266273" cy="266273"/>
          </a:xfrm>
          <a:prstGeom prst="rect">
            <a:avLst/>
          </a:prstGeom>
        </p:spPr>
      </p:pic>
      <p:sp>
        <p:nvSpPr>
          <p:cNvPr id="9" name="Text 5"/>
          <p:cNvSpPr txBox="1"/>
          <p:nvPr/>
        </p:nvSpPr>
        <p:spPr>
          <a:xfrm>
            <a:off x="5029200" y="1444752"/>
            <a:ext cx="3017520" cy="365760"/>
          </a:xfrm>
          <a:prstGeom prst="rect">
            <a:avLst/>
          </a:prstGeom>
          <a:noFill/>
          <a:ln/>
        </p:spPr>
        <p:txBody>
          <a:bodyPr wrap="square" lIns="0" tIns="0" rIns="0" bIns="0" rtlCol="0" anchor="t"/>
          <a:lstStyle/>
          <a:p>
            <a:pPr indent="0" marL="0">
              <a:buNone/>
            </a:pPr>
            <a:r>
              <a:rPr lang="en-US" sz="1600" b="1" dirty="0">
                <a:solidFill>
                  <a:schemeClr val="bg1"/>
                </a:solidFill>
              </a:rPr>
              <a:t>16 Indian languages</a:t>
            </a:r>
            <a:endParaRPr lang="en-US" sz="1600" dirty="0"/>
          </a:p>
        </p:txBody>
      </p:sp>
      <p:sp>
        <p:nvSpPr>
          <p:cNvPr id="10" name="Text 6"/>
          <p:cNvSpPr txBox="1"/>
          <p:nvPr/>
        </p:nvSpPr>
        <p:spPr>
          <a:xfrm>
            <a:off x="5029200" y="1828800"/>
            <a:ext cx="3017520" cy="640080"/>
          </a:xfrm>
          <a:prstGeom prst="rect">
            <a:avLst/>
          </a:prstGeom>
          <a:noFill/>
          <a:ln/>
        </p:spPr>
        <p:txBody>
          <a:bodyPr wrap="square" lIns="0" tIns="0" rIns="0" bIns="0" rtlCol="0" anchor="t"/>
          <a:lstStyle/>
          <a:p>
            <a:pPr indent="0" marL="0">
              <a:buNone/>
            </a:pPr>
            <a:r>
              <a:rPr lang="en-US" sz="1300" dirty="0">
                <a:solidFill>
                  <a:schemeClr val="bg2"/>
                </a:solidFill>
              </a:rPr>
              <a:t>Pan-India with no language barrier</a:t>
            </a:r>
            <a:endParaRPr lang="en-US" sz="1300" dirty="0"/>
          </a:p>
        </p:txBody>
      </p:sp>
      <p:sp>
        <p:nvSpPr>
          <p:cNvPr id="11" name="icon-circle-191"/>
          <p:cNvSpPr/>
          <p:nvPr/>
        </p:nvSpPr>
        <p:spPr>
          <a:xfrm>
            <a:off x="548640" y="2880360"/>
            <a:ext cx="512064" cy="512064"/>
          </a:xfrm>
          <a:prstGeom prst="ellipse">
            <a:avLst/>
          </a:prstGeom>
          <a:solidFill>
            <a:schemeClr val="accent6"/>
          </a:solidFill>
          <a:ln w="12700">
            <a:solidFill>
              <a:schemeClr val="accent6"/>
            </a:solidFill>
            <a:prstDash val="solid"/>
          </a:ln>
        </p:spPr>
      </p:sp>
      <p:pic>
        <p:nvPicPr>
          <p:cNvPr id="12" name="icon-192" descr="preencoded.png">    </p:cNvPr>
          <p:cNvPicPr>
            <a:picLocks noChangeAspect="1"/>
          </p:cNvPicPr>
          <p:nvPr/>
        </p:nvPicPr>
        <p:blipFill>
          <a:blip r:embed="rId3"/>
          <a:stretch>
            <a:fillRect/>
          </a:stretch>
        </p:blipFill>
        <p:spPr>
          <a:xfrm>
            <a:off x="671535" y="3003255"/>
            <a:ext cx="266273" cy="266273"/>
          </a:xfrm>
          <a:prstGeom prst="rect">
            <a:avLst/>
          </a:prstGeom>
        </p:spPr>
      </p:pic>
      <p:sp>
        <p:nvSpPr>
          <p:cNvPr id="13" name="Text 8"/>
          <p:cNvSpPr txBox="1"/>
          <p:nvPr/>
        </p:nvSpPr>
        <p:spPr>
          <a:xfrm>
            <a:off x="1234440" y="2862072"/>
            <a:ext cx="3017520" cy="365760"/>
          </a:xfrm>
          <a:prstGeom prst="rect">
            <a:avLst/>
          </a:prstGeom>
          <a:noFill/>
          <a:ln/>
        </p:spPr>
        <p:txBody>
          <a:bodyPr wrap="square" lIns="0" tIns="0" rIns="0" bIns="0" rtlCol="0" anchor="t"/>
          <a:lstStyle/>
          <a:p>
            <a:pPr indent="0" marL="0">
              <a:buNone/>
            </a:pPr>
            <a:r>
              <a:rPr lang="en-US" sz="1600" b="1" dirty="0">
                <a:solidFill>
                  <a:schemeClr val="bg1"/>
                </a:solidFill>
              </a:rPr>
              <a:t>One QR, four solutions</a:t>
            </a:r>
            <a:endParaRPr lang="en-US" sz="1600" dirty="0"/>
          </a:p>
        </p:txBody>
      </p:sp>
      <p:sp>
        <p:nvSpPr>
          <p:cNvPr id="14" name="Text 9"/>
          <p:cNvSpPr txBox="1"/>
          <p:nvPr/>
        </p:nvSpPr>
        <p:spPr>
          <a:xfrm>
            <a:off x="1234440" y="3246120"/>
            <a:ext cx="3017520" cy="640080"/>
          </a:xfrm>
          <a:prstGeom prst="rect">
            <a:avLst/>
          </a:prstGeom>
          <a:noFill/>
          <a:ln/>
        </p:spPr>
        <p:txBody>
          <a:bodyPr wrap="square" lIns="0" tIns="0" rIns="0" bIns="0" rtlCol="0" anchor="t"/>
          <a:lstStyle/>
          <a:p>
            <a:pPr indent="0" marL="0">
              <a:buNone/>
            </a:pPr>
            <a:r>
              <a:rPr lang="en-US" sz="1300" dirty="0">
                <a:solidFill>
                  <a:schemeClr val="bg2"/>
                </a:solidFill>
              </a:rPr>
              <a:t>Onboarding, attendance, gate pass, verification</a:t>
            </a:r>
            <a:endParaRPr lang="en-US" sz="1300" dirty="0"/>
          </a:p>
        </p:txBody>
      </p:sp>
      <p:sp>
        <p:nvSpPr>
          <p:cNvPr id="15" name="icon-circle-193"/>
          <p:cNvSpPr/>
          <p:nvPr/>
        </p:nvSpPr>
        <p:spPr>
          <a:xfrm>
            <a:off x="4343400" y="2880360"/>
            <a:ext cx="512064" cy="512064"/>
          </a:xfrm>
          <a:prstGeom prst="ellipse">
            <a:avLst/>
          </a:prstGeom>
          <a:solidFill>
            <a:schemeClr val="accent1"/>
          </a:solidFill>
          <a:ln w="12700">
            <a:solidFill>
              <a:schemeClr val="accent1"/>
            </a:solidFill>
            <a:prstDash val="solid"/>
          </a:ln>
        </p:spPr>
      </p:sp>
      <p:pic>
        <p:nvPicPr>
          <p:cNvPr id="16" name="icon-194" descr="preencoded.png">    </p:cNvPr>
          <p:cNvPicPr>
            <a:picLocks noChangeAspect="1"/>
          </p:cNvPicPr>
          <p:nvPr/>
        </p:nvPicPr>
        <p:blipFill>
          <a:blip r:embed="rId4"/>
          <a:stretch>
            <a:fillRect/>
          </a:stretch>
        </p:blipFill>
        <p:spPr>
          <a:xfrm>
            <a:off x="4466295" y="3003255"/>
            <a:ext cx="266273" cy="266273"/>
          </a:xfrm>
          <a:prstGeom prst="rect">
            <a:avLst/>
          </a:prstGeom>
        </p:spPr>
      </p:pic>
      <p:sp>
        <p:nvSpPr>
          <p:cNvPr id="17" name="Text 11"/>
          <p:cNvSpPr txBox="1"/>
          <p:nvPr/>
        </p:nvSpPr>
        <p:spPr>
          <a:xfrm>
            <a:off x="5029200" y="2862072"/>
            <a:ext cx="3017520" cy="365760"/>
          </a:xfrm>
          <a:prstGeom prst="rect">
            <a:avLst/>
          </a:prstGeom>
          <a:noFill/>
          <a:ln/>
        </p:spPr>
        <p:txBody>
          <a:bodyPr wrap="square" lIns="0" tIns="0" rIns="0" bIns="0" rtlCol="0" anchor="t"/>
          <a:lstStyle/>
          <a:p>
            <a:pPr indent="0" marL="0">
              <a:buNone/>
            </a:pPr>
            <a:r>
              <a:rPr lang="en-US" sz="1600" b="1" dirty="0">
                <a:solidFill>
                  <a:schemeClr val="bg1"/>
                </a:solidFill>
              </a:rPr>
              <a:t>Portable identity</a:t>
            </a:r>
            <a:endParaRPr lang="en-US" sz="1600" dirty="0"/>
          </a:p>
        </p:txBody>
      </p:sp>
      <p:sp>
        <p:nvSpPr>
          <p:cNvPr id="18" name="Text 12"/>
          <p:cNvSpPr txBox="1"/>
          <p:nvPr/>
        </p:nvSpPr>
        <p:spPr>
          <a:xfrm>
            <a:off x="5029200" y="3246120"/>
            <a:ext cx="3017520" cy="640080"/>
          </a:xfrm>
          <a:prstGeom prst="rect">
            <a:avLst/>
          </a:prstGeom>
          <a:noFill/>
          <a:ln/>
        </p:spPr>
        <p:txBody>
          <a:bodyPr wrap="square" lIns="0" tIns="0" rIns="0" bIns="0" rtlCol="0" anchor="t"/>
          <a:lstStyle/>
          <a:p>
            <a:pPr indent="0" marL="0">
              <a:buNone/>
            </a:pPr>
            <a:r>
              <a:rPr lang="en-US" sz="1300" dirty="0">
                <a:solidFill>
                  <a:schemeClr val="bg2"/>
                </a:solidFill>
              </a:rPr>
              <a:t>Across employers, contractors and locations</a:t>
            </a:r>
            <a:endParaRPr lang="en-US" sz="1300" dirty="0"/>
          </a:p>
        </p:txBody>
      </p:sp>
      <p:sp>
        <p:nvSpPr>
          <p:cNvPr id="19" name="icon-circle-195"/>
          <p:cNvSpPr/>
          <p:nvPr/>
        </p:nvSpPr>
        <p:spPr>
          <a:xfrm>
            <a:off x="548640" y="4297680"/>
            <a:ext cx="512064" cy="512064"/>
          </a:xfrm>
          <a:prstGeom prst="ellipse">
            <a:avLst/>
          </a:prstGeom>
          <a:solidFill>
            <a:schemeClr val="accent5"/>
          </a:solidFill>
          <a:ln w="12700">
            <a:solidFill>
              <a:schemeClr val="accent5"/>
            </a:solidFill>
            <a:prstDash val="solid"/>
          </a:ln>
        </p:spPr>
      </p:sp>
      <p:pic>
        <p:nvPicPr>
          <p:cNvPr id="20" name="icon-196" descr="preencoded.png">    </p:cNvPr>
          <p:cNvPicPr>
            <a:picLocks noChangeAspect="1"/>
          </p:cNvPicPr>
          <p:nvPr/>
        </p:nvPicPr>
        <p:blipFill>
          <a:blip r:embed="rId5"/>
          <a:stretch>
            <a:fillRect/>
          </a:stretch>
        </p:blipFill>
        <p:spPr>
          <a:xfrm>
            <a:off x="671535" y="4420575"/>
            <a:ext cx="266273" cy="266273"/>
          </a:xfrm>
          <a:prstGeom prst="rect">
            <a:avLst/>
          </a:prstGeom>
        </p:spPr>
      </p:pic>
      <p:sp>
        <p:nvSpPr>
          <p:cNvPr id="21" name="Text 14"/>
          <p:cNvSpPr txBox="1"/>
          <p:nvPr/>
        </p:nvSpPr>
        <p:spPr>
          <a:xfrm>
            <a:off x="1234440" y="4279392"/>
            <a:ext cx="3017520" cy="365760"/>
          </a:xfrm>
          <a:prstGeom prst="rect">
            <a:avLst/>
          </a:prstGeom>
          <a:noFill/>
          <a:ln/>
        </p:spPr>
        <p:txBody>
          <a:bodyPr wrap="square" lIns="0" tIns="0" rIns="0" bIns="0" rtlCol="0" anchor="t"/>
          <a:lstStyle/>
          <a:p>
            <a:pPr indent="0" marL="0">
              <a:buNone/>
            </a:pPr>
            <a:r>
              <a:rPr lang="en-US" sz="1600" b="1" dirty="0">
                <a:solidFill>
                  <a:schemeClr val="bg1"/>
                </a:solidFill>
              </a:rPr>
              <a:t>DPI and Labour Code aligned</a:t>
            </a:r>
            <a:endParaRPr lang="en-US" sz="1600" dirty="0"/>
          </a:p>
        </p:txBody>
      </p:sp>
      <p:sp>
        <p:nvSpPr>
          <p:cNvPr id="22" name="Text 15"/>
          <p:cNvSpPr txBox="1"/>
          <p:nvPr/>
        </p:nvSpPr>
        <p:spPr>
          <a:xfrm>
            <a:off x="1234440" y="4663440"/>
            <a:ext cx="3017520" cy="640080"/>
          </a:xfrm>
          <a:prstGeom prst="rect">
            <a:avLst/>
          </a:prstGeom>
          <a:noFill/>
          <a:ln/>
        </p:spPr>
        <p:txBody>
          <a:bodyPr wrap="square" lIns="0" tIns="0" rIns="0" bIns="0" rtlCol="0" anchor="t"/>
          <a:lstStyle/>
          <a:p>
            <a:pPr indent="0" marL="0">
              <a:buNone/>
            </a:pPr>
            <a:r>
              <a:rPr lang="en-US" sz="1300" dirty="0">
                <a:solidFill>
                  <a:schemeClr val="bg2"/>
                </a:solidFill>
              </a:rPr>
              <a:t>Govt validation; codes applied as notified</a:t>
            </a:r>
            <a:endParaRPr lang="en-US" sz="1300" dirty="0"/>
          </a:p>
        </p:txBody>
      </p:sp>
      <p:sp>
        <p:nvSpPr>
          <p:cNvPr id="23" name="icon-circle-197"/>
          <p:cNvSpPr/>
          <p:nvPr/>
        </p:nvSpPr>
        <p:spPr>
          <a:xfrm>
            <a:off x="4343400" y="4297680"/>
            <a:ext cx="512064" cy="512064"/>
          </a:xfrm>
          <a:prstGeom prst="ellipse">
            <a:avLst/>
          </a:prstGeom>
          <a:solidFill>
            <a:schemeClr val="accent6"/>
          </a:solidFill>
          <a:ln w="12700">
            <a:solidFill>
              <a:schemeClr val="accent6"/>
            </a:solidFill>
            <a:prstDash val="solid"/>
          </a:ln>
        </p:spPr>
      </p:sp>
      <p:pic>
        <p:nvPicPr>
          <p:cNvPr id="24" name="icon-198" descr="preencoded.png">    </p:cNvPr>
          <p:cNvPicPr>
            <a:picLocks noChangeAspect="1"/>
          </p:cNvPicPr>
          <p:nvPr/>
        </p:nvPicPr>
        <p:blipFill>
          <a:blip r:embed="rId6"/>
          <a:stretch>
            <a:fillRect/>
          </a:stretch>
        </p:blipFill>
        <p:spPr>
          <a:xfrm>
            <a:off x="4466295" y="4420575"/>
            <a:ext cx="266273" cy="266273"/>
          </a:xfrm>
          <a:prstGeom prst="rect">
            <a:avLst/>
          </a:prstGeom>
        </p:spPr>
      </p:pic>
      <p:sp>
        <p:nvSpPr>
          <p:cNvPr id="25" name="Text 17"/>
          <p:cNvSpPr txBox="1"/>
          <p:nvPr/>
        </p:nvSpPr>
        <p:spPr>
          <a:xfrm>
            <a:off x="5029200" y="4279392"/>
            <a:ext cx="3017520" cy="365760"/>
          </a:xfrm>
          <a:prstGeom prst="rect">
            <a:avLst/>
          </a:prstGeom>
          <a:noFill/>
          <a:ln/>
        </p:spPr>
        <p:txBody>
          <a:bodyPr wrap="square" lIns="0" tIns="0" rIns="0" bIns="0" rtlCol="0" anchor="t"/>
          <a:lstStyle/>
          <a:p>
            <a:pPr indent="0" marL="0">
              <a:buNone/>
            </a:pPr>
            <a:r>
              <a:rPr lang="en-US" sz="1600" b="1" dirty="0">
                <a:solidFill>
                  <a:schemeClr val="bg1"/>
                </a:solidFill>
              </a:rPr>
              <a:t>AI audit, 3-layer reporting</a:t>
            </a:r>
            <a:endParaRPr lang="en-US" sz="1600" dirty="0"/>
          </a:p>
        </p:txBody>
      </p:sp>
      <p:sp>
        <p:nvSpPr>
          <p:cNvPr id="26" name="Text 18"/>
          <p:cNvSpPr txBox="1"/>
          <p:nvPr/>
        </p:nvSpPr>
        <p:spPr>
          <a:xfrm>
            <a:off x="5029200" y="4663440"/>
            <a:ext cx="3017520" cy="640080"/>
          </a:xfrm>
          <a:prstGeom prst="rect">
            <a:avLst/>
          </a:prstGeom>
          <a:noFill/>
          <a:ln/>
        </p:spPr>
        <p:txBody>
          <a:bodyPr wrap="square" lIns="0" tIns="0" rIns="0" bIns="0" rtlCol="0" anchor="t"/>
          <a:lstStyle/>
          <a:p>
            <a:pPr indent="0" marL="0">
              <a:buNone/>
            </a:pPr>
            <a:r>
              <a:rPr lang="en-US" sz="1300" dirty="0">
                <a:solidFill>
                  <a:schemeClr val="bg2"/>
                </a:solidFill>
              </a:rPr>
              <a:t>Executive, CXO and Board from one record</a:t>
            </a:r>
            <a:endParaRPr lang="en-US" sz="1300" dirty="0"/>
          </a:p>
        </p:txBody>
      </p:sp>
      <p:sp>
        <p:nvSpPr>
          <p:cNvPr id="27" name="icon-circle-199"/>
          <p:cNvSpPr/>
          <p:nvPr/>
        </p:nvSpPr>
        <p:spPr>
          <a:xfrm>
            <a:off x="8321040" y="1508760"/>
            <a:ext cx="585216" cy="585216"/>
          </a:xfrm>
          <a:prstGeom prst="ellipse">
            <a:avLst/>
          </a:prstGeom>
          <a:solidFill>
            <a:schemeClr val="accent1"/>
          </a:solidFill>
          <a:ln w="12700">
            <a:solidFill>
              <a:schemeClr val="accent1"/>
            </a:solidFill>
            <a:prstDash val="solid"/>
          </a:ln>
        </p:spPr>
      </p:sp>
      <p:pic>
        <p:nvPicPr>
          <p:cNvPr id="28" name="icon-200" descr="preencoded.png">    </p:cNvPr>
          <p:cNvPicPr>
            <a:picLocks noChangeAspect="1"/>
          </p:cNvPicPr>
          <p:nvPr/>
        </p:nvPicPr>
        <p:blipFill>
          <a:blip r:embed="rId7"/>
          <a:stretch>
            <a:fillRect/>
          </a:stretch>
        </p:blipFill>
        <p:spPr>
          <a:xfrm>
            <a:off x="8461492" y="1649212"/>
            <a:ext cx="304312" cy="304312"/>
          </a:xfrm>
          <a:prstGeom prst="rect">
            <a:avLst/>
          </a:prstGeom>
        </p:spPr>
      </p:pic>
      <p:sp>
        <p:nvSpPr>
          <p:cNvPr id="29" name="Text 20"/>
          <p:cNvSpPr txBox="1"/>
          <p:nvPr/>
        </p:nvSpPr>
        <p:spPr>
          <a:xfrm>
            <a:off x="8321040" y="2240280"/>
            <a:ext cx="3291840" cy="365760"/>
          </a:xfrm>
          <a:prstGeom prst="rect">
            <a:avLst/>
          </a:prstGeom>
          <a:noFill/>
          <a:ln/>
        </p:spPr>
        <p:txBody>
          <a:bodyPr wrap="square" lIns="0" tIns="0" rIns="0" bIns="0" rtlCol="0" anchor="t"/>
          <a:lstStyle/>
          <a:p>
            <a:pPr indent="0" marL="0">
              <a:buNone/>
            </a:pPr>
            <a:r>
              <a:rPr lang="en-US" sz="1800" b="1" dirty="0">
                <a:solidFill>
                  <a:schemeClr val="bg1"/>
                </a:solidFill>
              </a:rPr>
              <a:t>Network effect</a:t>
            </a:r>
            <a:endParaRPr lang="en-US" sz="1800" dirty="0"/>
          </a:p>
        </p:txBody>
      </p:sp>
      <p:sp>
        <p:nvSpPr>
          <p:cNvPr id="30" name="Text 21"/>
          <p:cNvSpPr txBox="1"/>
          <p:nvPr/>
        </p:nvSpPr>
        <p:spPr>
          <a:xfrm>
            <a:off x="8321040" y="2606040"/>
            <a:ext cx="3291840" cy="822960"/>
          </a:xfrm>
          <a:prstGeom prst="rect">
            <a:avLst/>
          </a:prstGeom>
          <a:noFill/>
          <a:ln/>
        </p:spPr>
        <p:txBody>
          <a:bodyPr wrap="square" lIns="0" tIns="0" rIns="0" bIns="0" rtlCol="0" anchor="t"/>
          <a:lstStyle/>
          <a:p>
            <a:pPr indent="0" marL="0">
              <a:buNone/>
            </a:pPr>
            <a:r>
              <a:rPr lang="en-US" sz="1400" dirty="0">
                <a:solidFill>
                  <a:schemeClr val="bg2"/>
                </a:solidFill>
              </a:rPr>
              <a:t>Every binding adds a verified worker–contractor–employer link that add-ons reuse without re-verification.</a:t>
            </a:r>
            <a:endParaRPr lang="en-US" sz="1400" dirty="0"/>
          </a:p>
        </p:txBody>
      </p:sp>
      <p:sp>
        <p:nvSpPr>
          <p:cNvPr id="31" name="icon-circle-201"/>
          <p:cNvSpPr/>
          <p:nvPr/>
        </p:nvSpPr>
        <p:spPr>
          <a:xfrm>
            <a:off x="8321040" y="3520440"/>
            <a:ext cx="585216" cy="585216"/>
          </a:xfrm>
          <a:prstGeom prst="ellipse">
            <a:avLst/>
          </a:prstGeom>
          <a:solidFill>
            <a:schemeClr val="accent2"/>
          </a:solidFill>
          <a:ln w="12700">
            <a:solidFill>
              <a:schemeClr val="accent2"/>
            </a:solidFill>
            <a:prstDash val="solid"/>
          </a:ln>
        </p:spPr>
      </p:sp>
      <p:pic>
        <p:nvPicPr>
          <p:cNvPr id="32" name="icon-202" descr="preencoded.png">    </p:cNvPr>
          <p:cNvPicPr>
            <a:picLocks noChangeAspect="1"/>
          </p:cNvPicPr>
          <p:nvPr/>
        </p:nvPicPr>
        <p:blipFill>
          <a:blip r:embed="rId8"/>
          <a:stretch>
            <a:fillRect/>
          </a:stretch>
        </p:blipFill>
        <p:spPr>
          <a:xfrm>
            <a:off x="8461492" y="3660892"/>
            <a:ext cx="304312" cy="304312"/>
          </a:xfrm>
          <a:prstGeom prst="rect">
            <a:avLst/>
          </a:prstGeom>
        </p:spPr>
      </p:pic>
      <p:sp>
        <p:nvSpPr>
          <p:cNvPr id="33" name="Text 23"/>
          <p:cNvSpPr txBox="1"/>
          <p:nvPr/>
        </p:nvSpPr>
        <p:spPr>
          <a:xfrm>
            <a:off x="8321040" y="4251960"/>
            <a:ext cx="3291840" cy="365760"/>
          </a:xfrm>
          <a:prstGeom prst="rect">
            <a:avLst/>
          </a:prstGeom>
          <a:noFill/>
          <a:ln/>
        </p:spPr>
        <p:txBody>
          <a:bodyPr wrap="square" lIns="0" tIns="0" rIns="0" bIns="0" rtlCol="0" anchor="t"/>
          <a:lstStyle/>
          <a:p>
            <a:pPr indent="0" marL="0">
              <a:buNone/>
            </a:pPr>
            <a:r>
              <a:rPr lang="en-US" sz="1800" b="1" dirty="0">
                <a:solidFill>
                  <a:schemeClr val="bg1"/>
                </a:solidFill>
              </a:rPr>
              <a:t>System of record</a:t>
            </a:r>
            <a:endParaRPr lang="en-US" sz="1800" dirty="0"/>
          </a:p>
        </p:txBody>
      </p:sp>
      <p:sp>
        <p:nvSpPr>
          <p:cNvPr id="34" name="Text 24"/>
          <p:cNvSpPr txBox="1"/>
          <p:nvPr/>
        </p:nvSpPr>
        <p:spPr>
          <a:xfrm>
            <a:off x="8321040" y="4617720"/>
            <a:ext cx="3291840" cy="822960"/>
          </a:xfrm>
          <a:prstGeom prst="rect">
            <a:avLst/>
          </a:prstGeom>
          <a:noFill/>
          <a:ln/>
        </p:spPr>
        <p:txBody>
          <a:bodyPr wrap="square" lIns="0" tIns="0" rIns="0" bIns="0" rtlCol="0" anchor="t"/>
          <a:lstStyle/>
          <a:p>
            <a:pPr indent="0" marL="0">
              <a:buNone/>
            </a:pPr>
            <a:r>
              <a:rPr lang="en-US" sz="1400" dirty="0">
                <a:solidFill>
                  <a:schemeClr val="bg2"/>
                </a:solidFill>
              </a:rPr>
              <a:t>Registers and evidence are generated from the record, which makes the platform hard to replace.</a:t>
            </a:r>
            <a:endParaRPr lang="en-US" sz="14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SWOT analysis</a:t>
            </a:r>
            <a:endParaRPr lang="en-US" sz="3200" dirty="0"/>
          </a:p>
        </p:txBody>
      </p:sp>
      <p:sp>
        <p:nvSpPr>
          <p:cNvPr id="3" name="swot-Strengths-203"/>
          <p:cNvSpPr/>
          <p:nvPr/>
        </p:nvSpPr>
        <p:spPr>
          <a:xfrm>
            <a:off x="548640" y="1371600"/>
            <a:ext cx="5440680" cy="2194560"/>
          </a:xfrm>
          <a:prstGeom prst="roundRect">
            <a:avLst>
              <a:gd name="adj" fmla="val 5000"/>
            </a:avLst>
          </a:prstGeom>
          <a:solidFill>
            <a:schemeClr val="bg2"/>
          </a:solidFill>
          <a:ln w="12700">
            <a:solidFill>
              <a:schemeClr val="bg2"/>
            </a:solidFill>
            <a:prstDash val="solid"/>
          </a:ln>
        </p:spPr>
      </p:sp>
      <p:sp>
        <p:nvSpPr>
          <p:cNvPr id="4" name="icon-circle-204"/>
          <p:cNvSpPr/>
          <p:nvPr/>
        </p:nvSpPr>
        <p:spPr>
          <a:xfrm>
            <a:off x="777240" y="1572768"/>
            <a:ext cx="457200" cy="457200"/>
          </a:xfrm>
          <a:prstGeom prst="ellipse">
            <a:avLst/>
          </a:prstGeom>
          <a:solidFill>
            <a:schemeClr val="accent2"/>
          </a:solidFill>
          <a:ln w="12700">
            <a:solidFill>
              <a:schemeClr val="accent2"/>
            </a:solidFill>
            <a:prstDash val="solid"/>
          </a:ln>
        </p:spPr>
      </p:sp>
      <p:pic>
        <p:nvPicPr>
          <p:cNvPr id="5" name="icon-205" descr="preencoded.png">    </p:cNvPr>
          <p:cNvPicPr>
            <a:picLocks noChangeAspect="1"/>
          </p:cNvPicPr>
          <p:nvPr/>
        </p:nvPicPr>
        <p:blipFill>
          <a:blip r:embed="rId1"/>
          <a:stretch>
            <a:fillRect/>
          </a:stretch>
        </p:blipFill>
        <p:spPr>
          <a:xfrm>
            <a:off x="886968" y="1682496"/>
            <a:ext cx="237744" cy="237744"/>
          </a:xfrm>
          <a:prstGeom prst="rect">
            <a:avLst/>
          </a:prstGeom>
        </p:spPr>
      </p:pic>
      <p:sp>
        <p:nvSpPr>
          <p:cNvPr id="6" name="Text 3"/>
          <p:cNvSpPr txBox="1"/>
          <p:nvPr/>
        </p:nvSpPr>
        <p:spPr>
          <a:xfrm>
            <a:off x="1371600" y="1600200"/>
            <a:ext cx="4389120" cy="411480"/>
          </a:xfrm>
          <a:prstGeom prst="rect">
            <a:avLst/>
          </a:prstGeom>
          <a:noFill/>
          <a:ln/>
        </p:spPr>
        <p:txBody>
          <a:bodyPr wrap="square" lIns="0" tIns="0" rIns="0" bIns="0" rtlCol="0" anchor="t"/>
          <a:lstStyle/>
          <a:p>
            <a:pPr indent="0" marL="0">
              <a:buNone/>
            </a:pPr>
            <a:r>
              <a:rPr lang="en-US" sz="1900" b="1" dirty="0">
                <a:solidFill>
                  <a:schemeClr val="accent2"/>
                </a:solidFill>
              </a:rPr>
              <a:t>Strengths</a:t>
            </a:r>
            <a:endParaRPr lang="en-US" sz="1900" dirty="0"/>
          </a:p>
        </p:txBody>
      </p:sp>
      <p:sp>
        <p:nvSpPr>
          <p:cNvPr id="7" name="Text 4"/>
          <p:cNvSpPr txBox="1"/>
          <p:nvPr/>
        </p:nvSpPr>
        <p:spPr>
          <a:xfrm>
            <a:off x="822960" y="2148840"/>
            <a:ext cx="493776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16 Indian languages: a USP no one else has</a:t>
            </a:r>
            <a:endParaRPr lang="en-US" sz="1300" dirty="0"/>
          </a:p>
          <a:p>
            <a:pPr marL="342900" indent="-342900">
              <a:spcAft>
                <a:spcPts val="300"/>
              </a:spcAft>
              <a:buSzPct val="100000"/>
              <a:buChar char="•"/>
            </a:pPr>
            <a:r>
              <a:rPr lang="en-US" sz="1300" dirty="0">
                <a:solidFill>
                  <a:schemeClr val="tx2"/>
                </a:solidFill>
              </a:rPr>
              <a:t>Worker-centric, portable identity across employers</a:t>
            </a:r>
            <a:endParaRPr lang="en-US" sz="1300" dirty="0"/>
          </a:p>
          <a:p>
            <a:pPr marL="342900" indent="-342900">
              <a:spcAft>
                <a:spcPts val="300"/>
              </a:spcAft>
              <a:buSzPct val="100000"/>
              <a:buChar char="•"/>
            </a:pPr>
            <a:r>
              <a:rPr lang="en-US" sz="1300" dirty="0">
                <a:solidFill>
                  <a:schemeClr val="tx2"/>
                </a:solidFill>
              </a:rPr>
              <a:t>One QR for onboarding, attendance, gate pass, verification</a:t>
            </a:r>
            <a:endParaRPr lang="en-US" sz="1300" dirty="0"/>
          </a:p>
          <a:p>
            <a:pPr marL="342900" indent="-342900">
              <a:spcAft>
                <a:spcPts val="300"/>
              </a:spcAft>
              <a:buSzPct val="100000"/>
              <a:buChar char="•"/>
            </a:pPr>
            <a:r>
              <a:rPr lang="en-US" sz="1300" dirty="0">
                <a:solidFill>
                  <a:schemeClr val="tx2"/>
                </a:solidFill>
              </a:rPr>
              <a:t>AI-enabled audit and three-layer reporting</a:t>
            </a:r>
            <a:endParaRPr lang="en-US" sz="1300" dirty="0"/>
          </a:p>
        </p:txBody>
      </p:sp>
      <p:sp>
        <p:nvSpPr>
          <p:cNvPr id="8" name="swot-Weaknesses-206"/>
          <p:cNvSpPr/>
          <p:nvPr/>
        </p:nvSpPr>
        <p:spPr>
          <a:xfrm>
            <a:off x="6172200" y="1371600"/>
            <a:ext cx="5440680" cy="2194560"/>
          </a:xfrm>
          <a:prstGeom prst="roundRect">
            <a:avLst>
              <a:gd name="adj" fmla="val 5000"/>
            </a:avLst>
          </a:prstGeom>
          <a:solidFill>
            <a:schemeClr val="bg2"/>
          </a:solidFill>
          <a:ln w="12700">
            <a:solidFill>
              <a:schemeClr val="bg2"/>
            </a:solidFill>
            <a:prstDash val="solid"/>
          </a:ln>
        </p:spPr>
      </p:sp>
      <p:sp>
        <p:nvSpPr>
          <p:cNvPr id="9" name="icon-circle-207"/>
          <p:cNvSpPr/>
          <p:nvPr/>
        </p:nvSpPr>
        <p:spPr>
          <a:xfrm>
            <a:off x="6400800" y="1572768"/>
            <a:ext cx="457200" cy="457200"/>
          </a:xfrm>
          <a:prstGeom prst="ellipse">
            <a:avLst/>
          </a:prstGeom>
          <a:solidFill>
            <a:schemeClr val="accent1"/>
          </a:solidFill>
          <a:ln w="12700">
            <a:solidFill>
              <a:schemeClr val="accent1"/>
            </a:solidFill>
            <a:prstDash val="solid"/>
          </a:ln>
        </p:spPr>
      </p:sp>
      <p:pic>
        <p:nvPicPr>
          <p:cNvPr id="10" name="icon-208" descr="preencoded.png">    </p:cNvPr>
          <p:cNvPicPr>
            <a:picLocks noChangeAspect="1"/>
          </p:cNvPicPr>
          <p:nvPr/>
        </p:nvPicPr>
        <p:blipFill>
          <a:blip r:embed="rId2"/>
          <a:stretch>
            <a:fillRect/>
          </a:stretch>
        </p:blipFill>
        <p:spPr>
          <a:xfrm>
            <a:off x="6510528" y="1682496"/>
            <a:ext cx="237744" cy="237744"/>
          </a:xfrm>
          <a:prstGeom prst="rect">
            <a:avLst/>
          </a:prstGeom>
        </p:spPr>
      </p:pic>
      <p:sp>
        <p:nvSpPr>
          <p:cNvPr id="11" name="Text 7"/>
          <p:cNvSpPr txBox="1"/>
          <p:nvPr/>
        </p:nvSpPr>
        <p:spPr>
          <a:xfrm>
            <a:off x="6995160" y="1600200"/>
            <a:ext cx="4389120" cy="411480"/>
          </a:xfrm>
          <a:prstGeom prst="rect">
            <a:avLst/>
          </a:prstGeom>
          <a:noFill/>
          <a:ln/>
        </p:spPr>
        <p:txBody>
          <a:bodyPr wrap="square" lIns="0" tIns="0" rIns="0" bIns="0" rtlCol="0" anchor="t"/>
          <a:lstStyle/>
          <a:p>
            <a:pPr indent="0" marL="0">
              <a:buNone/>
            </a:pPr>
            <a:r>
              <a:rPr lang="en-US" sz="1900" b="1" dirty="0">
                <a:solidFill>
                  <a:schemeClr val="accent1"/>
                </a:solidFill>
              </a:rPr>
              <a:t>Weaknesses</a:t>
            </a:r>
            <a:endParaRPr lang="en-US" sz="1900" dirty="0"/>
          </a:p>
        </p:txBody>
      </p:sp>
      <p:sp>
        <p:nvSpPr>
          <p:cNvPr id="12" name="Text 8"/>
          <p:cNvSpPr txBox="1"/>
          <p:nvPr/>
        </p:nvSpPr>
        <p:spPr>
          <a:xfrm>
            <a:off x="6446520" y="2148840"/>
            <a:ext cx="493776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Early stage: pricing still to be validated</a:t>
            </a:r>
            <a:endParaRPr lang="en-US" sz="1300" dirty="0"/>
          </a:p>
          <a:p>
            <a:pPr marL="342900" indent="-342900">
              <a:spcAft>
                <a:spcPts val="300"/>
              </a:spcAft>
              <a:buSzPct val="100000"/>
              <a:buChar char="•"/>
            </a:pPr>
            <a:r>
              <a:rPr lang="en-US" sz="1300" dirty="0">
                <a:solidFill>
                  <a:schemeClr val="tx2"/>
                </a:solidFill>
              </a:rPr>
              <a:t>Several government integrations in pilot stage</a:t>
            </a:r>
            <a:endParaRPr lang="en-US" sz="1300" dirty="0"/>
          </a:p>
          <a:p>
            <a:pPr marL="342900" indent="-342900">
              <a:spcAft>
                <a:spcPts val="300"/>
              </a:spcAft>
              <a:buSzPct val="100000"/>
              <a:buChar char="•"/>
            </a:pPr>
            <a:r>
              <a:rPr lang="en-US" sz="1300" dirty="0">
                <a:solidFill>
                  <a:schemeClr val="tx2"/>
                </a:solidFill>
              </a:rPr>
              <a:t>Contractor segment is price-sensitive and informal</a:t>
            </a:r>
            <a:endParaRPr lang="en-US" sz="1300" dirty="0"/>
          </a:p>
          <a:p>
            <a:pPr marL="342900" indent="-342900">
              <a:spcAft>
                <a:spcPts val="300"/>
              </a:spcAft>
              <a:buSzPct val="100000"/>
              <a:buChar char="•"/>
            </a:pPr>
            <a:r>
              <a:rPr lang="en-US" sz="1300" dirty="0">
                <a:solidFill>
                  <a:schemeClr val="tx2"/>
                </a:solidFill>
              </a:rPr>
              <a:t>[Add internal weakness]</a:t>
            </a:r>
            <a:endParaRPr lang="en-US" sz="1300" dirty="0"/>
          </a:p>
        </p:txBody>
      </p:sp>
      <p:sp>
        <p:nvSpPr>
          <p:cNvPr id="13" name="swot-Opportunities-209"/>
          <p:cNvSpPr/>
          <p:nvPr/>
        </p:nvSpPr>
        <p:spPr>
          <a:xfrm>
            <a:off x="548640" y="3749040"/>
            <a:ext cx="5440680" cy="2194560"/>
          </a:xfrm>
          <a:prstGeom prst="roundRect">
            <a:avLst>
              <a:gd name="adj" fmla="val 5000"/>
            </a:avLst>
          </a:prstGeom>
          <a:solidFill>
            <a:schemeClr val="bg2"/>
          </a:solidFill>
          <a:ln w="12700">
            <a:solidFill>
              <a:schemeClr val="bg2"/>
            </a:solidFill>
            <a:prstDash val="solid"/>
          </a:ln>
        </p:spPr>
      </p:sp>
      <p:sp>
        <p:nvSpPr>
          <p:cNvPr id="14" name="icon-circle-210"/>
          <p:cNvSpPr/>
          <p:nvPr/>
        </p:nvSpPr>
        <p:spPr>
          <a:xfrm>
            <a:off x="777240" y="3950208"/>
            <a:ext cx="457200" cy="457200"/>
          </a:xfrm>
          <a:prstGeom prst="ellipse">
            <a:avLst/>
          </a:prstGeom>
          <a:solidFill>
            <a:schemeClr val="accent3"/>
          </a:solidFill>
          <a:ln w="12700">
            <a:solidFill>
              <a:schemeClr val="accent3"/>
            </a:solidFill>
            <a:prstDash val="solid"/>
          </a:ln>
        </p:spPr>
      </p:sp>
      <p:pic>
        <p:nvPicPr>
          <p:cNvPr id="15" name="icon-211" descr="preencoded.png">    </p:cNvPr>
          <p:cNvPicPr>
            <a:picLocks noChangeAspect="1"/>
          </p:cNvPicPr>
          <p:nvPr/>
        </p:nvPicPr>
        <p:blipFill>
          <a:blip r:embed="rId3"/>
          <a:stretch>
            <a:fillRect/>
          </a:stretch>
        </p:blipFill>
        <p:spPr>
          <a:xfrm>
            <a:off x="886968" y="4059936"/>
            <a:ext cx="237744" cy="237744"/>
          </a:xfrm>
          <a:prstGeom prst="rect">
            <a:avLst/>
          </a:prstGeom>
        </p:spPr>
      </p:pic>
      <p:sp>
        <p:nvSpPr>
          <p:cNvPr id="16" name="Text 11"/>
          <p:cNvSpPr txBox="1"/>
          <p:nvPr/>
        </p:nvSpPr>
        <p:spPr>
          <a:xfrm>
            <a:off x="1371600" y="3977640"/>
            <a:ext cx="4389120" cy="411480"/>
          </a:xfrm>
          <a:prstGeom prst="rect">
            <a:avLst/>
          </a:prstGeom>
          <a:noFill/>
          <a:ln/>
        </p:spPr>
        <p:txBody>
          <a:bodyPr wrap="square" lIns="0" tIns="0" rIns="0" bIns="0" rtlCol="0" anchor="t"/>
          <a:lstStyle/>
          <a:p>
            <a:pPr indent="0" marL="0">
              <a:buNone/>
            </a:pPr>
            <a:r>
              <a:rPr lang="en-US" sz="1900" b="1" dirty="0">
                <a:solidFill>
                  <a:schemeClr val="accent3"/>
                </a:solidFill>
              </a:rPr>
              <a:t>Opportunities</a:t>
            </a:r>
            <a:endParaRPr lang="en-US" sz="1900" dirty="0"/>
          </a:p>
        </p:txBody>
      </p:sp>
      <p:sp>
        <p:nvSpPr>
          <p:cNvPr id="17" name="Text 12"/>
          <p:cNvSpPr txBox="1"/>
          <p:nvPr/>
        </p:nvSpPr>
        <p:spPr>
          <a:xfrm>
            <a:off x="822960" y="4526280"/>
            <a:ext cx="493776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Labour Code transition across all states</a:t>
            </a:r>
            <a:endParaRPr lang="en-US" sz="1300" dirty="0"/>
          </a:p>
          <a:p>
            <a:pPr marL="342900" indent="-342900">
              <a:spcAft>
                <a:spcPts val="300"/>
              </a:spcAft>
              <a:buSzPct val="100000"/>
              <a:buChar char="•"/>
            </a:pPr>
            <a:r>
              <a:rPr lang="en-US" sz="1300" dirty="0">
                <a:solidFill>
                  <a:schemeClr val="tx2"/>
                </a:solidFill>
              </a:rPr>
              <a:t>State welfare board (B2G) editions</a:t>
            </a:r>
            <a:endParaRPr lang="en-US" sz="1300" dirty="0"/>
          </a:p>
          <a:p>
            <a:pPr marL="342900" indent="-342900">
              <a:spcAft>
                <a:spcPts val="300"/>
              </a:spcAft>
              <a:buSzPct val="100000"/>
              <a:buChar char="•"/>
            </a:pPr>
            <a:r>
              <a:rPr lang="en-US" sz="1300" dirty="0">
                <a:solidFill>
                  <a:schemeClr val="tx2"/>
                </a:solidFill>
              </a:rPr>
              <a:t>Next phase: Rozgar, Upskill and Payroll</a:t>
            </a:r>
            <a:endParaRPr lang="en-US" sz="1300" dirty="0"/>
          </a:p>
          <a:p>
            <a:pPr marL="342900" indent="-342900">
              <a:spcAft>
                <a:spcPts val="300"/>
              </a:spcAft>
              <a:buSzPct val="100000"/>
              <a:buChar char="•"/>
            </a:pPr>
            <a:r>
              <a:rPr lang="en-US" sz="1300" dirty="0">
                <a:solidFill>
                  <a:schemeClr val="tx2"/>
                </a:solidFill>
              </a:rPr>
              <a:t>Green impact: paperless at national scale</a:t>
            </a:r>
            <a:endParaRPr lang="en-US" sz="1300" dirty="0"/>
          </a:p>
        </p:txBody>
      </p:sp>
      <p:sp>
        <p:nvSpPr>
          <p:cNvPr id="18" name="swot-Threats-212"/>
          <p:cNvSpPr/>
          <p:nvPr/>
        </p:nvSpPr>
        <p:spPr>
          <a:xfrm>
            <a:off x="6172200" y="3749040"/>
            <a:ext cx="5440680" cy="2194560"/>
          </a:xfrm>
          <a:prstGeom prst="roundRect">
            <a:avLst>
              <a:gd name="adj" fmla="val 5000"/>
            </a:avLst>
          </a:prstGeom>
          <a:solidFill>
            <a:schemeClr val="bg2"/>
          </a:solidFill>
          <a:ln w="12700">
            <a:solidFill>
              <a:schemeClr val="bg2"/>
            </a:solidFill>
            <a:prstDash val="solid"/>
          </a:ln>
        </p:spPr>
      </p:sp>
      <p:sp>
        <p:nvSpPr>
          <p:cNvPr id="19" name="icon-circle-213"/>
          <p:cNvSpPr/>
          <p:nvPr/>
        </p:nvSpPr>
        <p:spPr>
          <a:xfrm>
            <a:off x="6400800" y="3950208"/>
            <a:ext cx="457200" cy="457200"/>
          </a:xfrm>
          <a:prstGeom prst="ellipse">
            <a:avLst/>
          </a:prstGeom>
          <a:solidFill>
            <a:schemeClr val="tx2"/>
          </a:solidFill>
          <a:ln w="12700">
            <a:solidFill>
              <a:schemeClr val="tx2"/>
            </a:solidFill>
            <a:prstDash val="solid"/>
          </a:ln>
        </p:spPr>
      </p:sp>
      <p:pic>
        <p:nvPicPr>
          <p:cNvPr id="20" name="icon-214" descr="preencoded.png">    </p:cNvPr>
          <p:cNvPicPr>
            <a:picLocks noChangeAspect="1"/>
          </p:cNvPicPr>
          <p:nvPr/>
        </p:nvPicPr>
        <p:blipFill>
          <a:blip r:embed="rId4"/>
          <a:stretch>
            <a:fillRect/>
          </a:stretch>
        </p:blipFill>
        <p:spPr>
          <a:xfrm>
            <a:off x="6510528" y="4059936"/>
            <a:ext cx="237744" cy="237744"/>
          </a:xfrm>
          <a:prstGeom prst="rect">
            <a:avLst/>
          </a:prstGeom>
        </p:spPr>
      </p:pic>
      <p:sp>
        <p:nvSpPr>
          <p:cNvPr id="21" name="Text 15"/>
          <p:cNvSpPr txBox="1"/>
          <p:nvPr/>
        </p:nvSpPr>
        <p:spPr>
          <a:xfrm>
            <a:off x="6995160" y="3977640"/>
            <a:ext cx="4389120" cy="411480"/>
          </a:xfrm>
          <a:prstGeom prst="rect">
            <a:avLst/>
          </a:prstGeom>
          <a:noFill/>
          <a:ln/>
        </p:spPr>
        <p:txBody>
          <a:bodyPr wrap="square" lIns="0" tIns="0" rIns="0" bIns="0" rtlCol="0" anchor="t"/>
          <a:lstStyle/>
          <a:p>
            <a:pPr indent="0" marL="0">
              <a:buNone/>
            </a:pPr>
            <a:r>
              <a:rPr lang="en-US" sz="1900" b="1" dirty="0">
                <a:solidFill>
                  <a:schemeClr val="tx2"/>
                </a:solidFill>
              </a:rPr>
              <a:t>Threats</a:t>
            </a:r>
            <a:endParaRPr lang="en-US" sz="1900" dirty="0"/>
          </a:p>
        </p:txBody>
      </p:sp>
      <p:sp>
        <p:nvSpPr>
          <p:cNvPr id="22" name="Text 16"/>
          <p:cNvSpPr txBox="1"/>
          <p:nvPr/>
        </p:nvSpPr>
        <p:spPr>
          <a:xfrm>
            <a:off x="6446520" y="4526280"/>
            <a:ext cx="4937760" cy="1325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New entrants in workforce compliance</a:t>
            </a:r>
            <a:endParaRPr lang="en-US" sz="1300" dirty="0"/>
          </a:p>
          <a:p>
            <a:pPr marL="342900" indent="-342900">
              <a:spcAft>
                <a:spcPts val="300"/>
              </a:spcAft>
              <a:buSzPct val="100000"/>
              <a:buChar char="•"/>
            </a:pPr>
            <a:r>
              <a:rPr lang="en-US" sz="1300" dirty="0">
                <a:solidFill>
                  <a:schemeClr val="tx2"/>
                </a:solidFill>
              </a:rPr>
              <a:t>Policy and rate changes across states</a:t>
            </a:r>
            <a:endParaRPr lang="en-US" sz="1300" dirty="0"/>
          </a:p>
          <a:p>
            <a:pPr marL="342900" indent="-342900">
              <a:spcAft>
                <a:spcPts val="300"/>
              </a:spcAft>
              <a:buSzPct val="100000"/>
              <a:buChar char="•"/>
            </a:pPr>
            <a:r>
              <a:rPr lang="en-US" sz="1300" dirty="0">
                <a:solidFill>
                  <a:schemeClr val="tx2"/>
                </a:solidFill>
              </a:rPr>
              <a:t>Perception risk around worker data</a:t>
            </a:r>
            <a:endParaRPr lang="en-US" sz="1300" dirty="0"/>
          </a:p>
          <a:p>
            <a:pPr marL="342900" indent="-342900">
              <a:spcAft>
                <a:spcPts val="300"/>
              </a:spcAft>
              <a:buSzPct val="100000"/>
              <a:buChar char="•"/>
            </a:pPr>
            <a:r>
              <a:rPr lang="en-US" sz="1300" dirty="0">
                <a:solidFill>
                  <a:schemeClr val="tx2"/>
                </a:solidFill>
              </a:rPr>
              <a:t>Long government sales cycles</a:t>
            </a:r>
            <a:endParaRPr lang="en-US" sz="13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Land with the free core, expand with modules</a:t>
            </a:r>
            <a:endParaRPr lang="en-US" sz="3200" dirty="0"/>
          </a:p>
        </p:txBody>
      </p:sp>
      <p:sp>
        <p:nvSpPr>
          <p:cNvPr id="3" name="gtm-step-215"/>
          <p:cNvSpPr/>
          <p:nvPr/>
        </p:nvSpPr>
        <p:spPr>
          <a:xfrm>
            <a:off x="548640" y="1463040"/>
            <a:ext cx="3611880" cy="685800"/>
          </a:xfrm>
          <a:prstGeom prst="chevron">
            <a:avLst/>
          </a:prstGeom>
          <a:solidFill>
            <a:schemeClr val="accent3"/>
          </a:solidFill>
          <a:ln w="12700">
            <a:solidFill>
              <a:schemeClr val="bg1"/>
            </a:solidFill>
            <a:prstDash val="solid"/>
          </a:ln>
        </p:spPr>
      </p:sp>
      <p:sp>
        <p:nvSpPr>
          <p:cNvPr id="4" name="Text 2"/>
          <p:cNvSpPr txBox="1"/>
          <p:nvPr/>
        </p:nvSpPr>
        <p:spPr>
          <a:xfrm>
            <a:off x="960120" y="1463040"/>
            <a:ext cx="2743200" cy="685800"/>
          </a:xfrm>
          <a:prstGeom prst="rect">
            <a:avLst/>
          </a:prstGeom>
          <a:noFill/>
          <a:ln/>
        </p:spPr>
        <p:txBody>
          <a:bodyPr wrap="square" lIns="0" tIns="0" rIns="0" bIns="0" rtlCol="0" anchor="ctr"/>
          <a:lstStyle/>
          <a:p>
            <a:pPr indent="0" marL="0">
              <a:buNone/>
            </a:pPr>
            <a:r>
              <a:rPr lang="en-US" sz="1800" b="1" dirty="0">
                <a:solidFill>
                  <a:schemeClr val="bg1"/>
                </a:solidFill>
              </a:rPr>
              <a:t>Land</a:t>
            </a:r>
            <a:endParaRPr lang="en-US" sz="1800" dirty="0"/>
          </a:p>
        </p:txBody>
      </p:sp>
      <p:sp>
        <p:nvSpPr>
          <p:cNvPr id="5" name="Text 3"/>
          <p:cNvSpPr txBox="1"/>
          <p:nvPr/>
        </p:nvSpPr>
        <p:spPr>
          <a:xfrm>
            <a:off x="640080" y="2286000"/>
            <a:ext cx="3383280" cy="868680"/>
          </a:xfrm>
          <a:prstGeom prst="rect">
            <a:avLst/>
          </a:prstGeom>
          <a:noFill/>
          <a:ln/>
        </p:spPr>
        <p:txBody>
          <a:bodyPr wrap="square" lIns="0" tIns="0" rIns="0" bIns="0" rtlCol="0" anchor="t"/>
          <a:lstStyle/>
          <a:p>
            <a:pPr indent="0" marL="0">
              <a:buNone/>
            </a:pPr>
            <a:r>
              <a:rPr lang="en-US" sz="1300" dirty="0">
                <a:solidFill>
                  <a:schemeClr val="tx2"/>
                </a:solidFill>
              </a:rPr>
              <a:t>Free core with friendly employers and contractors; first verified binding and first auto-filed return</a:t>
            </a:r>
            <a:endParaRPr lang="en-US" sz="1300" dirty="0"/>
          </a:p>
        </p:txBody>
      </p:sp>
      <p:sp>
        <p:nvSpPr>
          <p:cNvPr id="6" name="gtm-step-216"/>
          <p:cNvSpPr/>
          <p:nvPr/>
        </p:nvSpPr>
        <p:spPr>
          <a:xfrm>
            <a:off x="4297680" y="1463040"/>
            <a:ext cx="3611880" cy="685800"/>
          </a:xfrm>
          <a:prstGeom prst="chevron">
            <a:avLst/>
          </a:prstGeom>
          <a:solidFill>
            <a:schemeClr val="accent2"/>
          </a:solidFill>
          <a:ln w="12700">
            <a:solidFill>
              <a:schemeClr val="bg1"/>
            </a:solidFill>
            <a:prstDash val="solid"/>
          </a:ln>
        </p:spPr>
      </p:sp>
      <p:sp>
        <p:nvSpPr>
          <p:cNvPr id="7" name="Text 5"/>
          <p:cNvSpPr txBox="1"/>
          <p:nvPr/>
        </p:nvSpPr>
        <p:spPr>
          <a:xfrm>
            <a:off x="4709160" y="1463040"/>
            <a:ext cx="2743200" cy="685800"/>
          </a:xfrm>
          <a:prstGeom prst="rect">
            <a:avLst/>
          </a:prstGeom>
          <a:noFill/>
          <a:ln/>
        </p:spPr>
        <p:txBody>
          <a:bodyPr wrap="square" lIns="0" tIns="0" rIns="0" bIns="0" rtlCol="0" anchor="ctr"/>
          <a:lstStyle/>
          <a:p>
            <a:pPr indent="0" marL="0">
              <a:buNone/>
            </a:pPr>
            <a:r>
              <a:rPr lang="en-US" sz="1800" b="1" dirty="0">
                <a:solidFill>
                  <a:schemeClr val="bg1"/>
                </a:solidFill>
              </a:rPr>
              <a:t>Expand</a:t>
            </a:r>
            <a:endParaRPr lang="en-US" sz="1800" dirty="0"/>
          </a:p>
        </p:txBody>
      </p:sp>
      <p:sp>
        <p:nvSpPr>
          <p:cNvPr id="8" name="Text 6"/>
          <p:cNvSpPr txBox="1"/>
          <p:nvPr/>
        </p:nvSpPr>
        <p:spPr>
          <a:xfrm>
            <a:off x="4389120" y="2286000"/>
            <a:ext cx="3383280" cy="868680"/>
          </a:xfrm>
          <a:prstGeom prst="rect">
            <a:avLst/>
          </a:prstGeom>
          <a:noFill/>
          <a:ln/>
        </p:spPr>
        <p:txBody>
          <a:bodyPr wrap="square" lIns="0" tIns="0" rIns="0" bIns="0" rtlCol="0" anchor="t"/>
          <a:lstStyle/>
          <a:p>
            <a:pPr indent="0" marL="0">
              <a:buNone/>
            </a:pPr>
            <a:r>
              <a:rPr lang="en-US" sz="1300" dirty="0">
                <a:solidFill>
                  <a:schemeClr val="tx2"/>
                </a:solidFill>
              </a:rPr>
              <a:t>Lead with compliance auto-pilot and Attendance Pro, the two modules that pay back fastest</a:t>
            </a:r>
            <a:endParaRPr lang="en-US" sz="1300" dirty="0"/>
          </a:p>
        </p:txBody>
      </p:sp>
      <p:sp>
        <p:nvSpPr>
          <p:cNvPr id="9" name="gtm-step-217"/>
          <p:cNvSpPr/>
          <p:nvPr/>
        </p:nvSpPr>
        <p:spPr>
          <a:xfrm>
            <a:off x="8046720" y="1463040"/>
            <a:ext cx="3611880" cy="685800"/>
          </a:xfrm>
          <a:prstGeom prst="chevron">
            <a:avLst/>
          </a:prstGeom>
          <a:solidFill>
            <a:schemeClr val="accent1"/>
          </a:solidFill>
          <a:ln w="12700">
            <a:solidFill>
              <a:schemeClr val="bg1"/>
            </a:solidFill>
            <a:prstDash val="solid"/>
          </a:ln>
        </p:spPr>
      </p:sp>
      <p:sp>
        <p:nvSpPr>
          <p:cNvPr id="10" name="Text 8"/>
          <p:cNvSpPr txBox="1"/>
          <p:nvPr/>
        </p:nvSpPr>
        <p:spPr>
          <a:xfrm>
            <a:off x="8458200" y="1463040"/>
            <a:ext cx="2743200" cy="685800"/>
          </a:xfrm>
          <a:prstGeom prst="rect">
            <a:avLst/>
          </a:prstGeom>
          <a:noFill/>
          <a:ln/>
        </p:spPr>
        <p:txBody>
          <a:bodyPr wrap="square" lIns="0" tIns="0" rIns="0" bIns="0" rtlCol="0" anchor="ctr"/>
          <a:lstStyle/>
          <a:p>
            <a:pPr indent="0" marL="0">
              <a:buNone/>
            </a:pPr>
            <a:r>
              <a:rPr lang="en-US" sz="1800" b="1" dirty="0">
                <a:solidFill>
                  <a:schemeClr val="bg1"/>
                </a:solidFill>
              </a:rPr>
              <a:t>Multiply</a:t>
            </a:r>
            <a:endParaRPr lang="en-US" sz="1800" dirty="0"/>
          </a:p>
        </p:txBody>
      </p:sp>
      <p:sp>
        <p:nvSpPr>
          <p:cNvPr id="11" name="Text 9"/>
          <p:cNvSpPr txBox="1"/>
          <p:nvPr/>
        </p:nvSpPr>
        <p:spPr>
          <a:xfrm>
            <a:off x="8138160" y="2286000"/>
            <a:ext cx="3383280" cy="868680"/>
          </a:xfrm>
          <a:prstGeom prst="rect">
            <a:avLst/>
          </a:prstGeom>
          <a:noFill/>
          <a:ln/>
        </p:spPr>
        <p:txBody>
          <a:bodyPr wrap="square" lIns="0" tIns="0" rIns="0" bIns="0" rtlCol="0" anchor="t"/>
          <a:lstStyle/>
          <a:p>
            <a:pPr indent="0" marL="0">
              <a:buNone/>
            </a:pPr>
            <a:r>
              <a:rPr lang="en-US" sz="1300" dirty="0">
                <a:solidFill>
                  <a:schemeClr val="tx2"/>
                </a:solidFill>
              </a:rPr>
              <a:t>Board editions for states, Verify API and marketplace take-rate without extra sales headcount</a:t>
            </a:r>
            <a:endParaRPr lang="en-US" sz="1300" dirty="0"/>
          </a:p>
        </p:txBody>
      </p:sp>
      <p:sp>
        <p:nvSpPr>
          <p:cNvPr id="12" name="Text 10"/>
          <p:cNvSpPr txBox="1"/>
          <p:nvPr/>
        </p:nvSpPr>
        <p:spPr>
          <a:xfrm>
            <a:off x="548640" y="3246120"/>
            <a:ext cx="11064240" cy="365760"/>
          </a:xfrm>
          <a:prstGeom prst="rect">
            <a:avLst/>
          </a:prstGeom>
          <a:noFill/>
          <a:ln/>
        </p:spPr>
        <p:txBody>
          <a:bodyPr wrap="square" lIns="0" tIns="0" rIns="0" bIns="0" rtlCol="0" anchor="t"/>
          <a:lstStyle/>
          <a:p>
            <a:pPr indent="0" marL="0">
              <a:buNone/>
            </a:pPr>
            <a:r>
              <a:rPr lang="en-US" sz="1300" b="1" dirty="0">
                <a:solidFill>
                  <a:schemeClr val="tx2"/>
                </a:solidFill>
              </a:rPr>
              <a:t>Channels: contractor associations · builders’ and employer bodies · insurance brokers · ERP and Tally resellers</a:t>
            </a:r>
            <a:endParaRPr lang="en-US" sz="1300" dirty="0"/>
          </a:p>
        </p:txBody>
      </p:sp>
      <p:sp>
        <p:nvSpPr>
          <p:cNvPr id="13" name="timeline"/>
          <p:cNvSpPr/>
          <p:nvPr/>
        </p:nvSpPr>
        <p:spPr>
          <a:xfrm>
            <a:off x="548640" y="4069080"/>
            <a:ext cx="11064240" cy="0"/>
          </a:xfrm>
          <a:prstGeom prst="line">
            <a:avLst/>
          </a:prstGeom>
          <a:noFill/>
          <a:ln w="19050">
            <a:solidFill>
              <a:schemeClr val="tx2"/>
            </a:solidFill>
            <a:prstDash val="solid"/>
          </a:ln>
        </p:spPr>
      </p:sp>
      <p:sp>
        <p:nvSpPr>
          <p:cNvPr id="14" name="milestone-218"/>
          <p:cNvSpPr/>
          <p:nvPr/>
        </p:nvSpPr>
        <p:spPr>
          <a:xfrm>
            <a:off x="548640" y="3931920"/>
            <a:ext cx="274320" cy="274320"/>
          </a:xfrm>
          <a:prstGeom prst="ellipse">
            <a:avLst/>
          </a:prstGeom>
          <a:solidFill>
            <a:schemeClr val="accent1"/>
          </a:solidFill>
          <a:ln w="25400">
            <a:solidFill>
              <a:schemeClr val="bg1"/>
            </a:solidFill>
            <a:prstDash val="solid"/>
          </a:ln>
        </p:spPr>
      </p:sp>
      <p:sp>
        <p:nvSpPr>
          <p:cNvPr id="15" name="Text 13"/>
          <p:cNvSpPr txBox="1"/>
          <p:nvPr/>
        </p:nvSpPr>
        <p:spPr>
          <a:xfrm>
            <a:off x="548640" y="4343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Q1  Foundations</a:t>
            </a:r>
            <a:endParaRPr lang="en-US" sz="1600" dirty="0"/>
          </a:p>
        </p:txBody>
      </p:sp>
      <p:sp>
        <p:nvSpPr>
          <p:cNvPr id="16" name="Text 14"/>
          <p:cNvSpPr txBox="1"/>
          <p:nvPr/>
        </p:nvSpPr>
        <p:spPr>
          <a:xfrm>
            <a:off x="548640" y="4709160"/>
            <a:ext cx="2606040" cy="1097280"/>
          </a:xfrm>
          <a:prstGeom prst="rect">
            <a:avLst/>
          </a:prstGeom>
          <a:noFill/>
          <a:ln/>
        </p:spPr>
        <p:txBody>
          <a:bodyPr wrap="square" lIns="0" tIns="0" rIns="0" bIns="0" rtlCol="0" anchor="t"/>
          <a:lstStyle/>
          <a:p>
            <a:pPr indent="0" marL="0">
              <a:buNone/>
            </a:pPr>
            <a:r>
              <a:rPr lang="en-US" sz="1200" dirty="0">
                <a:solidFill>
                  <a:schemeClr val="tx2"/>
                </a:solidFill>
              </a:rPr>
              <a:t>Billing &amp; entitlements, Attendance Pro, Compliance Auto-Pilot MVP, pilot cohort</a:t>
            </a:r>
            <a:endParaRPr lang="en-US" sz="1200" dirty="0"/>
          </a:p>
        </p:txBody>
      </p:sp>
      <p:sp>
        <p:nvSpPr>
          <p:cNvPr id="17" name="milestone-219"/>
          <p:cNvSpPr/>
          <p:nvPr/>
        </p:nvSpPr>
        <p:spPr>
          <a:xfrm>
            <a:off x="3383280" y="3931920"/>
            <a:ext cx="274320" cy="274320"/>
          </a:xfrm>
          <a:prstGeom prst="ellipse">
            <a:avLst/>
          </a:prstGeom>
          <a:solidFill>
            <a:schemeClr val="accent1"/>
          </a:solidFill>
          <a:ln w="25400">
            <a:solidFill>
              <a:schemeClr val="bg1"/>
            </a:solidFill>
            <a:prstDash val="solid"/>
          </a:ln>
        </p:spPr>
      </p:sp>
      <p:sp>
        <p:nvSpPr>
          <p:cNvPr id="18" name="Text 16"/>
          <p:cNvSpPr txBox="1"/>
          <p:nvPr/>
        </p:nvSpPr>
        <p:spPr>
          <a:xfrm>
            <a:off x="3383280" y="4343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Q2  Next phase</a:t>
            </a:r>
            <a:endParaRPr lang="en-US" sz="1600" dirty="0"/>
          </a:p>
        </p:txBody>
      </p:sp>
      <p:sp>
        <p:nvSpPr>
          <p:cNvPr id="19" name="Text 17"/>
          <p:cNvSpPr txBox="1"/>
          <p:nvPr/>
        </p:nvSpPr>
        <p:spPr>
          <a:xfrm>
            <a:off x="3383280" y="4709160"/>
            <a:ext cx="2606040" cy="1097280"/>
          </a:xfrm>
          <a:prstGeom prst="rect">
            <a:avLst/>
          </a:prstGeom>
          <a:noFill/>
          <a:ln/>
        </p:spPr>
        <p:txBody>
          <a:bodyPr wrap="square" lIns="0" tIns="0" rIns="0" bIns="0" rtlCol="0" anchor="t"/>
          <a:lstStyle/>
          <a:p>
            <a:pPr indent="0" marL="0">
              <a:buNone/>
            </a:pPr>
            <a:r>
              <a:rPr lang="en-US" sz="1200" dirty="0">
                <a:solidFill>
                  <a:schemeClr val="tx2"/>
                </a:solidFill>
              </a:rPr>
              <a:t>Rozgar, Upskill and Payroll (to be disclosed), contractor diligence, Verify API beta</a:t>
            </a:r>
            <a:endParaRPr lang="en-US" sz="1200" dirty="0"/>
          </a:p>
        </p:txBody>
      </p:sp>
      <p:sp>
        <p:nvSpPr>
          <p:cNvPr id="20" name="milestone-220"/>
          <p:cNvSpPr/>
          <p:nvPr/>
        </p:nvSpPr>
        <p:spPr>
          <a:xfrm>
            <a:off x="6217920" y="3931920"/>
            <a:ext cx="274320" cy="274320"/>
          </a:xfrm>
          <a:prstGeom prst="ellipse">
            <a:avLst/>
          </a:prstGeom>
          <a:solidFill>
            <a:schemeClr val="accent1"/>
          </a:solidFill>
          <a:ln w="25400">
            <a:solidFill>
              <a:schemeClr val="bg1"/>
            </a:solidFill>
            <a:prstDash val="solid"/>
          </a:ln>
        </p:spPr>
      </p:sp>
      <p:sp>
        <p:nvSpPr>
          <p:cNvPr id="21" name="Text 19"/>
          <p:cNvSpPr txBox="1"/>
          <p:nvPr/>
        </p:nvSpPr>
        <p:spPr>
          <a:xfrm>
            <a:off x="6217920" y="4343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Q3  Safety &amp; welfare</a:t>
            </a:r>
            <a:endParaRPr lang="en-US" sz="1600" dirty="0"/>
          </a:p>
        </p:txBody>
      </p:sp>
      <p:sp>
        <p:nvSpPr>
          <p:cNvPr id="22" name="Text 20"/>
          <p:cNvSpPr txBox="1"/>
          <p:nvPr/>
        </p:nvSpPr>
        <p:spPr>
          <a:xfrm>
            <a:off x="6217920" y="4709160"/>
            <a:ext cx="2606040" cy="1097280"/>
          </a:xfrm>
          <a:prstGeom prst="rect">
            <a:avLst/>
          </a:prstGeom>
          <a:noFill/>
          <a:ln/>
        </p:spPr>
        <p:txBody>
          <a:bodyPr wrap="square" lIns="0" tIns="0" rIns="0" bIns="0" rtlCol="0" anchor="t"/>
          <a:lstStyle/>
          <a:p>
            <a:pPr indent="0" marL="0">
              <a:buNone/>
            </a:pPr>
            <a:r>
              <a:rPr lang="en-US" sz="1200" dirty="0">
                <a:solidFill>
                  <a:schemeClr val="tx2"/>
                </a:solidFill>
              </a:rPr>
              <a:t>Safety academy, site access pro, insurance desk with a broker partner</a:t>
            </a:r>
            <a:endParaRPr lang="en-US" sz="1200" dirty="0"/>
          </a:p>
        </p:txBody>
      </p:sp>
      <p:sp>
        <p:nvSpPr>
          <p:cNvPr id="23" name="milestone-221"/>
          <p:cNvSpPr/>
          <p:nvPr/>
        </p:nvSpPr>
        <p:spPr>
          <a:xfrm>
            <a:off x="9052560" y="3931920"/>
            <a:ext cx="274320" cy="274320"/>
          </a:xfrm>
          <a:prstGeom prst="ellipse">
            <a:avLst/>
          </a:prstGeom>
          <a:solidFill>
            <a:schemeClr val="accent1"/>
          </a:solidFill>
          <a:ln w="25400">
            <a:solidFill>
              <a:schemeClr val="bg1"/>
            </a:solidFill>
            <a:prstDash val="solid"/>
          </a:ln>
        </p:spPr>
      </p:sp>
      <p:sp>
        <p:nvSpPr>
          <p:cNvPr id="24" name="Text 22"/>
          <p:cNvSpPr txBox="1"/>
          <p:nvPr/>
        </p:nvSpPr>
        <p:spPr>
          <a:xfrm>
            <a:off x="9052560" y="4343400"/>
            <a:ext cx="2651760" cy="365760"/>
          </a:xfrm>
          <a:prstGeom prst="rect">
            <a:avLst/>
          </a:prstGeom>
          <a:noFill/>
          <a:ln/>
        </p:spPr>
        <p:txBody>
          <a:bodyPr wrap="square" lIns="0" tIns="0" rIns="0" bIns="0" rtlCol="0" anchor="t"/>
          <a:lstStyle/>
          <a:p>
            <a:pPr indent="0" marL="0">
              <a:buNone/>
            </a:pPr>
            <a:r>
              <a:rPr lang="en-US" sz="1600" b="1" dirty="0">
                <a:solidFill>
                  <a:schemeClr val="tx1"/>
                </a:solidFill>
              </a:rPr>
              <a:t>Q4  Strategic layer</a:t>
            </a:r>
            <a:endParaRPr lang="en-US" sz="1600" dirty="0"/>
          </a:p>
        </p:txBody>
      </p:sp>
      <p:sp>
        <p:nvSpPr>
          <p:cNvPr id="25" name="Text 23"/>
          <p:cNvSpPr txBox="1"/>
          <p:nvPr/>
        </p:nvSpPr>
        <p:spPr>
          <a:xfrm>
            <a:off x="9052560" y="4709160"/>
            <a:ext cx="2606040" cy="1097280"/>
          </a:xfrm>
          <a:prstGeom prst="rect">
            <a:avLst/>
          </a:prstGeom>
          <a:noFill/>
          <a:ln/>
        </p:spPr>
        <p:txBody>
          <a:bodyPr wrap="square" lIns="0" tIns="0" rIns="0" bIns="0" rtlCol="0" anchor="t"/>
          <a:lstStyle/>
          <a:p>
            <a:pPr indent="0" marL="0">
              <a:buNone/>
            </a:pPr>
            <a:r>
              <a:rPr lang="en-US" sz="1200" dirty="0">
                <a:solidFill>
                  <a:schemeClr val="tx2"/>
                </a:solidFill>
              </a:rPr>
              <a:t>Labour intelligence, marketplace pro, integration hub, state board edition</a:t>
            </a:r>
            <a:endParaRPr lang="en-US" sz="12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bg1"/>
                </a:solidFill>
              </a:rPr>
              <a:t>Built today and early traction</a:t>
            </a:r>
            <a:endParaRPr lang="en-US" sz="3200" dirty="0"/>
          </a:p>
        </p:txBody>
      </p:sp>
      <p:sp>
        <p:nvSpPr>
          <p:cNvPr id="3" name="Text 1"/>
          <p:cNvSpPr txBox="1"/>
          <p:nvPr/>
        </p:nvSpPr>
        <p:spPr>
          <a:xfrm>
            <a:off x="548640" y="1463040"/>
            <a:ext cx="1188720" cy="731520"/>
          </a:xfrm>
          <a:prstGeom prst="rect">
            <a:avLst/>
          </a:prstGeom>
          <a:noFill/>
          <a:ln/>
        </p:spPr>
        <p:txBody>
          <a:bodyPr wrap="square" lIns="0" tIns="0" rIns="0" bIns="0" rtlCol="0" anchor="t"/>
          <a:lstStyle/>
          <a:p>
            <a:pPr indent="0" marL="0">
              <a:buNone/>
            </a:pPr>
            <a:r>
              <a:rPr lang="en-US" sz="4000" b="1" dirty="0">
                <a:solidFill>
                  <a:schemeClr val="accent1"/>
                </a:solidFill>
              </a:rPr>
              <a:t>6</a:t>
            </a:r>
            <a:endParaRPr lang="en-US" sz="4000" dirty="0"/>
          </a:p>
        </p:txBody>
      </p:sp>
      <p:sp>
        <p:nvSpPr>
          <p:cNvPr id="4" name="Text 2"/>
          <p:cNvSpPr txBox="1"/>
          <p:nvPr/>
        </p:nvSpPr>
        <p:spPr>
          <a:xfrm>
            <a:off x="1828800" y="1572768"/>
            <a:ext cx="3566160" cy="731520"/>
          </a:xfrm>
          <a:prstGeom prst="rect">
            <a:avLst/>
          </a:prstGeom>
          <a:noFill/>
          <a:ln/>
        </p:spPr>
        <p:txBody>
          <a:bodyPr wrap="square" lIns="0" tIns="0" rIns="0" bIns="0" rtlCol="0" anchor="t"/>
          <a:lstStyle/>
          <a:p>
            <a:pPr indent="0" marL="0">
              <a:buNone/>
            </a:pPr>
            <a:r>
              <a:rPr lang="en-US" sz="1500" dirty="0">
                <a:solidFill>
                  <a:schemeClr val="bg2"/>
                </a:solidFill>
              </a:rPr>
              <a:t>role portals: worker, contractor, employer, government, staff, help desk</a:t>
            </a:r>
            <a:endParaRPr lang="en-US" sz="1500" dirty="0"/>
          </a:p>
        </p:txBody>
      </p:sp>
      <p:sp>
        <p:nvSpPr>
          <p:cNvPr id="5" name="Text 3"/>
          <p:cNvSpPr txBox="1"/>
          <p:nvPr/>
        </p:nvSpPr>
        <p:spPr>
          <a:xfrm>
            <a:off x="548640" y="2560320"/>
            <a:ext cx="1188720" cy="731520"/>
          </a:xfrm>
          <a:prstGeom prst="rect">
            <a:avLst/>
          </a:prstGeom>
          <a:noFill/>
          <a:ln/>
        </p:spPr>
        <p:txBody>
          <a:bodyPr wrap="square" lIns="0" tIns="0" rIns="0" bIns="0" rtlCol="0" anchor="t"/>
          <a:lstStyle/>
          <a:p>
            <a:pPr indent="0" marL="0">
              <a:buNone/>
            </a:pPr>
            <a:r>
              <a:rPr lang="en-US" sz="4000" b="1" dirty="0">
                <a:solidFill>
                  <a:schemeClr val="accent5"/>
                </a:solidFill>
              </a:rPr>
              <a:t>11</a:t>
            </a:r>
            <a:endParaRPr lang="en-US" sz="4000" dirty="0"/>
          </a:p>
        </p:txBody>
      </p:sp>
      <p:sp>
        <p:nvSpPr>
          <p:cNvPr id="6" name="Text 4"/>
          <p:cNvSpPr txBox="1"/>
          <p:nvPr/>
        </p:nvSpPr>
        <p:spPr>
          <a:xfrm>
            <a:off x="1828800" y="2670048"/>
            <a:ext cx="3566160" cy="731520"/>
          </a:xfrm>
          <a:prstGeom prst="rect">
            <a:avLst/>
          </a:prstGeom>
          <a:noFill/>
          <a:ln/>
        </p:spPr>
        <p:txBody>
          <a:bodyPr wrap="square" lIns="0" tIns="0" rIns="0" bIns="0" rtlCol="0" anchor="t"/>
          <a:lstStyle/>
          <a:p>
            <a:pPr indent="0" marL="0">
              <a:buNone/>
            </a:pPr>
            <a:r>
              <a:rPr lang="en-US" sz="1500" dirty="0">
                <a:solidFill>
                  <a:schemeClr val="bg2"/>
                </a:solidFill>
              </a:rPr>
              <a:t>product modules from QR binding to grievances</a:t>
            </a:r>
            <a:endParaRPr lang="en-US" sz="1500" dirty="0"/>
          </a:p>
        </p:txBody>
      </p:sp>
      <p:sp>
        <p:nvSpPr>
          <p:cNvPr id="7" name="Text 5"/>
          <p:cNvSpPr txBox="1"/>
          <p:nvPr/>
        </p:nvSpPr>
        <p:spPr>
          <a:xfrm>
            <a:off x="548640" y="3657600"/>
            <a:ext cx="1188720" cy="731520"/>
          </a:xfrm>
          <a:prstGeom prst="rect">
            <a:avLst/>
          </a:prstGeom>
          <a:noFill/>
          <a:ln/>
        </p:spPr>
        <p:txBody>
          <a:bodyPr wrap="square" lIns="0" tIns="0" rIns="0" bIns="0" rtlCol="0" anchor="t"/>
          <a:lstStyle/>
          <a:p>
            <a:pPr indent="0" marL="0">
              <a:buNone/>
            </a:pPr>
            <a:r>
              <a:rPr lang="en-US" sz="4000" b="1" dirty="0">
                <a:solidFill>
                  <a:schemeClr val="accent6"/>
                </a:solidFill>
              </a:rPr>
              <a:t>36</a:t>
            </a:r>
            <a:endParaRPr lang="en-US" sz="4000" dirty="0"/>
          </a:p>
        </p:txBody>
      </p:sp>
      <p:sp>
        <p:nvSpPr>
          <p:cNvPr id="8" name="Text 6"/>
          <p:cNvSpPr txBox="1"/>
          <p:nvPr/>
        </p:nvSpPr>
        <p:spPr>
          <a:xfrm>
            <a:off x="1828800" y="3767328"/>
            <a:ext cx="3566160" cy="731520"/>
          </a:xfrm>
          <a:prstGeom prst="rect">
            <a:avLst/>
          </a:prstGeom>
          <a:noFill/>
          <a:ln/>
        </p:spPr>
        <p:txBody>
          <a:bodyPr wrap="square" lIns="0" tIns="0" rIns="0" bIns="0" rtlCol="0" anchor="t"/>
          <a:lstStyle/>
          <a:p>
            <a:pPr indent="0" marL="0">
              <a:buNone/>
            </a:pPr>
            <a:r>
              <a:rPr lang="en-US" sz="1500" dirty="0">
                <a:solidFill>
                  <a:schemeClr val="bg2"/>
                </a:solidFill>
              </a:rPr>
              <a:t>state and UT rule layers in the compliance architecture</a:t>
            </a:r>
            <a:endParaRPr lang="en-US" sz="1500" dirty="0"/>
          </a:p>
        </p:txBody>
      </p:sp>
      <p:sp>
        <p:nvSpPr>
          <p:cNvPr id="9" name="Text 7"/>
          <p:cNvSpPr txBox="1"/>
          <p:nvPr/>
        </p:nvSpPr>
        <p:spPr>
          <a:xfrm>
            <a:off x="548640" y="4754880"/>
            <a:ext cx="1188720" cy="731520"/>
          </a:xfrm>
          <a:prstGeom prst="rect">
            <a:avLst/>
          </a:prstGeom>
          <a:noFill/>
          <a:ln/>
        </p:spPr>
        <p:txBody>
          <a:bodyPr wrap="square" lIns="0" tIns="0" rIns="0" bIns="0" rtlCol="0" anchor="t"/>
          <a:lstStyle/>
          <a:p>
            <a:pPr indent="0" marL="0">
              <a:buNone/>
            </a:pPr>
            <a:r>
              <a:rPr lang="en-US" sz="4000" b="1" dirty="0">
                <a:solidFill>
                  <a:schemeClr val="bg1"/>
                </a:solidFill>
              </a:rPr>
              <a:t>16</a:t>
            </a:r>
            <a:endParaRPr lang="en-US" sz="4000" dirty="0"/>
          </a:p>
        </p:txBody>
      </p:sp>
      <p:sp>
        <p:nvSpPr>
          <p:cNvPr id="10" name="Text 8"/>
          <p:cNvSpPr txBox="1"/>
          <p:nvPr/>
        </p:nvSpPr>
        <p:spPr>
          <a:xfrm>
            <a:off x="1828800" y="4864608"/>
            <a:ext cx="3566160" cy="731520"/>
          </a:xfrm>
          <a:prstGeom prst="rect">
            <a:avLst/>
          </a:prstGeom>
          <a:noFill/>
          <a:ln/>
        </p:spPr>
        <p:txBody>
          <a:bodyPr wrap="square" lIns="0" tIns="0" rIns="0" bIns="0" rtlCol="0" anchor="t"/>
          <a:lstStyle/>
          <a:p>
            <a:pPr indent="0" marL="0">
              <a:buNone/>
            </a:pPr>
            <a:r>
              <a:rPr lang="en-US" sz="1500" dirty="0">
                <a:solidFill>
                  <a:schemeClr val="bg2"/>
                </a:solidFill>
              </a:rPr>
              <a:t>Indian languages with a voice guide: our USP</a:t>
            </a:r>
            <a:endParaRPr lang="en-US" sz="1500" dirty="0"/>
          </a:p>
        </p:txBody>
      </p:sp>
      <p:sp>
        <p:nvSpPr>
          <p:cNvPr id="11" name="placeholder-222"/>
          <p:cNvSpPr/>
          <p:nvPr/>
        </p:nvSpPr>
        <p:spPr>
          <a:xfrm>
            <a:off x="5760720" y="1463040"/>
            <a:ext cx="2834640" cy="1005840"/>
          </a:xfrm>
          <a:prstGeom prst="roundRect">
            <a:avLst>
              <a:gd name="adj" fmla="val 9091"/>
            </a:avLst>
          </a:prstGeom>
          <a:solidFill>
            <a:schemeClr val="tx2"/>
          </a:solidFill>
          <a:ln w="12700">
            <a:solidFill>
              <a:schemeClr val="accent6"/>
            </a:solidFill>
            <a:prstDash val="dash"/>
          </a:ln>
        </p:spPr>
      </p:sp>
      <p:sp>
        <p:nvSpPr>
          <p:cNvPr id="12" name="Text 10"/>
          <p:cNvSpPr txBox="1"/>
          <p:nvPr/>
        </p:nvSpPr>
        <p:spPr>
          <a:xfrm>
            <a:off x="5897880" y="1463040"/>
            <a:ext cx="2560320" cy="1005840"/>
          </a:xfrm>
          <a:prstGeom prst="rect">
            <a:avLst/>
          </a:prstGeom>
          <a:noFill/>
          <a:ln/>
        </p:spPr>
        <p:txBody>
          <a:bodyPr wrap="square" lIns="0" tIns="0" rIns="0" bIns="0" rtlCol="0" anchor="ctr"/>
          <a:lstStyle/>
          <a:p>
            <a:pPr algn="ctr" indent="0" marL="0">
              <a:buNone/>
            </a:pPr>
            <a:r>
              <a:rPr lang="en-US" sz="1500" b="1" i="1" dirty="0">
                <a:solidFill>
                  <a:schemeClr val="accent6"/>
                </a:solidFill>
              </a:rPr>
              <a:t>[Sites live]</a:t>
            </a:r>
            <a:endParaRPr lang="en-US" sz="1500" dirty="0"/>
          </a:p>
        </p:txBody>
      </p:sp>
      <p:sp>
        <p:nvSpPr>
          <p:cNvPr id="13" name="placeholder-223"/>
          <p:cNvSpPr/>
          <p:nvPr/>
        </p:nvSpPr>
        <p:spPr>
          <a:xfrm>
            <a:off x="8732520" y="1463040"/>
            <a:ext cx="2834640" cy="1005840"/>
          </a:xfrm>
          <a:prstGeom prst="roundRect">
            <a:avLst>
              <a:gd name="adj" fmla="val 9091"/>
            </a:avLst>
          </a:prstGeom>
          <a:solidFill>
            <a:schemeClr val="tx2"/>
          </a:solidFill>
          <a:ln w="12700">
            <a:solidFill>
              <a:schemeClr val="accent6"/>
            </a:solidFill>
            <a:prstDash val="dash"/>
          </a:ln>
        </p:spPr>
      </p:sp>
      <p:sp>
        <p:nvSpPr>
          <p:cNvPr id="14" name="Text 12"/>
          <p:cNvSpPr txBox="1"/>
          <p:nvPr/>
        </p:nvSpPr>
        <p:spPr>
          <a:xfrm>
            <a:off x="8869680" y="1463040"/>
            <a:ext cx="2560320" cy="1005840"/>
          </a:xfrm>
          <a:prstGeom prst="rect">
            <a:avLst/>
          </a:prstGeom>
          <a:noFill/>
          <a:ln/>
        </p:spPr>
        <p:txBody>
          <a:bodyPr wrap="square" lIns="0" tIns="0" rIns="0" bIns="0" rtlCol="0" anchor="ctr"/>
          <a:lstStyle/>
          <a:p>
            <a:pPr algn="ctr" indent="0" marL="0">
              <a:buNone/>
            </a:pPr>
            <a:r>
              <a:rPr lang="en-US" sz="1500" b="1" i="1" dirty="0">
                <a:solidFill>
                  <a:schemeClr val="accent6"/>
                </a:solidFill>
              </a:rPr>
              <a:t>[Workers bound]</a:t>
            </a:r>
            <a:endParaRPr lang="en-US" sz="1500" dirty="0"/>
          </a:p>
        </p:txBody>
      </p:sp>
      <p:sp>
        <p:nvSpPr>
          <p:cNvPr id="15" name="placeholder-224"/>
          <p:cNvSpPr/>
          <p:nvPr/>
        </p:nvSpPr>
        <p:spPr>
          <a:xfrm>
            <a:off x="5760720" y="2606040"/>
            <a:ext cx="2834640" cy="1005840"/>
          </a:xfrm>
          <a:prstGeom prst="roundRect">
            <a:avLst>
              <a:gd name="adj" fmla="val 9091"/>
            </a:avLst>
          </a:prstGeom>
          <a:solidFill>
            <a:schemeClr val="tx2"/>
          </a:solidFill>
          <a:ln w="12700">
            <a:solidFill>
              <a:schemeClr val="accent6"/>
            </a:solidFill>
            <a:prstDash val="dash"/>
          </a:ln>
        </p:spPr>
      </p:sp>
      <p:sp>
        <p:nvSpPr>
          <p:cNvPr id="16" name="Text 14"/>
          <p:cNvSpPr txBox="1"/>
          <p:nvPr/>
        </p:nvSpPr>
        <p:spPr>
          <a:xfrm>
            <a:off x="5897880" y="2606040"/>
            <a:ext cx="2560320" cy="1005840"/>
          </a:xfrm>
          <a:prstGeom prst="rect">
            <a:avLst/>
          </a:prstGeom>
          <a:noFill/>
          <a:ln/>
        </p:spPr>
        <p:txBody>
          <a:bodyPr wrap="square" lIns="0" tIns="0" rIns="0" bIns="0" rtlCol="0" anchor="ctr"/>
          <a:lstStyle/>
          <a:p>
            <a:pPr algn="ctr" indent="0" marL="0">
              <a:buNone/>
            </a:pPr>
            <a:r>
              <a:rPr lang="en-US" sz="1500" b="1" i="1" dirty="0">
                <a:solidFill>
                  <a:schemeClr val="accent6"/>
                </a:solidFill>
              </a:rPr>
              <a:t>[Pilot customers]</a:t>
            </a:r>
            <a:endParaRPr lang="en-US" sz="1500" dirty="0"/>
          </a:p>
        </p:txBody>
      </p:sp>
      <p:sp>
        <p:nvSpPr>
          <p:cNvPr id="17" name="placeholder-225"/>
          <p:cNvSpPr/>
          <p:nvPr/>
        </p:nvSpPr>
        <p:spPr>
          <a:xfrm>
            <a:off x="8732520" y="2606040"/>
            <a:ext cx="2834640" cy="1005840"/>
          </a:xfrm>
          <a:prstGeom prst="roundRect">
            <a:avLst>
              <a:gd name="adj" fmla="val 9091"/>
            </a:avLst>
          </a:prstGeom>
          <a:solidFill>
            <a:schemeClr val="tx2"/>
          </a:solidFill>
          <a:ln w="12700">
            <a:solidFill>
              <a:schemeClr val="accent6"/>
            </a:solidFill>
            <a:prstDash val="dash"/>
          </a:ln>
        </p:spPr>
      </p:sp>
      <p:sp>
        <p:nvSpPr>
          <p:cNvPr id="18" name="Text 16"/>
          <p:cNvSpPr txBox="1"/>
          <p:nvPr/>
        </p:nvSpPr>
        <p:spPr>
          <a:xfrm>
            <a:off x="8869680" y="2606040"/>
            <a:ext cx="2560320" cy="1005840"/>
          </a:xfrm>
          <a:prstGeom prst="rect">
            <a:avLst/>
          </a:prstGeom>
          <a:noFill/>
          <a:ln/>
        </p:spPr>
        <p:txBody>
          <a:bodyPr wrap="square" lIns="0" tIns="0" rIns="0" bIns="0" rtlCol="0" anchor="ctr"/>
          <a:lstStyle/>
          <a:p>
            <a:pPr algn="ctr" indent="0" marL="0">
              <a:buNone/>
            </a:pPr>
            <a:r>
              <a:rPr lang="en-US" sz="1500" b="1" i="1" dirty="0">
                <a:solidFill>
                  <a:schemeClr val="accent6"/>
                </a:solidFill>
              </a:rPr>
              <a:t>[LOIs / MoUs signed]</a:t>
            </a:r>
            <a:endParaRPr lang="en-US" sz="1500" dirty="0"/>
          </a:p>
        </p:txBody>
      </p:sp>
      <p:sp>
        <p:nvSpPr>
          <p:cNvPr id="19" name="placeholder-226"/>
          <p:cNvSpPr/>
          <p:nvPr/>
        </p:nvSpPr>
        <p:spPr>
          <a:xfrm>
            <a:off x="5760720" y="3840480"/>
            <a:ext cx="5806440" cy="1097280"/>
          </a:xfrm>
          <a:prstGeom prst="roundRect">
            <a:avLst>
              <a:gd name="adj" fmla="val 8333"/>
            </a:avLst>
          </a:prstGeom>
          <a:solidFill>
            <a:schemeClr val="tx2"/>
          </a:solidFill>
          <a:ln w="12700">
            <a:solidFill>
              <a:schemeClr val="accent6"/>
            </a:solidFill>
            <a:prstDash val="dash"/>
          </a:ln>
        </p:spPr>
      </p:sp>
      <p:sp>
        <p:nvSpPr>
          <p:cNvPr id="20" name="Text 18"/>
          <p:cNvSpPr txBox="1"/>
          <p:nvPr/>
        </p:nvSpPr>
        <p:spPr>
          <a:xfrm>
            <a:off x="5897880" y="3840480"/>
            <a:ext cx="5532120" cy="1097280"/>
          </a:xfrm>
          <a:prstGeom prst="rect">
            <a:avLst/>
          </a:prstGeom>
          <a:noFill/>
          <a:ln/>
        </p:spPr>
        <p:txBody>
          <a:bodyPr wrap="square" lIns="0" tIns="0" rIns="0" bIns="0" rtlCol="0" anchor="ctr"/>
          <a:lstStyle/>
          <a:p>
            <a:pPr algn="ctr" indent="0" marL="0">
              <a:buNone/>
            </a:pPr>
            <a:r>
              <a:rPr lang="en-US" sz="1400" i="1" dirty="0">
                <a:solidFill>
                  <a:schemeClr val="accent6"/>
                </a:solidFill>
              </a:rPr>
              <a:t>“[Client testimonial quote]”  —  [Name, designation, company]</a:t>
            </a:r>
            <a:endParaRPr lang="en-US" sz="1400" dirty="0"/>
          </a:p>
        </p:txBody>
      </p:sp>
      <p:sp>
        <p:nvSpPr>
          <p:cNvPr id="21" name="placeholder-227"/>
          <p:cNvSpPr/>
          <p:nvPr/>
        </p:nvSpPr>
        <p:spPr>
          <a:xfrm>
            <a:off x="5760720" y="5120640"/>
            <a:ext cx="1371600" cy="685800"/>
          </a:xfrm>
          <a:prstGeom prst="roundRect">
            <a:avLst>
              <a:gd name="adj" fmla="val 13333"/>
            </a:avLst>
          </a:prstGeom>
          <a:solidFill>
            <a:schemeClr val="tx2"/>
          </a:solidFill>
          <a:ln w="12700">
            <a:solidFill>
              <a:schemeClr val="accent6"/>
            </a:solidFill>
            <a:prstDash val="dash"/>
          </a:ln>
        </p:spPr>
      </p:sp>
      <p:sp>
        <p:nvSpPr>
          <p:cNvPr id="22" name="Text 20"/>
          <p:cNvSpPr txBox="1"/>
          <p:nvPr/>
        </p:nvSpPr>
        <p:spPr>
          <a:xfrm>
            <a:off x="5897880" y="5120640"/>
            <a:ext cx="1097280" cy="685800"/>
          </a:xfrm>
          <a:prstGeom prst="rect">
            <a:avLst/>
          </a:prstGeom>
          <a:noFill/>
          <a:ln/>
        </p:spPr>
        <p:txBody>
          <a:bodyPr wrap="square" lIns="0" tIns="0" rIns="0" bIns="0" rtlCol="0" anchor="ctr"/>
          <a:lstStyle/>
          <a:p>
            <a:pPr algn="ctr" indent="0" marL="0">
              <a:buNone/>
            </a:pPr>
            <a:r>
              <a:rPr lang="en-US" sz="1100" i="1" dirty="0">
                <a:solidFill>
                  <a:schemeClr val="accent6"/>
                </a:solidFill>
              </a:rPr>
              <a:t>[Client logo]</a:t>
            </a:r>
            <a:endParaRPr lang="en-US" sz="1100" dirty="0"/>
          </a:p>
        </p:txBody>
      </p:sp>
      <p:sp>
        <p:nvSpPr>
          <p:cNvPr id="23" name="placeholder-228"/>
          <p:cNvSpPr/>
          <p:nvPr/>
        </p:nvSpPr>
        <p:spPr>
          <a:xfrm>
            <a:off x="7242048" y="5120640"/>
            <a:ext cx="1371600" cy="685800"/>
          </a:xfrm>
          <a:prstGeom prst="roundRect">
            <a:avLst>
              <a:gd name="adj" fmla="val 13333"/>
            </a:avLst>
          </a:prstGeom>
          <a:solidFill>
            <a:schemeClr val="tx2"/>
          </a:solidFill>
          <a:ln w="12700">
            <a:solidFill>
              <a:schemeClr val="accent6"/>
            </a:solidFill>
            <a:prstDash val="dash"/>
          </a:ln>
        </p:spPr>
      </p:sp>
      <p:sp>
        <p:nvSpPr>
          <p:cNvPr id="24" name="Text 22"/>
          <p:cNvSpPr txBox="1"/>
          <p:nvPr/>
        </p:nvSpPr>
        <p:spPr>
          <a:xfrm>
            <a:off x="7379208" y="5120640"/>
            <a:ext cx="1097280" cy="685800"/>
          </a:xfrm>
          <a:prstGeom prst="rect">
            <a:avLst/>
          </a:prstGeom>
          <a:noFill/>
          <a:ln/>
        </p:spPr>
        <p:txBody>
          <a:bodyPr wrap="square" lIns="0" tIns="0" rIns="0" bIns="0" rtlCol="0" anchor="ctr"/>
          <a:lstStyle/>
          <a:p>
            <a:pPr algn="ctr" indent="0" marL="0">
              <a:buNone/>
            </a:pPr>
            <a:r>
              <a:rPr lang="en-US" sz="1100" i="1" dirty="0">
                <a:solidFill>
                  <a:schemeClr val="accent6"/>
                </a:solidFill>
              </a:rPr>
              <a:t>[Client logo]</a:t>
            </a:r>
            <a:endParaRPr lang="en-US" sz="1100" dirty="0"/>
          </a:p>
        </p:txBody>
      </p:sp>
      <p:sp>
        <p:nvSpPr>
          <p:cNvPr id="25" name="placeholder-229"/>
          <p:cNvSpPr/>
          <p:nvPr/>
        </p:nvSpPr>
        <p:spPr>
          <a:xfrm>
            <a:off x="8723376" y="5120640"/>
            <a:ext cx="1371600" cy="685800"/>
          </a:xfrm>
          <a:prstGeom prst="roundRect">
            <a:avLst>
              <a:gd name="adj" fmla="val 13333"/>
            </a:avLst>
          </a:prstGeom>
          <a:solidFill>
            <a:schemeClr val="tx2"/>
          </a:solidFill>
          <a:ln w="12700">
            <a:solidFill>
              <a:schemeClr val="accent6"/>
            </a:solidFill>
            <a:prstDash val="dash"/>
          </a:ln>
        </p:spPr>
      </p:sp>
      <p:sp>
        <p:nvSpPr>
          <p:cNvPr id="26" name="Text 24"/>
          <p:cNvSpPr txBox="1"/>
          <p:nvPr/>
        </p:nvSpPr>
        <p:spPr>
          <a:xfrm>
            <a:off x="8860536" y="5120640"/>
            <a:ext cx="1097280" cy="685800"/>
          </a:xfrm>
          <a:prstGeom prst="rect">
            <a:avLst/>
          </a:prstGeom>
          <a:noFill/>
          <a:ln/>
        </p:spPr>
        <p:txBody>
          <a:bodyPr wrap="square" lIns="0" tIns="0" rIns="0" bIns="0" rtlCol="0" anchor="ctr"/>
          <a:lstStyle/>
          <a:p>
            <a:pPr algn="ctr" indent="0" marL="0">
              <a:buNone/>
            </a:pPr>
            <a:r>
              <a:rPr lang="en-US" sz="1100" i="1" dirty="0">
                <a:solidFill>
                  <a:schemeClr val="accent6"/>
                </a:solidFill>
              </a:rPr>
              <a:t>[Client logo]</a:t>
            </a:r>
            <a:endParaRPr lang="en-US" sz="1100" dirty="0"/>
          </a:p>
        </p:txBody>
      </p:sp>
      <p:sp>
        <p:nvSpPr>
          <p:cNvPr id="27" name="placeholder-230"/>
          <p:cNvSpPr/>
          <p:nvPr/>
        </p:nvSpPr>
        <p:spPr>
          <a:xfrm>
            <a:off x="10204704" y="5120640"/>
            <a:ext cx="1371600" cy="685800"/>
          </a:xfrm>
          <a:prstGeom prst="roundRect">
            <a:avLst>
              <a:gd name="adj" fmla="val 13333"/>
            </a:avLst>
          </a:prstGeom>
          <a:solidFill>
            <a:schemeClr val="tx2"/>
          </a:solidFill>
          <a:ln w="12700">
            <a:solidFill>
              <a:schemeClr val="accent6"/>
            </a:solidFill>
            <a:prstDash val="dash"/>
          </a:ln>
        </p:spPr>
      </p:sp>
      <p:sp>
        <p:nvSpPr>
          <p:cNvPr id="28" name="Text 26"/>
          <p:cNvSpPr txBox="1"/>
          <p:nvPr/>
        </p:nvSpPr>
        <p:spPr>
          <a:xfrm>
            <a:off x="10341864" y="5120640"/>
            <a:ext cx="1097280" cy="685800"/>
          </a:xfrm>
          <a:prstGeom prst="rect">
            <a:avLst/>
          </a:prstGeom>
          <a:noFill/>
          <a:ln/>
        </p:spPr>
        <p:txBody>
          <a:bodyPr wrap="square" lIns="0" tIns="0" rIns="0" bIns="0" rtlCol="0" anchor="ctr"/>
          <a:lstStyle/>
          <a:p>
            <a:pPr algn="ctr" indent="0" marL="0">
              <a:buNone/>
            </a:pPr>
            <a:r>
              <a:rPr lang="en-US" sz="1100" i="1" dirty="0">
                <a:solidFill>
                  <a:schemeClr val="accent6"/>
                </a:solidFill>
              </a:rPr>
              <a:t>[Client logo]</a:t>
            </a:r>
            <a:endParaRPr lang="en-US" sz="11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Our team</a:t>
            </a:r>
            <a:endParaRPr lang="en-US" sz="3200" dirty="0"/>
          </a:p>
        </p:txBody>
      </p:sp>
      <p:sp>
        <p:nvSpPr>
          <p:cNvPr id="3" name="team-card-231"/>
          <p:cNvSpPr/>
          <p:nvPr/>
        </p:nvSpPr>
        <p:spPr>
          <a:xfrm>
            <a:off x="548640" y="1417320"/>
            <a:ext cx="2651760" cy="3108960"/>
          </a:xfrm>
          <a:prstGeom prst="roundRect">
            <a:avLst>
              <a:gd name="adj" fmla="val 4138"/>
            </a:avLst>
          </a:prstGeom>
          <a:solidFill>
            <a:schemeClr val="bg2"/>
          </a:solidFill>
          <a:ln w="12700">
            <a:solidFill>
              <a:schemeClr val="bg2"/>
            </a:solidFill>
            <a:prstDash val="solid"/>
          </a:ln>
        </p:spPr>
      </p:sp>
      <p:sp>
        <p:nvSpPr>
          <p:cNvPr id="4" name="photo-placeholder-232"/>
          <p:cNvSpPr/>
          <p:nvPr/>
        </p:nvSpPr>
        <p:spPr>
          <a:xfrm>
            <a:off x="1325880" y="1645920"/>
            <a:ext cx="1097280" cy="1097280"/>
          </a:xfrm>
          <a:prstGeom prst="ellipse">
            <a:avLst/>
          </a:prstGeom>
          <a:solidFill>
            <a:schemeClr val="bg1"/>
          </a:solidFill>
          <a:ln w="12700">
            <a:solidFill>
              <a:schemeClr val="accent6"/>
            </a:solidFill>
            <a:prstDash val="dash"/>
          </a:ln>
        </p:spPr>
      </p:sp>
      <p:pic>
        <p:nvPicPr>
          <p:cNvPr id="5" name="photo-icon-233" descr="preencoded.png">    </p:cNvPr>
          <p:cNvPicPr>
            <a:picLocks noChangeAspect="1"/>
          </p:cNvPicPr>
          <p:nvPr/>
        </p:nvPicPr>
        <p:blipFill>
          <a:blip r:embed="rId1"/>
          <a:stretch>
            <a:fillRect/>
          </a:stretch>
        </p:blipFill>
        <p:spPr>
          <a:xfrm>
            <a:off x="1645920" y="1965960"/>
            <a:ext cx="457200" cy="457200"/>
          </a:xfrm>
          <a:prstGeom prst="rect">
            <a:avLst/>
          </a:prstGeom>
        </p:spPr>
      </p:pic>
      <p:sp>
        <p:nvSpPr>
          <p:cNvPr id="6" name="Text 3"/>
          <p:cNvSpPr txBox="1"/>
          <p:nvPr/>
        </p:nvSpPr>
        <p:spPr>
          <a:xfrm>
            <a:off x="731520" y="2880360"/>
            <a:ext cx="2286000" cy="365760"/>
          </a:xfrm>
          <a:prstGeom prst="rect">
            <a:avLst/>
          </a:prstGeom>
          <a:noFill/>
          <a:ln/>
        </p:spPr>
        <p:txBody>
          <a:bodyPr wrap="square" lIns="0" tIns="0" rIns="0" bIns="0" rtlCol="0" anchor="t"/>
          <a:lstStyle/>
          <a:p>
            <a:pPr algn="ctr" indent="0" marL="0">
              <a:buNone/>
            </a:pPr>
            <a:r>
              <a:rPr lang="en-US" sz="1600" b="1" dirty="0">
                <a:solidFill>
                  <a:schemeClr val="tx1"/>
                </a:solidFill>
              </a:rPr>
              <a:t>[Full name]</a:t>
            </a:r>
            <a:endParaRPr lang="en-US" sz="1600" dirty="0"/>
          </a:p>
        </p:txBody>
      </p:sp>
      <p:sp>
        <p:nvSpPr>
          <p:cNvPr id="7" name="Text 4"/>
          <p:cNvSpPr txBox="1"/>
          <p:nvPr/>
        </p:nvSpPr>
        <p:spPr>
          <a:xfrm>
            <a:off x="731520" y="3246120"/>
            <a:ext cx="2286000" cy="320040"/>
          </a:xfrm>
          <a:prstGeom prst="rect">
            <a:avLst/>
          </a:prstGeom>
          <a:noFill/>
          <a:ln/>
        </p:spPr>
        <p:txBody>
          <a:bodyPr wrap="square" lIns="0" tIns="0" rIns="0" bIns="0" rtlCol="0" anchor="t"/>
          <a:lstStyle/>
          <a:p>
            <a:pPr algn="ctr" indent="0" marL="0">
              <a:buNone/>
            </a:pPr>
            <a:r>
              <a:rPr lang="en-US" sz="1300" b="1" dirty="0">
                <a:solidFill>
                  <a:schemeClr val="accent4"/>
                </a:solidFill>
              </a:rPr>
              <a:t>[Founder &amp; CEO]</a:t>
            </a:r>
            <a:endParaRPr lang="en-US" sz="1300" dirty="0"/>
          </a:p>
        </p:txBody>
      </p:sp>
      <p:sp>
        <p:nvSpPr>
          <p:cNvPr id="8" name="Text 5"/>
          <p:cNvSpPr txBox="1"/>
          <p:nvPr/>
        </p:nvSpPr>
        <p:spPr>
          <a:xfrm>
            <a:off x="731520" y="3657600"/>
            <a:ext cx="2286000" cy="731520"/>
          </a:xfrm>
          <a:prstGeom prst="rect">
            <a:avLst/>
          </a:prstGeom>
          <a:noFill/>
          <a:ln/>
        </p:spPr>
        <p:txBody>
          <a:bodyPr wrap="square" lIns="0" tIns="0" rIns="0" bIns="0" rtlCol="0" anchor="t"/>
          <a:lstStyle/>
          <a:p>
            <a:pPr algn="ctr" indent="0" marL="0">
              <a:buNone/>
            </a:pPr>
            <a:r>
              <a:rPr lang="en-US" sz="1200" i="1" dirty="0">
                <a:solidFill>
                  <a:schemeClr val="tx2"/>
                </a:solidFill>
              </a:rPr>
              <a:t>[Prior roles, domain expertise, education]</a:t>
            </a:r>
            <a:endParaRPr lang="en-US" sz="1200" dirty="0"/>
          </a:p>
        </p:txBody>
      </p:sp>
      <p:sp>
        <p:nvSpPr>
          <p:cNvPr id="9" name="team-card-234"/>
          <p:cNvSpPr/>
          <p:nvPr/>
        </p:nvSpPr>
        <p:spPr>
          <a:xfrm>
            <a:off x="3383280" y="1417320"/>
            <a:ext cx="2651760" cy="3108960"/>
          </a:xfrm>
          <a:prstGeom prst="roundRect">
            <a:avLst>
              <a:gd name="adj" fmla="val 4138"/>
            </a:avLst>
          </a:prstGeom>
          <a:solidFill>
            <a:schemeClr val="bg2"/>
          </a:solidFill>
          <a:ln w="12700">
            <a:solidFill>
              <a:schemeClr val="bg2"/>
            </a:solidFill>
            <a:prstDash val="solid"/>
          </a:ln>
        </p:spPr>
      </p:sp>
      <p:sp>
        <p:nvSpPr>
          <p:cNvPr id="10" name="photo-placeholder-235"/>
          <p:cNvSpPr/>
          <p:nvPr/>
        </p:nvSpPr>
        <p:spPr>
          <a:xfrm>
            <a:off x="4160520" y="1645920"/>
            <a:ext cx="1097280" cy="1097280"/>
          </a:xfrm>
          <a:prstGeom prst="ellipse">
            <a:avLst/>
          </a:prstGeom>
          <a:solidFill>
            <a:schemeClr val="bg1"/>
          </a:solidFill>
          <a:ln w="12700">
            <a:solidFill>
              <a:schemeClr val="accent6"/>
            </a:solidFill>
            <a:prstDash val="dash"/>
          </a:ln>
        </p:spPr>
      </p:sp>
      <p:pic>
        <p:nvPicPr>
          <p:cNvPr id="11" name="photo-icon-236" descr="preencoded.png">    </p:cNvPr>
          <p:cNvPicPr>
            <a:picLocks noChangeAspect="1"/>
          </p:cNvPicPr>
          <p:nvPr/>
        </p:nvPicPr>
        <p:blipFill>
          <a:blip r:embed="rId2"/>
          <a:stretch>
            <a:fillRect/>
          </a:stretch>
        </p:blipFill>
        <p:spPr>
          <a:xfrm>
            <a:off x="4480560" y="1965960"/>
            <a:ext cx="457200" cy="457200"/>
          </a:xfrm>
          <a:prstGeom prst="rect">
            <a:avLst/>
          </a:prstGeom>
        </p:spPr>
      </p:pic>
      <p:sp>
        <p:nvSpPr>
          <p:cNvPr id="12" name="Text 8"/>
          <p:cNvSpPr txBox="1"/>
          <p:nvPr/>
        </p:nvSpPr>
        <p:spPr>
          <a:xfrm>
            <a:off x="3566160" y="2880360"/>
            <a:ext cx="2286000" cy="365760"/>
          </a:xfrm>
          <a:prstGeom prst="rect">
            <a:avLst/>
          </a:prstGeom>
          <a:noFill/>
          <a:ln/>
        </p:spPr>
        <p:txBody>
          <a:bodyPr wrap="square" lIns="0" tIns="0" rIns="0" bIns="0" rtlCol="0" anchor="t"/>
          <a:lstStyle/>
          <a:p>
            <a:pPr algn="ctr" indent="0" marL="0">
              <a:buNone/>
            </a:pPr>
            <a:r>
              <a:rPr lang="en-US" sz="1600" b="1" dirty="0">
                <a:solidFill>
                  <a:schemeClr val="tx1"/>
                </a:solidFill>
              </a:rPr>
              <a:t>[Full name]</a:t>
            </a:r>
            <a:endParaRPr lang="en-US" sz="1600" dirty="0"/>
          </a:p>
        </p:txBody>
      </p:sp>
      <p:sp>
        <p:nvSpPr>
          <p:cNvPr id="13" name="Text 9"/>
          <p:cNvSpPr txBox="1"/>
          <p:nvPr/>
        </p:nvSpPr>
        <p:spPr>
          <a:xfrm>
            <a:off x="3566160" y="3246120"/>
            <a:ext cx="2286000" cy="320040"/>
          </a:xfrm>
          <a:prstGeom prst="rect">
            <a:avLst/>
          </a:prstGeom>
          <a:noFill/>
          <a:ln/>
        </p:spPr>
        <p:txBody>
          <a:bodyPr wrap="square" lIns="0" tIns="0" rIns="0" bIns="0" rtlCol="0" anchor="t"/>
          <a:lstStyle/>
          <a:p>
            <a:pPr algn="ctr" indent="0" marL="0">
              <a:buNone/>
            </a:pPr>
            <a:r>
              <a:rPr lang="en-US" sz="1300" b="1" dirty="0">
                <a:solidFill>
                  <a:schemeClr val="accent4"/>
                </a:solidFill>
              </a:rPr>
              <a:t>[Co-founder &amp; CTO]</a:t>
            </a:r>
            <a:endParaRPr lang="en-US" sz="1300" dirty="0"/>
          </a:p>
        </p:txBody>
      </p:sp>
      <p:sp>
        <p:nvSpPr>
          <p:cNvPr id="14" name="Text 10"/>
          <p:cNvSpPr txBox="1"/>
          <p:nvPr/>
        </p:nvSpPr>
        <p:spPr>
          <a:xfrm>
            <a:off x="3566160" y="3657600"/>
            <a:ext cx="2286000" cy="731520"/>
          </a:xfrm>
          <a:prstGeom prst="rect">
            <a:avLst/>
          </a:prstGeom>
          <a:noFill/>
          <a:ln/>
        </p:spPr>
        <p:txBody>
          <a:bodyPr wrap="square" lIns="0" tIns="0" rIns="0" bIns="0" rtlCol="0" anchor="t"/>
          <a:lstStyle/>
          <a:p>
            <a:pPr algn="ctr" indent="0" marL="0">
              <a:buNone/>
            </a:pPr>
            <a:r>
              <a:rPr lang="en-US" sz="1200" i="1" dirty="0">
                <a:solidFill>
                  <a:schemeClr val="tx2"/>
                </a:solidFill>
              </a:rPr>
              <a:t>[Prior roles, domain expertise, education]</a:t>
            </a:r>
            <a:endParaRPr lang="en-US" sz="1200" dirty="0"/>
          </a:p>
        </p:txBody>
      </p:sp>
      <p:sp>
        <p:nvSpPr>
          <p:cNvPr id="15" name="team-card-237"/>
          <p:cNvSpPr/>
          <p:nvPr/>
        </p:nvSpPr>
        <p:spPr>
          <a:xfrm>
            <a:off x="6217920" y="1417320"/>
            <a:ext cx="2651760" cy="3108960"/>
          </a:xfrm>
          <a:prstGeom prst="roundRect">
            <a:avLst>
              <a:gd name="adj" fmla="val 4138"/>
            </a:avLst>
          </a:prstGeom>
          <a:solidFill>
            <a:schemeClr val="bg2"/>
          </a:solidFill>
          <a:ln w="12700">
            <a:solidFill>
              <a:schemeClr val="bg2"/>
            </a:solidFill>
            <a:prstDash val="solid"/>
          </a:ln>
        </p:spPr>
      </p:sp>
      <p:sp>
        <p:nvSpPr>
          <p:cNvPr id="16" name="photo-placeholder-238"/>
          <p:cNvSpPr/>
          <p:nvPr/>
        </p:nvSpPr>
        <p:spPr>
          <a:xfrm>
            <a:off x="6995160" y="1645920"/>
            <a:ext cx="1097280" cy="1097280"/>
          </a:xfrm>
          <a:prstGeom prst="ellipse">
            <a:avLst/>
          </a:prstGeom>
          <a:solidFill>
            <a:schemeClr val="bg1"/>
          </a:solidFill>
          <a:ln w="12700">
            <a:solidFill>
              <a:schemeClr val="accent6"/>
            </a:solidFill>
            <a:prstDash val="dash"/>
          </a:ln>
        </p:spPr>
      </p:sp>
      <p:pic>
        <p:nvPicPr>
          <p:cNvPr id="17" name="photo-icon-239" descr="preencoded.png">    </p:cNvPr>
          <p:cNvPicPr>
            <a:picLocks noChangeAspect="1"/>
          </p:cNvPicPr>
          <p:nvPr/>
        </p:nvPicPr>
        <p:blipFill>
          <a:blip r:embed="rId3"/>
          <a:stretch>
            <a:fillRect/>
          </a:stretch>
        </p:blipFill>
        <p:spPr>
          <a:xfrm>
            <a:off x="7315200" y="1965960"/>
            <a:ext cx="457200" cy="457200"/>
          </a:xfrm>
          <a:prstGeom prst="rect">
            <a:avLst/>
          </a:prstGeom>
        </p:spPr>
      </p:pic>
      <p:sp>
        <p:nvSpPr>
          <p:cNvPr id="18" name="Text 13"/>
          <p:cNvSpPr txBox="1"/>
          <p:nvPr/>
        </p:nvSpPr>
        <p:spPr>
          <a:xfrm>
            <a:off x="6400800" y="2880360"/>
            <a:ext cx="2286000" cy="365760"/>
          </a:xfrm>
          <a:prstGeom prst="rect">
            <a:avLst/>
          </a:prstGeom>
          <a:noFill/>
          <a:ln/>
        </p:spPr>
        <p:txBody>
          <a:bodyPr wrap="square" lIns="0" tIns="0" rIns="0" bIns="0" rtlCol="0" anchor="t"/>
          <a:lstStyle/>
          <a:p>
            <a:pPr algn="ctr" indent="0" marL="0">
              <a:buNone/>
            </a:pPr>
            <a:r>
              <a:rPr lang="en-US" sz="1600" b="1" dirty="0">
                <a:solidFill>
                  <a:schemeClr val="tx1"/>
                </a:solidFill>
              </a:rPr>
              <a:t>[Full name]</a:t>
            </a:r>
            <a:endParaRPr lang="en-US" sz="1600" dirty="0"/>
          </a:p>
        </p:txBody>
      </p:sp>
      <p:sp>
        <p:nvSpPr>
          <p:cNvPr id="19" name="Text 14"/>
          <p:cNvSpPr txBox="1"/>
          <p:nvPr/>
        </p:nvSpPr>
        <p:spPr>
          <a:xfrm>
            <a:off x="6400800" y="3246120"/>
            <a:ext cx="2286000" cy="320040"/>
          </a:xfrm>
          <a:prstGeom prst="rect">
            <a:avLst/>
          </a:prstGeom>
          <a:noFill/>
          <a:ln/>
        </p:spPr>
        <p:txBody>
          <a:bodyPr wrap="square" lIns="0" tIns="0" rIns="0" bIns="0" rtlCol="0" anchor="t"/>
          <a:lstStyle/>
          <a:p>
            <a:pPr algn="ctr" indent="0" marL="0">
              <a:buNone/>
            </a:pPr>
            <a:r>
              <a:rPr lang="en-US" sz="1300" b="1" dirty="0">
                <a:solidFill>
                  <a:schemeClr val="accent4"/>
                </a:solidFill>
              </a:rPr>
              <a:t>[Head of Compliance]</a:t>
            </a:r>
            <a:endParaRPr lang="en-US" sz="1300" dirty="0"/>
          </a:p>
        </p:txBody>
      </p:sp>
      <p:sp>
        <p:nvSpPr>
          <p:cNvPr id="20" name="Text 15"/>
          <p:cNvSpPr txBox="1"/>
          <p:nvPr/>
        </p:nvSpPr>
        <p:spPr>
          <a:xfrm>
            <a:off x="6400800" y="3657600"/>
            <a:ext cx="2286000" cy="731520"/>
          </a:xfrm>
          <a:prstGeom prst="rect">
            <a:avLst/>
          </a:prstGeom>
          <a:noFill/>
          <a:ln/>
        </p:spPr>
        <p:txBody>
          <a:bodyPr wrap="square" lIns="0" tIns="0" rIns="0" bIns="0" rtlCol="0" anchor="t"/>
          <a:lstStyle/>
          <a:p>
            <a:pPr algn="ctr" indent="0" marL="0">
              <a:buNone/>
            </a:pPr>
            <a:r>
              <a:rPr lang="en-US" sz="1200" i="1" dirty="0">
                <a:solidFill>
                  <a:schemeClr val="tx2"/>
                </a:solidFill>
              </a:rPr>
              <a:t>[Prior roles, domain expertise, education]</a:t>
            </a:r>
            <a:endParaRPr lang="en-US" sz="1200" dirty="0"/>
          </a:p>
        </p:txBody>
      </p:sp>
      <p:sp>
        <p:nvSpPr>
          <p:cNvPr id="21" name="team-card-240"/>
          <p:cNvSpPr/>
          <p:nvPr/>
        </p:nvSpPr>
        <p:spPr>
          <a:xfrm>
            <a:off x="9052560" y="1417320"/>
            <a:ext cx="2651760" cy="3108960"/>
          </a:xfrm>
          <a:prstGeom prst="roundRect">
            <a:avLst>
              <a:gd name="adj" fmla="val 4138"/>
            </a:avLst>
          </a:prstGeom>
          <a:solidFill>
            <a:schemeClr val="bg2"/>
          </a:solidFill>
          <a:ln w="12700">
            <a:solidFill>
              <a:schemeClr val="bg2"/>
            </a:solidFill>
            <a:prstDash val="solid"/>
          </a:ln>
        </p:spPr>
      </p:sp>
      <p:sp>
        <p:nvSpPr>
          <p:cNvPr id="22" name="photo-placeholder-241"/>
          <p:cNvSpPr/>
          <p:nvPr/>
        </p:nvSpPr>
        <p:spPr>
          <a:xfrm>
            <a:off x="9829800" y="1645920"/>
            <a:ext cx="1097280" cy="1097280"/>
          </a:xfrm>
          <a:prstGeom prst="ellipse">
            <a:avLst/>
          </a:prstGeom>
          <a:solidFill>
            <a:schemeClr val="bg1"/>
          </a:solidFill>
          <a:ln w="12700">
            <a:solidFill>
              <a:schemeClr val="accent6"/>
            </a:solidFill>
            <a:prstDash val="dash"/>
          </a:ln>
        </p:spPr>
      </p:sp>
      <p:pic>
        <p:nvPicPr>
          <p:cNvPr id="23" name="photo-icon-242" descr="preencoded.png">    </p:cNvPr>
          <p:cNvPicPr>
            <a:picLocks noChangeAspect="1"/>
          </p:cNvPicPr>
          <p:nvPr/>
        </p:nvPicPr>
        <p:blipFill>
          <a:blip r:embed="rId4"/>
          <a:stretch>
            <a:fillRect/>
          </a:stretch>
        </p:blipFill>
        <p:spPr>
          <a:xfrm>
            <a:off x="10149840" y="1965960"/>
            <a:ext cx="457200" cy="457200"/>
          </a:xfrm>
          <a:prstGeom prst="rect">
            <a:avLst/>
          </a:prstGeom>
        </p:spPr>
      </p:pic>
      <p:sp>
        <p:nvSpPr>
          <p:cNvPr id="24" name="Text 18"/>
          <p:cNvSpPr txBox="1"/>
          <p:nvPr/>
        </p:nvSpPr>
        <p:spPr>
          <a:xfrm>
            <a:off x="9235440" y="2880360"/>
            <a:ext cx="2286000" cy="365760"/>
          </a:xfrm>
          <a:prstGeom prst="rect">
            <a:avLst/>
          </a:prstGeom>
          <a:noFill/>
          <a:ln/>
        </p:spPr>
        <p:txBody>
          <a:bodyPr wrap="square" lIns="0" tIns="0" rIns="0" bIns="0" rtlCol="0" anchor="t"/>
          <a:lstStyle/>
          <a:p>
            <a:pPr algn="ctr" indent="0" marL="0">
              <a:buNone/>
            </a:pPr>
            <a:r>
              <a:rPr lang="en-US" sz="1600" b="1" dirty="0">
                <a:solidFill>
                  <a:schemeClr val="tx1"/>
                </a:solidFill>
              </a:rPr>
              <a:t>[Full name]</a:t>
            </a:r>
            <a:endParaRPr lang="en-US" sz="1600" dirty="0"/>
          </a:p>
        </p:txBody>
      </p:sp>
      <p:sp>
        <p:nvSpPr>
          <p:cNvPr id="25" name="Text 19"/>
          <p:cNvSpPr txBox="1"/>
          <p:nvPr/>
        </p:nvSpPr>
        <p:spPr>
          <a:xfrm>
            <a:off x="9235440" y="3246120"/>
            <a:ext cx="2286000" cy="320040"/>
          </a:xfrm>
          <a:prstGeom prst="rect">
            <a:avLst/>
          </a:prstGeom>
          <a:noFill/>
          <a:ln/>
        </p:spPr>
        <p:txBody>
          <a:bodyPr wrap="square" lIns="0" tIns="0" rIns="0" bIns="0" rtlCol="0" anchor="t"/>
          <a:lstStyle/>
          <a:p>
            <a:pPr algn="ctr" indent="0" marL="0">
              <a:buNone/>
            </a:pPr>
            <a:r>
              <a:rPr lang="en-US" sz="1300" b="1" dirty="0">
                <a:solidFill>
                  <a:schemeClr val="accent4"/>
                </a:solidFill>
              </a:rPr>
              <a:t>[Head of Growth]</a:t>
            </a:r>
            <a:endParaRPr lang="en-US" sz="1300" dirty="0"/>
          </a:p>
        </p:txBody>
      </p:sp>
      <p:sp>
        <p:nvSpPr>
          <p:cNvPr id="26" name="Text 20"/>
          <p:cNvSpPr txBox="1"/>
          <p:nvPr/>
        </p:nvSpPr>
        <p:spPr>
          <a:xfrm>
            <a:off x="9235440" y="3657600"/>
            <a:ext cx="2286000" cy="731520"/>
          </a:xfrm>
          <a:prstGeom prst="rect">
            <a:avLst/>
          </a:prstGeom>
          <a:noFill/>
          <a:ln/>
        </p:spPr>
        <p:txBody>
          <a:bodyPr wrap="square" lIns="0" tIns="0" rIns="0" bIns="0" rtlCol="0" anchor="t"/>
          <a:lstStyle/>
          <a:p>
            <a:pPr algn="ctr" indent="0" marL="0">
              <a:buNone/>
            </a:pPr>
            <a:r>
              <a:rPr lang="en-US" sz="1200" i="1" dirty="0">
                <a:solidFill>
                  <a:schemeClr val="tx2"/>
                </a:solidFill>
              </a:rPr>
              <a:t>[Prior roles, domain expertise, education]</a:t>
            </a:r>
            <a:endParaRPr lang="en-US" sz="1200" dirty="0"/>
          </a:p>
        </p:txBody>
      </p:sp>
      <p:sp>
        <p:nvSpPr>
          <p:cNvPr id="27" name="Text 21"/>
          <p:cNvSpPr txBox="1"/>
          <p:nvPr/>
        </p:nvSpPr>
        <p:spPr>
          <a:xfrm>
            <a:off x="548640" y="4754880"/>
            <a:ext cx="2743200" cy="365760"/>
          </a:xfrm>
          <a:prstGeom prst="rect">
            <a:avLst/>
          </a:prstGeom>
          <a:noFill/>
          <a:ln/>
        </p:spPr>
        <p:txBody>
          <a:bodyPr wrap="square" lIns="0" tIns="0" rIns="0" bIns="0" rtlCol="0" anchor="t"/>
          <a:lstStyle/>
          <a:p>
            <a:pPr indent="0" marL="0">
              <a:buNone/>
            </a:pPr>
            <a:r>
              <a:rPr lang="en-US" sz="1700" b="1" dirty="0">
                <a:solidFill>
                  <a:schemeClr val="tx1"/>
                </a:solidFill>
              </a:rPr>
              <a:t>Advisors</a:t>
            </a:r>
            <a:endParaRPr lang="en-US" sz="1700" dirty="0"/>
          </a:p>
        </p:txBody>
      </p:sp>
      <p:sp>
        <p:nvSpPr>
          <p:cNvPr id="28" name="placeholder-243"/>
          <p:cNvSpPr/>
          <p:nvPr/>
        </p:nvSpPr>
        <p:spPr>
          <a:xfrm>
            <a:off x="548640" y="5166360"/>
            <a:ext cx="3566160" cy="777240"/>
          </a:xfrm>
          <a:prstGeom prst="roundRect">
            <a:avLst>
              <a:gd name="adj" fmla="val 11765"/>
            </a:avLst>
          </a:prstGeom>
          <a:solidFill>
            <a:schemeClr val="bg2"/>
          </a:solidFill>
          <a:ln w="12700">
            <a:solidFill>
              <a:schemeClr val="accent6"/>
            </a:solidFill>
            <a:prstDash val="dash"/>
          </a:ln>
        </p:spPr>
      </p:sp>
      <p:sp>
        <p:nvSpPr>
          <p:cNvPr id="29" name="Text 23"/>
          <p:cNvSpPr txBox="1"/>
          <p:nvPr/>
        </p:nvSpPr>
        <p:spPr>
          <a:xfrm>
            <a:off x="685800" y="5166360"/>
            <a:ext cx="3291840" cy="777240"/>
          </a:xfrm>
          <a:prstGeom prst="rect">
            <a:avLst/>
          </a:prstGeom>
          <a:noFill/>
          <a:ln/>
        </p:spPr>
        <p:txBody>
          <a:bodyPr wrap="square" lIns="0" tIns="0" rIns="0" bIns="0" rtlCol="0" anchor="ctr"/>
          <a:lstStyle/>
          <a:p>
            <a:pPr algn="ctr" indent="0" marL="0">
              <a:buNone/>
            </a:pPr>
            <a:r>
              <a:rPr lang="en-US" sz="1200" i="1" dirty="0">
                <a:solidFill>
                  <a:schemeClr val="tx2"/>
                </a:solidFill>
              </a:rPr>
              <a:t>[Advisor name, expertise, organisation]</a:t>
            </a:r>
            <a:endParaRPr lang="en-US" sz="1200" dirty="0"/>
          </a:p>
        </p:txBody>
      </p:sp>
      <p:sp>
        <p:nvSpPr>
          <p:cNvPr id="30" name="placeholder-244"/>
          <p:cNvSpPr/>
          <p:nvPr/>
        </p:nvSpPr>
        <p:spPr>
          <a:xfrm>
            <a:off x="4297680" y="5166360"/>
            <a:ext cx="3566160" cy="777240"/>
          </a:xfrm>
          <a:prstGeom prst="roundRect">
            <a:avLst>
              <a:gd name="adj" fmla="val 11765"/>
            </a:avLst>
          </a:prstGeom>
          <a:solidFill>
            <a:schemeClr val="bg2"/>
          </a:solidFill>
          <a:ln w="12700">
            <a:solidFill>
              <a:schemeClr val="accent6"/>
            </a:solidFill>
            <a:prstDash val="dash"/>
          </a:ln>
        </p:spPr>
      </p:sp>
      <p:sp>
        <p:nvSpPr>
          <p:cNvPr id="31" name="Text 25"/>
          <p:cNvSpPr txBox="1"/>
          <p:nvPr/>
        </p:nvSpPr>
        <p:spPr>
          <a:xfrm>
            <a:off x="4434840" y="5166360"/>
            <a:ext cx="3291840" cy="777240"/>
          </a:xfrm>
          <a:prstGeom prst="rect">
            <a:avLst/>
          </a:prstGeom>
          <a:noFill/>
          <a:ln/>
        </p:spPr>
        <p:txBody>
          <a:bodyPr wrap="square" lIns="0" tIns="0" rIns="0" bIns="0" rtlCol="0" anchor="ctr"/>
          <a:lstStyle/>
          <a:p>
            <a:pPr algn="ctr" indent="0" marL="0">
              <a:buNone/>
            </a:pPr>
            <a:r>
              <a:rPr lang="en-US" sz="1200" i="1" dirty="0">
                <a:solidFill>
                  <a:schemeClr val="tx2"/>
                </a:solidFill>
              </a:rPr>
              <a:t>[Advisor name, expertise, organisation]</a:t>
            </a:r>
            <a:endParaRPr lang="en-US" sz="1200" dirty="0"/>
          </a:p>
        </p:txBody>
      </p:sp>
      <p:sp>
        <p:nvSpPr>
          <p:cNvPr id="32" name="placeholder-245"/>
          <p:cNvSpPr/>
          <p:nvPr/>
        </p:nvSpPr>
        <p:spPr>
          <a:xfrm>
            <a:off x="8046720" y="5166360"/>
            <a:ext cx="3566160" cy="777240"/>
          </a:xfrm>
          <a:prstGeom prst="roundRect">
            <a:avLst>
              <a:gd name="adj" fmla="val 11765"/>
            </a:avLst>
          </a:prstGeom>
          <a:solidFill>
            <a:schemeClr val="bg2"/>
          </a:solidFill>
          <a:ln w="12700">
            <a:solidFill>
              <a:schemeClr val="accent6"/>
            </a:solidFill>
            <a:prstDash val="dash"/>
          </a:ln>
        </p:spPr>
      </p:sp>
      <p:sp>
        <p:nvSpPr>
          <p:cNvPr id="33" name="Text 27"/>
          <p:cNvSpPr txBox="1"/>
          <p:nvPr/>
        </p:nvSpPr>
        <p:spPr>
          <a:xfrm>
            <a:off x="8183880" y="5166360"/>
            <a:ext cx="3291840" cy="777240"/>
          </a:xfrm>
          <a:prstGeom prst="rect">
            <a:avLst/>
          </a:prstGeom>
          <a:noFill/>
          <a:ln/>
        </p:spPr>
        <p:txBody>
          <a:bodyPr wrap="square" lIns="0" tIns="0" rIns="0" bIns="0" rtlCol="0" anchor="ctr"/>
          <a:lstStyle/>
          <a:p>
            <a:pPr algn="ctr" indent="0" marL="0">
              <a:buNone/>
            </a:pPr>
            <a:r>
              <a:rPr lang="en-US" sz="1200" i="1" dirty="0">
                <a:solidFill>
                  <a:schemeClr val="tx2"/>
                </a:solidFill>
              </a:rPr>
              <a:t>[Advisor name, expertise, organisation]</a:t>
            </a:r>
            <a:endParaRPr lang="en-US" sz="12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t"/>
          <a:lstStyle/>
          <a:p>
            <a:pPr algn="l" indent="0" marL="0">
              <a:buNone/>
            </a:pPr>
            <a:r>
              <a:rPr lang="en-US" sz="3200" b="1" dirty="0">
                <a:solidFill>
                  <a:schemeClr val="tx1"/>
                </a:solidFill>
              </a:rPr>
              <a:t>Partner with us</a:t>
            </a:r>
            <a:endParaRPr lang="en-US" sz="3200" dirty="0"/>
          </a:p>
        </p:txBody>
      </p:sp>
      <p:sp>
        <p:nvSpPr>
          <p:cNvPr id="3" name="partner-panel-246"/>
          <p:cNvSpPr/>
          <p:nvPr/>
        </p:nvSpPr>
        <p:spPr>
          <a:xfrm>
            <a:off x="548640" y="1417320"/>
            <a:ext cx="5440680" cy="4572000"/>
          </a:xfrm>
          <a:prstGeom prst="roundRect">
            <a:avLst>
              <a:gd name="adj" fmla="val 2400"/>
            </a:avLst>
          </a:prstGeom>
          <a:solidFill>
            <a:schemeClr val="bg2"/>
          </a:solidFill>
          <a:ln w="12700">
            <a:solidFill>
              <a:schemeClr val="bg2"/>
            </a:solidFill>
            <a:prstDash val="solid"/>
          </a:ln>
        </p:spPr>
      </p:sp>
      <p:sp>
        <p:nvSpPr>
          <p:cNvPr id="4" name="icon-circle-247"/>
          <p:cNvSpPr/>
          <p:nvPr/>
        </p:nvSpPr>
        <p:spPr>
          <a:xfrm>
            <a:off x="822960" y="1691640"/>
            <a:ext cx="585216" cy="585216"/>
          </a:xfrm>
          <a:prstGeom prst="ellipse">
            <a:avLst/>
          </a:prstGeom>
          <a:solidFill>
            <a:schemeClr val="accent3"/>
          </a:solidFill>
          <a:ln w="12700">
            <a:solidFill>
              <a:schemeClr val="accent3"/>
            </a:solidFill>
            <a:prstDash val="solid"/>
          </a:ln>
        </p:spPr>
      </p:sp>
      <p:pic>
        <p:nvPicPr>
          <p:cNvPr id="5" name="icon-248" descr="preencoded.png">    </p:cNvPr>
          <p:cNvPicPr>
            <a:picLocks noChangeAspect="1"/>
          </p:cNvPicPr>
          <p:nvPr/>
        </p:nvPicPr>
        <p:blipFill>
          <a:blip r:embed="rId1"/>
          <a:stretch>
            <a:fillRect/>
          </a:stretch>
        </p:blipFill>
        <p:spPr>
          <a:xfrm>
            <a:off x="963412" y="1832092"/>
            <a:ext cx="304312" cy="304312"/>
          </a:xfrm>
          <a:prstGeom prst="rect">
            <a:avLst/>
          </a:prstGeom>
        </p:spPr>
      </p:pic>
      <p:sp>
        <p:nvSpPr>
          <p:cNvPr id="6" name="Text 3"/>
          <p:cNvSpPr txBox="1"/>
          <p:nvPr/>
        </p:nvSpPr>
        <p:spPr>
          <a:xfrm>
            <a:off x="1554480" y="1783080"/>
            <a:ext cx="4206240" cy="411480"/>
          </a:xfrm>
          <a:prstGeom prst="rect">
            <a:avLst/>
          </a:prstGeom>
          <a:noFill/>
          <a:ln/>
        </p:spPr>
        <p:txBody>
          <a:bodyPr wrap="square" lIns="0" tIns="0" rIns="0" bIns="0" rtlCol="0" anchor="t"/>
          <a:lstStyle/>
          <a:p>
            <a:pPr indent="0" marL="0">
              <a:buNone/>
            </a:pPr>
            <a:r>
              <a:rPr lang="en-US" sz="1900" b="1" dirty="0">
                <a:solidFill>
                  <a:schemeClr val="tx1"/>
                </a:solidFill>
              </a:rPr>
              <a:t>For employers and contractors</a:t>
            </a:r>
            <a:endParaRPr lang="en-US" sz="1900" dirty="0"/>
          </a:p>
        </p:txBody>
      </p:sp>
      <p:sp>
        <p:nvSpPr>
          <p:cNvPr id="7" name="Text 4"/>
          <p:cNvSpPr txBox="1"/>
          <p:nvPr/>
        </p:nvSpPr>
        <p:spPr>
          <a:xfrm>
            <a:off x="822960" y="2560320"/>
            <a:ext cx="489204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Discovery call to map your sites, states and contractors</a:t>
            </a:r>
            <a:endParaRPr lang="en-US" sz="1500" dirty="0"/>
          </a:p>
          <a:p>
            <a:pPr marL="342900" indent="-342900">
              <a:spcAft>
                <a:spcPts val="1000"/>
              </a:spcAft>
              <a:buSzPct val="100000"/>
              <a:buChar char="•"/>
            </a:pPr>
            <a:r>
              <a:rPr lang="en-US" sz="1500" dirty="0">
                <a:solidFill>
                  <a:schemeClr val="tx2"/>
                </a:solidFill>
              </a:rPr>
              <a:t>Pilot on [x] sites over [x] weeks</a:t>
            </a:r>
            <a:endParaRPr lang="en-US" sz="1500" dirty="0"/>
          </a:p>
          <a:p>
            <a:pPr marL="342900" indent="-342900">
              <a:spcAft>
                <a:spcPts val="1000"/>
              </a:spcAft>
              <a:buSzPct val="100000"/>
              <a:buChar char="•"/>
            </a:pPr>
            <a:r>
              <a:rPr lang="en-US" sz="1500" dirty="0">
                <a:solidFill>
                  <a:schemeClr val="tx2"/>
                </a:solidFill>
              </a:rPr>
              <a:t>Review outcomes together, then scale across sites</a:t>
            </a:r>
            <a:endParaRPr lang="en-US" sz="1500" dirty="0"/>
          </a:p>
        </p:txBody>
      </p:sp>
      <p:sp>
        <p:nvSpPr>
          <p:cNvPr id="8" name="placeholder-249"/>
          <p:cNvSpPr/>
          <p:nvPr/>
        </p:nvSpPr>
        <p:spPr>
          <a:xfrm>
            <a:off x="822960" y="4983480"/>
            <a:ext cx="4892040" cy="777240"/>
          </a:xfrm>
          <a:prstGeom prst="roundRect">
            <a:avLst>
              <a:gd name="adj" fmla="val 11765"/>
            </a:avLst>
          </a:prstGeom>
          <a:solidFill>
            <a:schemeClr val="bg2"/>
          </a:solidFill>
          <a:ln w="12700">
            <a:solidFill>
              <a:schemeClr val="accent6"/>
            </a:solidFill>
            <a:prstDash val="dash"/>
          </a:ln>
        </p:spPr>
      </p:sp>
      <p:sp>
        <p:nvSpPr>
          <p:cNvPr id="9" name="Text 6"/>
          <p:cNvSpPr txBox="1"/>
          <p:nvPr/>
        </p:nvSpPr>
        <p:spPr>
          <a:xfrm>
            <a:off x="960120" y="4983480"/>
            <a:ext cx="4617720" cy="777240"/>
          </a:xfrm>
          <a:prstGeom prst="rect">
            <a:avLst/>
          </a:prstGeom>
          <a:noFill/>
          <a:ln/>
        </p:spPr>
        <p:txBody>
          <a:bodyPr wrap="square" lIns="0" tIns="0" rIns="0" bIns="0" rtlCol="0" anchor="ctr"/>
          <a:lstStyle/>
          <a:p>
            <a:pPr algn="ctr" indent="0" marL="0">
              <a:buNone/>
            </a:pPr>
            <a:r>
              <a:rPr lang="en-US" sz="1300" i="1" dirty="0">
                <a:solidFill>
                  <a:schemeClr val="tx2"/>
                </a:solidFill>
              </a:rPr>
              <a:t>[Pilot terms and pricing: add]</a:t>
            </a:r>
            <a:endParaRPr lang="en-US" sz="1300" dirty="0"/>
          </a:p>
        </p:txBody>
      </p:sp>
      <p:sp>
        <p:nvSpPr>
          <p:cNvPr id="10" name="partner-panel-250"/>
          <p:cNvSpPr/>
          <p:nvPr/>
        </p:nvSpPr>
        <p:spPr>
          <a:xfrm>
            <a:off x="6172200" y="1417320"/>
            <a:ext cx="5440680" cy="4572000"/>
          </a:xfrm>
          <a:prstGeom prst="roundRect">
            <a:avLst>
              <a:gd name="adj" fmla="val 2400"/>
            </a:avLst>
          </a:prstGeom>
          <a:solidFill>
            <a:schemeClr val="bg2"/>
          </a:solidFill>
          <a:ln w="12700">
            <a:solidFill>
              <a:schemeClr val="bg2"/>
            </a:solidFill>
            <a:prstDash val="solid"/>
          </a:ln>
        </p:spPr>
      </p:sp>
      <p:sp>
        <p:nvSpPr>
          <p:cNvPr id="11" name="icon-circle-251"/>
          <p:cNvSpPr/>
          <p:nvPr/>
        </p:nvSpPr>
        <p:spPr>
          <a:xfrm>
            <a:off x="6446520" y="1691640"/>
            <a:ext cx="585216" cy="585216"/>
          </a:xfrm>
          <a:prstGeom prst="ellipse">
            <a:avLst/>
          </a:prstGeom>
          <a:solidFill>
            <a:schemeClr val="accent1"/>
          </a:solidFill>
          <a:ln w="12700">
            <a:solidFill>
              <a:schemeClr val="accent1"/>
            </a:solidFill>
            <a:prstDash val="solid"/>
          </a:ln>
        </p:spPr>
      </p:sp>
      <p:pic>
        <p:nvPicPr>
          <p:cNvPr id="12" name="icon-252" descr="preencoded.png">    </p:cNvPr>
          <p:cNvPicPr>
            <a:picLocks noChangeAspect="1"/>
          </p:cNvPicPr>
          <p:nvPr/>
        </p:nvPicPr>
        <p:blipFill>
          <a:blip r:embed="rId2"/>
          <a:stretch>
            <a:fillRect/>
          </a:stretch>
        </p:blipFill>
        <p:spPr>
          <a:xfrm>
            <a:off x="6586972" y="1832092"/>
            <a:ext cx="304312" cy="304312"/>
          </a:xfrm>
          <a:prstGeom prst="rect">
            <a:avLst/>
          </a:prstGeom>
        </p:spPr>
      </p:pic>
      <p:sp>
        <p:nvSpPr>
          <p:cNvPr id="13" name="Text 9"/>
          <p:cNvSpPr txBox="1"/>
          <p:nvPr/>
        </p:nvSpPr>
        <p:spPr>
          <a:xfrm>
            <a:off x="7178040" y="1783080"/>
            <a:ext cx="4206240" cy="411480"/>
          </a:xfrm>
          <a:prstGeom prst="rect">
            <a:avLst/>
          </a:prstGeom>
          <a:noFill/>
          <a:ln/>
        </p:spPr>
        <p:txBody>
          <a:bodyPr wrap="square" lIns="0" tIns="0" rIns="0" bIns="0" rtlCol="0" anchor="t"/>
          <a:lstStyle/>
          <a:p>
            <a:pPr indent="0" marL="0">
              <a:buNone/>
            </a:pPr>
            <a:r>
              <a:rPr lang="en-US" sz="1900" b="1" dirty="0">
                <a:solidFill>
                  <a:schemeClr val="tx1"/>
                </a:solidFill>
              </a:rPr>
              <a:t>For investors and partners</a:t>
            </a:r>
            <a:endParaRPr lang="en-US" sz="1900" dirty="0"/>
          </a:p>
        </p:txBody>
      </p:sp>
      <p:sp>
        <p:nvSpPr>
          <p:cNvPr id="14" name="Text 10"/>
          <p:cNvSpPr txBox="1"/>
          <p:nvPr/>
        </p:nvSpPr>
        <p:spPr>
          <a:xfrm>
            <a:off x="6446520" y="2560320"/>
            <a:ext cx="4892040" cy="21945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 X crore] round to fund product, go-to-market and B2G</a:t>
            </a:r>
            <a:endParaRPr lang="en-US" sz="1500" dirty="0"/>
          </a:p>
          <a:p>
            <a:pPr marL="342900" indent="-342900">
              <a:spcAft>
                <a:spcPts val="1000"/>
              </a:spcAft>
              <a:buSzPct val="100000"/>
              <a:buChar char="•"/>
            </a:pPr>
            <a:r>
              <a:rPr lang="en-US" sz="1500" dirty="0">
                <a:solidFill>
                  <a:schemeClr val="tx2"/>
                </a:solidFill>
              </a:rPr>
              <a:t>Use of funds: [x%] product · [x%] sales · [x%] B2G · [x%] team</a:t>
            </a:r>
            <a:endParaRPr lang="en-US" sz="1500" dirty="0"/>
          </a:p>
          <a:p>
            <a:pPr marL="342900" indent="-342900">
              <a:spcAft>
                <a:spcPts val="1000"/>
              </a:spcAft>
              <a:buSzPct val="100000"/>
              <a:buChar char="•"/>
            </a:pPr>
            <a:r>
              <a:rPr lang="en-US" sz="1500" dirty="0">
                <a:solidFill>
                  <a:schemeClr val="tx2"/>
                </a:solidFill>
              </a:rPr>
              <a:t>Strategic partners: insurers, ERP vendors, state welfare boards</a:t>
            </a:r>
            <a:endParaRPr lang="en-US" sz="1500" dirty="0"/>
          </a:p>
        </p:txBody>
      </p:sp>
      <p:sp>
        <p:nvSpPr>
          <p:cNvPr id="15" name="placeholder-253"/>
          <p:cNvSpPr/>
          <p:nvPr/>
        </p:nvSpPr>
        <p:spPr>
          <a:xfrm>
            <a:off x="6446520" y="4983480"/>
            <a:ext cx="4892040" cy="777240"/>
          </a:xfrm>
          <a:prstGeom prst="roundRect">
            <a:avLst>
              <a:gd name="adj" fmla="val 11765"/>
            </a:avLst>
          </a:prstGeom>
          <a:solidFill>
            <a:schemeClr val="bg2"/>
          </a:solidFill>
          <a:ln w="12700">
            <a:solidFill>
              <a:schemeClr val="accent6"/>
            </a:solidFill>
            <a:prstDash val="dash"/>
          </a:ln>
        </p:spPr>
      </p:sp>
      <p:sp>
        <p:nvSpPr>
          <p:cNvPr id="16" name="Text 12"/>
          <p:cNvSpPr txBox="1"/>
          <p:nvPr/>
        </p:nvSpPr>
        <p:spPr>
          <a:xfrm>
            <a:off x="6583680" y="4983480"/>
            <a:ext cx="4617720" cy="777240"/>
          </a:xfrm>
          <a:prstGeom prst="rect">
            <a:avLst/>
          </a:prstGeom>
          <a:noFill/>
          <a:ln/>
        </p:spPr>
        <p:txBody>
          <a:bodyPr wrap="square" lIns="0" tIns="0" rIns="0" bIns="0" rtlCol="0" anchor="ctr"/>
          <a:lstStyle/>
          <a:p>
            <a:pPr algn="ctr" indent="0" marL="0">
              <a:buNone/>
            </a:pPr>
            <a:r>
              <a:rPr lang="en-US" sz="1300" i="1" dirty="0">
                <a:solidFill>
                  <a:schemeClr val="tx2"/>
                </a:solidFill>
              </a:rPr>
              <a:t>[Round details and timeline: add]</a:t>
            </a:r>
            <a:endParaRPr lang="en-US" sz="1300" dirty="0"/>
          </a:p>
        </p:txBody>
      </p:sp>
      <p:sp>
        <p:nvSpPr>
          <p:cNvPr id="25" name="Slide Number Placeholder 0"/>
          <p:cNvSpPr>
            <a:spLocks noGrp="1"/>
          </p:cNvSpPr>
          <p:nvPr>
            <p:ph type="sldNum" sz="quarter" idx="4294967295"/>
          </p:nvPr>
        </p:nvSpPr>
        <p:spPr>
          <a:xfrm>
            <a:off x="11155680" y="632764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contact-photo" descr="preencoded.png">    </p:cNvPr>
          <p:cNvPicPr>
            <a:picLocks noChangeAspect="1"/>
          </p:cNvPicPr>
          <p:nvPr/>
        </p:nvPicPr>
        <p:blipFill>
          <a:blip r:embed="rId1"/>
          <a:stretch>
            <a:fillRect/>
          </a:stretch>
        </p:blipFill>
        <p:spPr>
          <a:xfrm>
            <a:off x="7068312" y="0"/>
            <a:ext cx="5120640" cy="6858000"/>
          </a:xfrm>
          <a:prstGeom prst="rect">
            <a:avLst/>
          </a:prstGeom>
        </p:spPr>
      </p:pic>
      <p:sp>
        <p:nvSpPr>
          <p:cNvPr id="3" name="brand-plate"/>
          <p:cNvSpPr/>
          <p:nvPr/>
        </p:nvSpPr>
        <p:spPr>
          <a:xfrm>
            <a:off x="548640" y="640080"/>
            <a:ext cx="3840480" cy="868680"/>
          </a:xfrm>
          <a:prstGeom prst="roundRect">
            <a:avLst>
              <a:gd name="adj" fmla="val 14737"/>
            </a:avLst>
          </a:prstGeom>
          <a:solidFill>
            <a:schemeClr val="bg1"/>
          </a:solidFill>
          <a:ln w="12700">
            <a:solidFill>
              <a:schemeClr val="bg1"/>
            </a:solidFill>
            <a:prstDash val="solid"/>
          </a:ln>
        </p:spPr>
      </p:sp>
      <p:pic>
        <p:nvPicPr>
          <p:cNvPr id="4" name="logo" descr="preencoded.png">    </p:cNvPr>
          <p:cNvPicPr>
            <a:picLocks noChangeAspect="1"/>
          </p:cNvPicPr>
          <p:nvPr/>
        </p:nvPicPr>
        <p:blipFill>
          <a:blip r:embed="rId2"/>
          <a:stretch>
            <a:fillRect/>
          </a:stretch>
        </p:blipFill>
        <p:spPr>
          <a:xfrm>
            <a:off x="713232" y="731520"/>
            <a:ext cx="603504" cy="685800"/>
          </a:xfrm>
          <a:prstGeom prst="rect">
            <a:avLst/>
          </a:prstGeom>
        </p:spPr>
      </p:pic>
      <p:sp>
        <p:nvSpPr>
          <p:cNvPr id="5" name="wordmark"/>
          <p:cNvSpPr txBox="1"/>
          <p:nvPr/>
        </p:nvSpPr>
        <p:spPr>
          <a:xfrm>
            <a:off x="1417320" y="749808"/>
            <a:ext cx="2926080" cy="685800"/>
          </a:xfrm>
          <a:prstGeom prst="rect">
            <a:avLst/>
          </a:prstGeom>
          <a:noFill/>
          <a:ln/>
        </p:spPr>
        <p:txBody>
          <a:bodyPr wrap="square" lIns="0" tIns="0" rIns="0" bIns="0" rtlCol="0" anchor="ctr"/>
          <a:lstStyle/>
          <a:p>
            <a:pPr indent="0" marL="0">
              <a:buNone/>
            </a:pPr>
            <a:r>
              <a:rPr lang="en-US" sz="2200" b="1" dirty="0">
                <a:solidFill>
                  <a:schemeClr val="tx2"/>
                </a:solidFill>
              </a:rPr>
              <a:t>Bharat</a:t>
            </a:r>
            <a:pPr indent="0" marL="0">
              <a:buNone/>
            </a:pPr>
            <a:r>
              <a:rPr lang="en-US" sz="2200" b="1" dirty="0">
                <a:solidFill>
                  <a:schemeClr val="accent1"/>
                </a:solidFill>
              </a:rPr>
              <a:t>Shram</a:t>
            </a:r>
            <a:pPr indent="0" marL="0">
              <a:buNone/>
            </a:pPr>
            <a:r>
              <a:rPr lang="en-US" sz="2200" b="1" dirty="0">
                <a:solidFill>
                  <a:schemeClr val="accent2"/>
                </a:solidFill>
              </a:rPr>
              <a:t>Setu</a:t>
            </a:r>
            <a:endParaRPr lang="en-US" sz="2200" dirty="0"/>
          </a:p>
          <a:p>
            <a:pPr indent="0" marL="0">
              <a:buNone/>
            </a:pPr>
            <a:r>
              <a:rPr lang="en-US" sz="1100" dirty="0">
                <a:solidFill>
                  <a:schemeClr val="tx2"/>
                </a:solidFill>
              </a:rPr>
              <a:t>One Nation, One ID, One Platform</a:t>
            </a:r>
            <a:endParaRPr lang="en-US" sz="2200" dirty="0"/>
          </a:p>
        </p:txBody>
      </p:sp>
      <p:sp>
        <p:nvSpPr>
          <p:cNvPr id="6" name="Text 2"/>
          <p:cNvSpPr txBox="1"/>
          <p:nvPr/>
        </p:nvSpPr>
        <p:spPr>
          <a:xfrm>
            <a:off x="548640" y="1874520"/>
            <a:ext cx="6035040" cy="685800"/>
          </a:xfrm>
          <a:prstGeom prst="rect">
            <a:avLst/>
          </a:prstGeom>
          <a:noFill/>
          <a:ln/>
        </p:spPr>
        <p:txBody>
          <a:bodyPr wrap="square" lIns="0" tIns="0" rIns="0" bIns="0" rtlCol="0" anchor="t"/>
          <a:lstStyle/>
          <a:p>
            <a:pPr indent="0" marL="0">
              <a:buNone/>
            </a:pPr>
            <a:r>
              <a:rPr lang="en-US" sz="4000" b="1" dirty="0">
                <a:solidFill>
                  <a:schemeClr val="bg1"/>
                </a:solidFill>
              </a:rPr>
              <a:t>Contact us</a:t>
            </a:r>
            <a:endParaRPr lang="en-US" sz="4000" dirty="0"/>
          </a:p>
        </p:txBody>
      </p:sp>
      <p:sp>
        <p:nvSpPr>
          <p:cNvPr id="7" name="icon-circle-254"/>
          <p:cNvSpPr/>
          <p:nvPr/>
        </p:nvSpPr>
        <p:spPr>
          <a:xfrm>
            <a:off x="548640" y="2697480"/>
            <a:ext cx="402336" cy="402336"/>
          </a:xfrm>
          <a:prstGeom prst="ellipse">
            <a:avLst/>
          </a:prstGeom>
          <a:solidFill>
            <a:schemeClr val="accent1"/>
          </a:solidFill>
          <a:ln w="12700">
            <a:solidFill>
              <a:schemeClr val="accent1"/>
            </a:solidFill>
            <a:prstDash val="solid"/>
          </a:ln>
        </p:spPr>
      </p:sp>
      <p:pic>
        <p:nvPicPr>
          <p:cNvPr id="8" name="icon-255" descr="preencoded.png">    </p:cNvPr>
          <p:cNvPicPr>
            <a:picLocks noChangeAspect="1"/>
          </p:cNvPicPr>
          <p:nvPr/>
        </p:nvPicPr>
        <p:blipFill>
          <a:blip r:embed="rId3"/>
          <a:stretch>
            <a:fillRect/>
          </a:stretch>
        </p:blipFill>
        <p:spPr>
          <a:xfrm>
            <a:off x="645201" y="2794041"/>
            <a:ext cx="209215" cy="209215"/>
          </a:xfrm>
          <a:prstGeom prst="rect">
            <a:avLst/>
          </a:prstGeom>
        </p:spPr>
      </p:pic>
      <p:sp>
        <p:nvSpPr>
          <p:cNvPr id="9" name="Text 4"/>
          <p:cNvSpPr txBox="1"/>
          <p:nvPr/>
        </p:nvSpPr>
        <p:spPr>
          <a:xfrm>
            <a:off x="1143000" y="2715768"/>
            <a:ext cx="5486400" cy="365760"/>
          </a:xfrm>
          <a:prstGeom prst="rect">
            <a:avLst/>
          </a:prstGeom>
          <a:noFill/>
          <a:ln/>
        </p:spPr>
        <p:txBody>
          <a:bodyPr wrap="square" lIns="0" tIns="0" rIns="0" bIns="0" rtlCol="0" anchor="ctr"/>
          <a:lstStyle/>
          <a:p>
            <a:pPr indent="0" marL="0">
              <a:buNone/>
            </a:pPr>
            <a:r>
              <a:rPr lang="en-US" sz="1600" b="1" dirty="0">
                <a:solidFill>
                  <a:schemeClr val="bg1"/>
                </a:solidFill>
              </a:rPr>
              <a:t>info@bharatshramsetu.com</a:t>
            </a:r>
            <a:endParaRPr lang="en-US" sz="1600" dirty="0"/>
          </a:p>
        </p:txBody>
      </p:sp>
      <p:sp>
        <p:nvSpPr>
          <p:cNvPr id="10" name="icon-circle-256"/>
          <p:cNvSpPr/>
          <p:nvPr/>
        </p:nvSpPr>
        <p:spPr>
          <a:xfrm>
            <a:off x="548640" y="3182112"/>
            <a:ext cx="402336" cy="402336"/>
          </a:xfrm>
          <a:prstGeom prst="ellipse">
            <a:avLst/>
          </a:prstGeom>
          <a:solidFill>
            <a:schemeClr val="accent2"/>
          </a:solidFill>
          <a:ln w="12700">
            <a:solidFill>
              <a:schemeClr val="accent2"/>
            </a:solidFill>
            <a:prstDash val="solid"/>
          </a:ln>
        </p:spPr>
      </p:sp>
      <p:pic>
        <p:nvPicPr>
          <p:cNvPr id="11" name="icon-257" descr="preencoded.png">    </p:cNvPr>
          <p:cNvPicPr>
            <a:picLocks noChangeAspect="1"/>
          </p:cNvPicPr>
          <p:nvPr/>
        </p:nvPicPr>
        <p:blipFill>
          <a:blip r:embed="rId4"/>
          <a:stretch>
            <a:fillRect/>
          </a:stretch>
        </p:blipFill>
        <p:spPr>
          <a:xfrm>
            <a:off x="645201" y="3278673"/>
            <a:ext cx="209215" cy="209215"/>
          </a:xfrm>
          <a:prstGeom prst="rect">
            <a:avLst/>
          </a:prstGeom>
        </p:spPr>
      </p:pic>
      <p:sp>
        <p:nvSpPr>
          <p:cNvPr id="12" name="Text 6"/>
          <p:cNvSpPr txBox="1"/>
          <p:nvPr/>
        </p:nvSpPr>
        <p:spPr>
          <a:xfrm>
            <a:off x="1143000" y="3200400"/>
            <a:ext cx="5486400" cy="365760"/>
          </a:xfrm>
          <a:prstGeom prst="rect">
            <a:avLst/>
          </a:prstGeom>
          <a:noFill/>
          <a:ln/>
        </p:spPr>
        <p:txBody>
          <a:bodyPr wrap="square" lIns="0" tIns="0" rIns="0" bIns="0" rtlCol="0" anchor="ctr"/>
          <a:lstStyle/>
          <a:p>
            <a:pPr indent="0" marL="0">
              <a:buNone/>
            </a:pPr>
            <a:r>
              <a:rPr lang="en-US" sz="1600" b="1" dirty="0">
                <a:solidFill>
                  <a:schemeClr val="bg1"/>
                </a:solidFill>
              </a:rPr>
              <a:t>www.bharatshramsetu.com</a:t>
            </a:r>
            <a:endParaRPr lang="en-US" sz="1600" dirty="0"/>
          </a:p>
        </p:txBody>
      </p:sp>
      <p:sp>
        <p:nvSpPr>
          <p:cNvPr id="13" name="icon-circle-258"/>
          <p:cNvSpPr/>
          <p:nvPr/>
        </p:nvSpPr>
        <p:spPr>
          <a:xfrm>
            <a:off x="548640" y="3666744"/>
            <a:ext cx="402336" cy="402336"/>
          </a:xfrm>
          <a:prstGeom prst="ellipse">
            <a:avLst/>
          </a:prstGeom>
          <a:solidFill>
            <a:schemeClr val="accent3"/>
          </a:solidFill>
          <a:ln w="12700">
            <a:solidFill>
              <a:schemeClr val="accent3"/>
            </a:solidFill>
            <a:prstDash val="solid"/>
          </a:ln>
        </p:spPr>
      </p:sp>
      <p:pic>
        <p:nvPicPr>
          <p:cNvPr id="14" name="icon-259" descr="preencoded.png">    </p:cNvPr>
          <p:cNvPicPr>
            <a:picLocks noChangeAspect="1"/>
          </p:cNvPicPr>
          <p:nvPr/>
        </p:nvPicPr>
        <p:blipFill>
          <a:blip r:embed="rId5"/>
          <a:stretch>
            <a:fillRect/>
          </a:stretch>
        </p:blipFill>
        <p:spPr>
          <a:xfrm>
            <a:off x="645201" y="3763305"/>
            <a:ext cx="209215" cy="209215"/>
          </a:xfrm>
          <a:prstGeom prst="rect">
            <a:avLst/>
          </a:prstGeom>
        </p:spPr>
      </p:pic>
      <p:sp>
        <p:nvSpPr>
          <p:cNvPr id="15" name="Text 8"/>
          <p:cNvSpPr txBox="1"/>
          <p:nvPr/>
        </p:nvSpPr>
        <p:spPr>
          <a:xfrm>
            <a:off x="1143000" y="3685032"/>
            <a:ext cx="5486400" cy="365760"/>
          </a:xfrm>
          <a:prstGeom prst="rect">
            <a:avLst/>
          </a:prstGeom>
          <a:noFill/>
          <a:ln/>
        </p:spPr>
        <p:txBody>
          <a:bodyPr wrap="square" lIns="0" tIns="0" rIns="0" bIns="0" rtlCol="0" anchor="ctr"/>
          <a:lstStyle/>
          <a:p>
            <a:pPr indent="0" marL="0">
              <a:buNone/>
            </a:pPr>
            <a:r>
              <a:rPr lang="en-US" sz="1600" b="1" dirty="0">
                <a:solidFill>
                  <a:schemeClr val="bg1"/>
                </a:solidFill>
              </a:rPr>
              <a:t>login.bharatshramsetu.com</a:t>
            </a:r>
            <a:endParaRPr lang="en-US" sz="1600" dirty="0"/>
          </a:p>
        </p:txBody>
      </p:sp>
      <p:sp>
        <p:nvSpPr>
          <p:cNvPr id="16" name="icon-circle-260"/>
          <p:cNvSpPr/>
          <p:nvPr/>
        </p:nvSpPr>
        <p:spPr>
          <a:xfrm>
            <a:off x="548640" y="4151376"/>
            <a:ext cx="402336" cy="402336"/>
          </a:xfrm>
          <a:prstGeom prst="ellipse">
            <a:avLst/>
          </a:prstGeom>
          <a:solidFill>
            <a:schemeClr val="accent1"/>
          </a:solidFill>
          <a:ln w="12700">
            <a:solidFill>
              <a:schemeClr val="accent1"/>
            </a:solidFill>
            <a:prstDash val="solid"/>
          </a:ln>
        </p:spPr>
      </p:sp>
      <p:pic>
        <p:nvPicPr>
          <p:cNvPr id="17" name="icon-261" descr="preencoded.png">    </p:cNvPr>
          <p:cNvPicPr>
            <a:picLocks noChangeAspect="1"/>
          </p:cNvPicPr>
          <p:nvPr/>
        </p:nvPicPr>
        <p:blipFill>
          <a:blip r:embed="rId6"/>
          <a:stretch>
            <a:fillRect/>
          </a:stretch>
        </p:blipFill>
        <p:spPr>
          <a:xfrm>
            <a:off x="645201" y="4247937"/>
            <a:ext cx="209215" cy="209215"/>
          </a:xfrm>
          <a:prstGeom prst="rect">
            <a:avLst/>
          </a:prstGeom>
        </p:spPr>
      </p:pic>
      <p:sp>
        <p:nvSpPr>
          <p:cNvPr id="18" name="Text 10"/>
          <p:cNvSpPr txBox="1"/>
          <p:nvPr/>
        </p:nvSpPr>
        <p:spPr>
          <a:xfrm>
            <a:off x="1143000" y="4169664"/>
            <a:ext cx="5486400" cy="365760"/>
          </a:xfrm>
          <a:prstGeom prst="rect">
            <a:avLst/>
          </a:prstGeom>
          <a:noFill/>
          <a:ln/>
        </p:spPr>
        <p:txBody>
          <a:bodyPr wrap="square" lIns="0" tIns="0" rIns="0" bIns="0" rtlCol="0" anchor="ctr"/>
          <a:lstStyle/>
          <a:p>
            <a:pPr indent="0" marL="0">
              <a:buNone/>
            </a:pPr>
            <a:r>
              <a:rPr lang="en-US" sz="1600" i="1" dirty="0">
                <a:solidFill>
                  <a:schemeClr val="accent6"/>
                </a:solidFill>
              </a:rPr>
              <a:t>[Phone number]</a:t>
            </a:r>
            <a:endParaRPr lang="en-US" sz="1600" dirty="0"/>
          </a:p>
        </p:txBody>
      </p:sp>
      <p:sp>
        <p:nvSpPr>
          <p:cNvPr id="19" name="icon-circle-262"/>
          <p:cNvSpPr/>
          <p:nvPr/>
        </p:nvSpPr>
        <p:spPr>
          <a:xfrm>
            <a:off x="548640" y="4636008"/>
            <a:ext cx="402336" cy="402336"/>
          </a:xfrm>
          <a:prstGeom prst="ellipse">
            <a:avLst/>
          </a:prstGeom>
          <a:solidFill>
            <a:schemeClr val="accent2"/>
          </a:solidFill>
          <a:ln w="12700">
            <a:solidFill>
              <a:schemeClr val="accent2"/>
            </a:solidFill>
            <a:prstDash val="solid"/>
          </a:ln>
        </p:spPr>
      </p:sp>
      <p:pic>
        <p:nvPicPr>
          <p:cNvPr id="20" name="icon-263" descr="preencoded.png">    </p:cNvPr>
          <p:cNvPicPr>
            <a:picLocks noChangeAspect="1"/>
          </p:cNvPicPr>
          <p:nvPr/>
        </p:nvPicPr>
        <p:blipFill>
          <a:blip r:embed="rId7"/>
          <a:stretch>
            <a:fillRect/>
          </a:stretch>
        </p:blipFill>
        <p:spPr>
          <a:xfrm>
            <a:off x="645201" y="4732569"/>
            <a:ext cx="209215" cy="209215"/>
          </a:xfrm>
          <a:prstGeom prst="rect">
            <a:avLst/>
          </a:prstGeom>
        </p:spPr>
      </p:pic>
      <p:sp>
        <p:nvSpPr>
          <p:cNvPr id="21" name="Text 12"/>
          <p:cNvSpPr txBox="1"/>
          <p:nvPr/>
        </p:nvSpPr>
        <p:spPr>
          <a:xfrm>
            <a:off x="1143000" y="4654296"/>
            <a:ext cx="5486400" cy="365760"/>
          </a:xfrm>
          <a:prstGeom prst="rect">
            <a:avLst/>
          </a:prstGeom>
          <a:noFill/>
          <a:ln/>
        </p:spPr>
        <p:txBody>
          <a:bodyPr wrap="square" lIns="0" tIns="0" rIns="0" bIns="0" rtlCol="0" anchor="ctr"/>
          <a:lstStyle/>
          <a:p>
            <a:pPr indent="0" marL="0">
              <a:buNone/>
            </a:pPr>
            <a:r>
              <a:rPr lang="en-US" sz="1600" i="1" dirty="0">
                <a:solidFill>
                  <a:schemeClr val="accent6"/>
                </a:solidFill>
              </a:rPr>
              <a:t>[Office address]</a:t>
            </a:r>
            <a:endParaRPr lang="en-US" sz="1600" dirty="0"/>
          </a:p>
        </p:txBody>
      </p:sp>
      <p:sp>
        <p:nvSpPr>
          <p:cNvPr id="22" name="icon-circle-264"/>
          <p:cNvSpPr/>
          <p:nvPr/>
        </p:nvSpPr>
        <p:spPr>
          <a:xfrm>
            <a:off x="548640" y="5120640"/>
            <a:ext cx="402336" cy="402336"/>
          </a:xfrm>
          <a:prstGeom prst="ellipse">
            <a:avLst/>
          </a:prstGeom>
          <a:solidFill>
            <a:schemeClr val="accent3"/>
          </a:solidFill>
          <a:ln w="12700">
            <a:solidFill>
              <a:schemeClr val="accent3"/>
            </a:solidFill>
            <a:prstDash val="solid"/>
          </a:ln>
        </p:spPr>
      </p:sp>
      <p:pic>
        <p:nvPicPr>
          <p:cNvPr id="23" name="icon-265" descr="preencoded.png">    </p:cNvPr>
          <p:cNvPicPr>
            <a:picLocks noChangeAspect="1"/>
          </p:cNvPicPr>
          <p:nvPr/>
        </p:nvPicPr>
        <p:blipFill>
          <a:blip r:embed="rId8"/>
          <a:stretch>
            <a:fillRect/>
          </a:stretch>
        </p:blipFill>
        <p:spPr>
          <a:xfrm>
            <a:off x="645201" y="5217201"/>
            <a:ext cx="209215" cy="209215"/>
          </a:xfrm>
          <a:prstGeom prst="rect">
            <a:avLst/>
          </a:prstGeom>
        </p:spPr>
      </p:pic>
      <p:sp>
        <p:nvSpPr>
          <p:cNvPr id="24" name="Text 14"/>
          <p:cNvSpPr txBox="1"/>
          <p:nvPr/>
        </p:nvSpPr>
        <p:spPr>
          <a:xfrm>
            <a:off x="1143000" y="5138928"/>
            <a:ext cx="5486400" cy="365760"/>
          </a:xfrm>
          <a:prstGeom prst="rect">
            <a:avLst/>
          </a:prstGeom>
          <a:noFill/>
          <a:ln/>
        </p:spPr>
        <p:txBody>
          <a:bodyPr wrap="square" lIns="0" tIns="0" rIns="0" bIns="0" rtlCol="0" anchor="ctr"/>
          <a:lstStyle/>
          <a:p>
            <a:pPr indent="0" marL="0">
              <a:buNone/>
            </a:pPr>
            <a:r>
              <a:rPr lang="en-US" sz="1600" i="1" dirty="0">
                <a:solidFill>
                  <a:schemeClr val="accent6"/>
                </a:solidFill>
              </a:rPr>
              <a:t>[Contact person, designation]</a:t>
            </a:r>
            <a:endParaRPr lang="en-US" sz="1600" dirty="0"/>
          </a:p>
        </p:txBody>
      </p:sp>
      <p:sp>
        <p:nvSpPr>
          <p:cNvPr id="25" name="Text 15"/>
          <p:cNvSpPr txBox="1"/>
          <p:nvPr/>
        </p:nvSpPr>
        <p:spPr>
          <a:xfrm>
            <a:off x="548640" y="5806440"/>
            <a:ext cx="6217920" cy="365760"/>
          </a:xfrm>
          <a:prstGeom prst="rect">
            <a:avLst/>
          </a:prstGeom>
          <a:noFill/>
          <a:ln/>
        </p:spPr>
        <p:txBody>
          <a:bodyPr wrap="square" lIns="0" tIns="0" rIns="0" bIns="0" rtlCol="0" anchor="t"/>
          <a:lstStyle/>
          <a:p>
            <a:pPr indent="0" marL="0">
              <a:buNone/>
            </a:pPr>
            <a:r>
              <a:rPr lang="en-US" sz="1600" b="1" dirty="0">
                <a:solidFill>
                  <a:schemeClr val="bg1"/>
                </a:solidFill>
              </a:rPr>
              <a:t>Join the movement. Make every worker count.</a:t>
            </a:r>
            <a:endParaRPr lang="en-US" sz="1600" dirty="0"/>
          </a:p>
        </p:txBody>
      </p:sp>
      <p:sp>
        <p:nvSpPr>
          <p:cNvPr id="26" name="Text 16"/>
          <p:cNvSpPr txBox="1"/>
          <p:nvPr/>
        </p:nvSpPr>
        <p:spPr>
          <a:xfrm>
            <a:off x="548640" y="6172200"/>
            <a:ext cx="6217920" cy="365760"/>
          </a:xfrm>
          <a:prstGeom prst="rect">
            <a:avLst/>
          </a:prstGeom>
          <a:noFill/>
          <a:ln/>
        </p:spPr>
        <p:txBody>
          <a:bodyPr wrap="square" lIns="0" tIns="0" rIns="0" bIns="0" rtlCol="0" anchor="t"/>
          <a:lstStyle/>
          <a:p>
            <a:pPr indent="0" marL="0">
              <a:buNone/>
            </a:pPr>
            <a:r>
              <a:rPr lang="en-US" sz="1400" b="1" dirty="0">
                <a:solidFill>
                  <a:schemeClr val="accent1"/>
                </a:solidFill>
              </a:rPr>
              <a:t>Building a Stronger, Safer and Empowered Bharat</a:t>
            </a:r>
            <a:endParaRPr lang="en-US" sz="1400" dirty="0"/>
          </a:p>
        </p:txBody>
      </p:sp>
      <p:sp>
        <p:nvSpPr>
          <p:cNvPr id="27" name="Text 17"/>
          <p:cNvSpPr txBox="1"/>
          <p:nvPr/>
        </p:nvSpPr>
        <p:spPr>
          <a:xfrm>
            <a:off x="7223760" y="6510528"/>
            <a:ext cx="4754880" cy="228600"/>
          </a:xfrm>
          <a:prstGeom prst="rect">
            <a:avLst/>
          </a:prstGeom>
          <a:noFill/>
          <a:ln/>
        </p:spPr>
        <p:txBody>
          <a:bodyPr wrap="square" lIns="0" tIns="0" rIns="0" bIns="0" rtlCol="0" anchor="t"/>
          <a:lstStyle/>
          <a:p>
            <a:pPr algn="r" indent="0" marL="0">
              <a:buNone/>
            </a:pPr>
            <a:r>
              <a:rPr lang="en-US" sz="900" dirty="0">
                <a:solidFill>
                  <a:schemeClr val="bg1"/>
                </a:solidFill>
              </a:rPr>
              <a:t>Photo: IISCO Steel Plant, Burnpur · GODL-India</a:t>
            </a:r>
            <a:endParaRPr lang="en-US" sz="900" dirty="0"/>
          </a:p>
        </p:txBody>
      </p:sp>
      <p:sp>
        <p:nvSpPr>
          <p:cNvPr id="29" name="Text 0"/>
          <p:cNvSpPr/>
          <p:nvPr>
            <p:ph idx="100" type="title" hasCustomPrompt="1"/>
          </p:nvPr>
        </p:nvSpPr>
        <p:spPr>
          <a:xfrm>
            <a:off x="548640" y="2011680"/>
            <a:ext cx="6035040" cy="1920240"/>
          </a:xfrm>
          <a:prstGeom prst="rect">
            <a:avLst/>
          </a:prstGeom>
          <a:noFill/>
          <a:ln/>
        </p:spPr>
        <p:txBody>
          <a:bodyPr wrap="square" lIns="0" tIns="0" rIns="0" bIns="0" rtlCol="0" anchor="t"/>
          <a:lstStyle/>
          <a:p>
            <a:pPr algn="l" indent="0" marL="0">
              <a:buNone/>
            </a:pPr>
            <a:endParaRPr lang="en-US" sz="4400" dirty="0"/>
          </a:p>
        </p:txBody>
      </p:sp>
      <p:sp>
        <p:nvSpPr>
          <p:cNvPr id="30" name="Text 0"/>
          <p:cNvSpPr/>
          <p:nvPr>
            <p:ph idx="101" type="body" hasCustomPrompt="1"/>
          </p:nvPr>
        </p:nvSpPr>
        <p:spPr>
          <a:xfrm>
            <a:off x="548640" y="4069080"/>
            <a:ext cx="5852160" cy="91440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BharatShramSetu">
  <a:themeElements>
    <a:clrScheme name="BharatShramSetu">
      <a:dk1>
        <a:srgbClr val="01183A"/>
      </a:dk1>
      <a:lt1>
        <a:srgbClr val="FFFFFF"/>
      </a:lt1>
      <a:dk2>
        <a:srgbClr val="022B5E"/>
      </a:dk2>
      <a:lt2>
        <a:srgbClr val="F2F6FC"/>
      </a:lt2>
      <a:accent1>
        <a:srgbClr val="E45D24"/>
      </a:accent1>
      <a:accent2>
        <a:srgbClr val="14843C"/>
      </a:accent2>
      <a:accent3>
        <a:srgbClr val="1E3A8A"/>
      </a:accent3>
      <a:accent4>
        <a:srgbClr val="C94D18"/>
      </a:accent4>
      <a:accent5>
        <a:srgbClr val="4FC47E"/>
      </a:accent5>
      <a:accent6>
        <a:srgbClr val="9FB8FF"/>
      </a:accent6>
      <a:hlink>
        <a:srgbClr val="1E3A8A"/>
      </a:hlink>
      <a:folHlink>
        <a:srgbClr val="022B5E"/>
      </a:folHlink>
    </a:clrScheme>
    <a:fontScheme name="BharatShramSetu">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BharatShramSetu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BharatShramSetu: Company and Product Presentation</dc:title>
  <dc:subject>PptxGenJS Presentation</dc:subject>
  <dc:creator>BharatShramSetu</dc:creator>
  <cp:lastModifiedBy>BharatShramSetu</cp:lastModifiedBy>
  <cp:revision>1</cp:revision>
  <dcterms:created xsi:type="dcterms:W3CDTF">2026-10-10T07:03:28Z</dcterms:created>
  <dcterms:modified xsi:type="dcterms:W3CDTF">2026-10-10T07:03:28Z</dcterms:modified>
</cp:coreProperties>
</file>